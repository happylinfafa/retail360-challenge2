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12964139a3646cf" /><Relationship Type="http://schemas.openxmlformats.org/officeDocument/2006/relationships/extended-properties" Target="/docProps/app.xml" Id="R2e30f984734f49b9" /><Relationship Type="http://schemas.openxmlformats.org/officeDocument/2006/relationships/officeDocument" Target="/ppt/presentation.xml" Id="R9d0b0f2fdcfe4ba7" /></Relationships>
</file>

<file path=ppt/presentation.xml><?xml version="1.0" encoding="utf-8"?>
<p:presentation xmlns:p="http://schemas.openxmlformats.org/presentationml/2006/main">
  <p:sldMasterIdLst>
    <p:sldMasterId xmlns:r="http://schemas.openxmlformats.org/officeDocument/2006/relationships" id="2147483648" r:id="R0e0f0c3306a243f4"/>
  </p:sldMasterIdLst>
  <p:notesMasterIdLst>
    <p:notesMasterId xmlns:r="http://schemas.openxmlformats.org/officeDocument/2006/relationships" r:id="R7a453f7927df451a"/>
  </p:notesMasterIdLst>
  <p:sldIdLst>
    <p:sldId xmlns:r="http://schemas.openxmlformats.org/officeDocument/2006/relationships" id="256" r:id="R12f1fcd9cfcc4d74"/>
    <p:sldId xmlns:r="http://schemas.openxmlformats.org/officeDocument/2006/relationships" id="257" r:id="Rc4205a77868f4354"/>
    <p:sldId xmlns:r="http://schemas.openxmlformats.org/officeDocument/2006/relationships" id="258" r:id="Rda033aaa105b4593"/>
    <p:sldId xmlns:r="http://schemas.openxmlformats.org/officeDocument/2006/relationships" id="259" r:id="R5642ad02d7954337"/>
    <p:sldId xmlns:r="http://schemas.openxmlformats.org/officeDocument/2006/relationships" id="260" r:id="Rcdd0e5d9e59a44e4"/>
    <p:sldId xmlns:r="http://schemas.openxmlformats.org/officeDocument/2006/relationships" id="261" r:id="R60e71b1da9f3468c"/>
    <p:sldId xmlns:r="http://schemas.openxmlformats.org/officeDocument/2006/relationships" id="262" r:id="Ra679ed46e721492d"/>
    <p:sldId xmlns:r="http://schemas.openxmlformats.org/officeDocument/2006/relationships" id="263" r:id="R363bd82f50ae4ae0"/>
    <p:sldId xmlns:r="http://schemas.openxmlformats.org/officeDocument/2006/relationships" id="264" r:id="R96b06c183e6e4a1b"/>
    <p:sldId xmlns:r="http://schemas.openxmlformats.org/officeDocument/2006/relationships" id="265" r:id="R45aae0d267d14df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863e7211dc848f8" /><Relationship Type="http://schemas.openxmlformats.org/officeDocument/2006/relationships/slideMaster" Target="/ppt/slideMasters/slideMaster1.xml" Id="R0e0f0c3306a243f4" /><Relationship Type="http://schemas.openxmlformats.org/officeDocument/2006/relationships/notesMaster" Target="/ppt/notesMasters/notesMaster1.xml" Id="R7a453f7927df451a" /><Relationship Type="http://schemas.openxmlformats.org/officeDocument/2006/relationships/presProps" Target="/ppt/presProps.xml" Id="Rff591a4dcc5b47cf" /><Relationship Type="http://schemas.openxmlformats.org/officeDocument/2006/relationships/tableStyles" Target="/ppt/tableStyles.xml" Id="R461aaf594caf475b" /><Relationship Type="http://schemas.openxmlformats.org/officeDocument/2006/relationships/slide" Target="/ppt/slides/slide1.xml" Id="R12f1fcd9cfcc4d74" /><Relationship Type="http://schemas.openxmlformats.org/officeDocument/2006/relationships/slide" Target="/ppt/slides/slide2.xml" Id="Rc4205a77868f4354" /><Relationship Type="http://schemas.openxmlformats.org/officeDocument/2006/relationships/slide" Target="/ppt/slides/slide3.xml" Id="Rda033aaa105b4593" /><Relationship Type="http://schemas.openxmlformats.org/officeDocument/2006/relationships/slide" Target="/ppt/slides/slide4.xml" Id="R5642ad02d7954337" /><Relationship Type="http://schemas.openxmlformats.org/officeDocument/2006/relationships/slide" Target="/ppt/slides/slide5.xml" Id="Rcdd0e5d9e59a44e4" /><Relationship Type="http://schemas.openxmlformats.org/officeDocument/2006/relationships/slide" Target="/ppt/slides/slide6.xml" Id="R60e71b1da9f3468c" /><Relationship Type="http://schemas.openxmlformats.org/officeDocument/2006/relationships/slide" Target="/ppt/slides/slide7.xml" Id="Ra679ed46e721492d" /><Relationship Type="http://schemas.openxmlformats.org/officeDocument/2006/relationships/slide" Target="/ppt/slides/slide8.xml" Id="R363bd82f50ae4ae0" /><Relationship Type="http://schemas.openxmlformats.org/officeDocument/2006/relationships/slide" Target="/ppt/slides/slide9.xml" Id="R96b06c183e6e4a1b" /><Relationship Type="http://schemas.openxmlformats.org/officeDocument/2006/relationships/slide" Target="/ppt/slides/slide10.xml" Id="R45aae0d267d14df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0ceae995061465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78f0ca0df6c4126" /><Relationship Type="http://schemas.openxmlformats.org/officeDocument/2006/relationships/notesMaster" Target="/ppt/notesMasters/notesMaster1.xml" Id="R70a17c2eb00f4ebb" /></Relationships>
</file>

<file path=ppt/notesSlides/_rels/notesSlide2.xml.rels>&#65279;<?xml version="1.0" encoding="utf-8"?><Relationships xmlns="http://schemas.openxmlformats.org/package/2006/relationships"><Relationship Type="http://schemas.openxmlformats.org/officeDocument/2006/relationships/slide" Target="/ppt/slides/slide2.xml" Id="Rc082133643654546" /><Relationship Type="http://schemas.openxmlformats.org/officeDocument/2006/relationships/notesMaster" Target="/ppt/notesMasters/notesMaster1.xml" Id="Rdbc16d45bdf9408d" /></Relationships>
</file>

<file path=ppt/notesSlides/_rels/notesSlide3.xml.rels>&#65279;<?xml version="1.0" encoding="utf-8"?><Relationships xmlns="http://schemas.openxmlformats.org/package/2006/relationships"><Relationship Type="http://schemas.openxmlformats.org/officeDocument/2006/relationships/slide" Target="/ppt/slides/slide3.xml" Id="R9a0b645548284fd2" /><Relationship Type="http://schemas.openxmlformats.org/officeDocument/2006/relationships/notesMaster" Target="/ppt/notesMasters/notesMaster1.xml" Id="R806a4778fe9a4808" /></Relationships>
</file>

<file path=ppt/notesSlides/_rels/notesSlide4.xml.rels>&#65279;<?xml version="1.0" encoding="utf-8"?><Relationships xmlns="http://schemas.openxmlformats.org/package/2006/relationships"><Relationship Type="http://schemas.openxmlformats.org/officeDocument/2006/relationships/slide" Target="/ppt/slides/slide4.xml" Id="R3731fd62d75849d4" /><Relationship Type="http://schemas.openxmlformats.org/officeDocument/2006/relationships/notesMaster" Target="/ppt/notesMasters/notesMaster1.xml" Id="R019e0d44d9f24bc2" /></Relationships>
</file>

<file path=ppt/notesSlides/_rels/notesSlide5.xml.rels>&#65279;<?xml version="1.0" encoding="utf-8"?><Relationships xmlns="http://schemas.openxmlformats.org/package/2006/relationships"><Relationship Type="http://schemas.openxmlformats.org/officeDocument/2006/relationships/slide" Target="/ppt/slides/slide5.xml" Id="R9a467bb3488844f4" /><Relationship Type="http://schemas.openxmlformats.org/officeDocument/2006/relationships/notesMaster" Target="/ppt/notesMasters/notesMaster1.xml" Id="Rd85193654b6d4fc2" /></Relationships>
</file>

<file path=ppt/notesSlides/_rels/notesSlide6.xml.rels>&#65279;<?xml version="1.0" encoding="utf-8"?><Relationships xmlns="http://schemas.openxmlformats.org/package/2006/relationships"><Relationship Type="http://schemas.openxmlformats.org/officeDocument/2006/relationships/slide" Target="/ppt/slides/slide6.xml" Id="Rd8a3dcef83584d07" /><Relationship Type="http://schemas.openxmlformats.org/officeDocument/2006/relationships/notesMaster" Target="/ppt/notesMasters/notesMaster1.xml" Id="Re263f943bf3e49b6" /></Relationships>
</file>

<file path=ppt/notesSlides/_rels/notesSlide7.xml.rels>&#65279;<?xml version="1.0" encoding="utf-8"?><Relationships xmlns="http://schemas.openxmlformats.org/package/2006/relationships"><Relationship Type="http://schemas.openxmlformats.org/officeDocument/2006/relationships/slide" Target="/ppt/slides/slide7.xml" Id="Re6ee9203cca7495f" /><Relationship Type="http://schemas.openxmlformats.org/officeDocument/2006/relationships/notesMaster" Target="/ppt/notesMasters/notesMaster1.xml" Id="R7e192e950b984879" /></Relationships>
</file>

<file path=ppt/notesSlides/_rels/notesSlide8.xml.rels>&#65279;<?xml version="1.0" encoding="utf-8"?><Relationships xmlns="http://schemas.openxmlformats.org/package/2006/relationships"><Relationship Type="http://schemas.openxmlformats.org/officeDocument/2006/relationships/slide" Target="/ppt/slides/slide8.xml" Id="Rf02b30a3876b4825" /><Relationship Type="http://schemas.openxmlformats.org/officeDocument/2006/relationships/notesMaster" Target="/ppt/notesMasters/notesMaster1.xml" Id="R356db7068ce04eb4" /></Relationships>
</file>

<file path=ppt/notesSlides/_rels/notesSlide9.xml.rels>&#65279;<?xml version="1.0" encoding="utf-8"?><Relationships xmlns="http://schemas.openxmlformats.org/package/2006/relationships"><Relationship Type="http://schemas.openxmlformats.org/officeDocument/2006/relationships/slide" Target="/ppt/slides/slide9.xml" Id="Re6a3977d0b98403f" /><Relationship Type="http://schemas.openxmlformats.org/officeDocument/2006/relationships/notesMaster" Target="/ppt/notesMasters/notesMaster1.xml" Id="R0d0149f3a68f4bd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61691379dea43f8" /><Relationship Type="http://schemas.openxmlformats.org/officeDocument/2006/relationships/notesMaster" Target="/ppt/notesMasters/notesMaster1.xml" Id="R8e243b42f5e7415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screenshot of the existing Neo4j knowledge graph. The project uses an illustrative UCI Online Retail II sample: https://archive.ics.uci.edu/dataset/502/online+retail+ii . The local GraphRAG prototype answers customer questions using reviewed Cypher templates and a local Qwen model. The sample has only two customers.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GraphSAGE motivates learning node representations by aggregating neighborhood features: https://arxiv.org/abs/1706.02216 . Neo4j GraphRAG documentation describes retrieval followed by grounded generation: https://neo4j.com/docs/neo4j-graphrag-python/current/ . This slide states a future hypothesis, not an observed improvement.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deliberately limited GraphSAGE-style mean-aggregation demonstration. It is not a trained GraphSAGE model, GCN, or GAT. Initial product features are 58-dimensional one-hot StockCode vectors and initial customer vectors are zero. The original Neo4j graph contains intermediary Invoice and OrderLine nodes; the experiment collapses observed paths to distinct customer–product edges for aggregation. Research: https://arxiv.org/abs/1706.02216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numbers are computed by challenge3/gnn_experiment.py from the existing Neo4j graph. Shared product 21791 is supported by invoices 549222 and 562032 for customer 12347 and invoice 558996 for customer 13085. Source RowIDs are stored in results/gnn_message_passing.json.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screenshot of a local results page generated from the saved, live Neo4j experiment output on 21 October 2026. It is an independent follow-up exercise, not a claim to reproduce materials from the October 20 class, which were not supplied in this chat. Script: challenge3/gnn_experiment.py. Results: challenge3/results/gnn_message_passing.json. Five checks passed. Only two customer nodes exist in this illustrative sample.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Existing GraphRAG code is challenge3/graphrag.py. The message-passing experiment currently stops at candidate scoring and source-row evidence. Full integration of learned embeddings into the live GraphRAG app has not been implemented. The diagram distinguishes observed and proposed stages.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Observed results, not estimated scores. Jaccard is the existing exact set baseline. Cosine comes from fixed-weight mean product embeddings. Removing the only shared product edge from customer 13085 yields zero cosine. With one candidate pair, there is no meaningful Precision@K or recall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interpret 0.047140 cosine exceeding 0.017241 Jaccard as an improvement: these metrics have different scales. The existing GraphRAG app worked last week; this new experiment is offline and is not yet a deployed or trained GNN-enhanced GraphRAG application.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Human design from previous work: customer similarity should be based on actual purchases and explainable source evidence. The user authorized a small experiment. Codex assisted with the Python implementation and slides. Review against the actual KG exposed a two-customer limitation, so the implementation uses a transparent aggregator, an ablation check, and explicit limitation text. The course handout itself is user-provided assignment material, not evidence that the October 20 exercise was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study requires more customers and a defensible target for retrieval quality. Candidate metrics could include Precision@K, Recall@K, and evidence coverage. A temporal split would avoid training on future purchases. The October 20 classroom handout was not provided here, so this independent experiment should be compared with any actual classroom exercise before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b02abd39595494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ef34eab60e2474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d47cf10961146b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623288896704e3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aa6ff8bdf0b442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474a212475e49d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4CE4B1-09D0-45C8-9C16-12723824485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40EA98D-32B7-49DF-B558-F1179FD4959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851601D-3508-4EB0-BC32-1F9077D01A1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EA585B7-8261-4851-9F95-826F1828050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0C5882F-2AE4-44E8-8563-0962621EC9D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73A732F-02F6-4789-BE78-A5D936A183C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D5ECF24-9B8F-4BED-8F1A-C8129C5CC24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90F2696-0EB5-4B71-BB2C-4B55C83A181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4DC1D10-0810-4AE7-A9FE-D9084FC5213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66842E5-4915-4BF1-8BB8-B4EE4A1AA5C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5b55147b9854a18" /><Relationship Type="http://schemas.openxmlformats.org/officeDocument/2006/relationships/slideLayout" Target="/ppt/slideLayouts/slideLayout1.xml" Id="Raaa8dfe21f924e34" /><Relationship Type="http://schemas.openxmlformats.org/officeDocument/2006/relationships/slideLayout" Target="/ppt/slideLayouts/slideLayout2.xml" Id="Rc7b48586662a4a78" /><Relationship Type="http://schemas.openxmlformats.org/officeDocument/2006/relationships/slideLayout" Target="/ppt/slideLayouts/slideLayout3.xml" Id="R358af62554644ec5" /><Relationship Type="http://schemas.openxmlformats.org/officeDocument/2006/relationships/slideLayout" Target="/ppt/slideLayouts/slideLayout4.xml" Id="R5b5794e209a94fb5" /><Relationship Type="http://schemas.openxmlformats.org/officeDocument/2006/relationships/slideLayout" Target="/ppt/slideLayouts/slideLayout5.xml" Id="Rb387bad79ce14d8f" /><Relationship Type="http://schemas.openxmlformats.org/officeDocument/2006/relationships/slideLayout" Target="/ppt/slideLayouts/slideLayout6.xml" Id="Rf6ea6b0a33a649f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aa8dfe21f924e34"/>
    <p:sldLayoutId xmlns:r="http://schemas.openxmlformats.org/officeDocument/2006/relationships" id="2147483650" r:id="Rc7b48586662a4a78"/>
    <p:sldLayoutId xmlns:r="http://schemas.openxmlformats.org/officeDocument/2006/relationships" id="2147483651" r:id="R358af62554644ec5"/>
    <p:sldLayoutId xmlns:r="http://schemas.openxmlformats.org/officeDocument/2006/relationships" id="2147483652" r:id="R5b5794e209a94fb5"/>
    <p:sldLayoutId xmlns:r="http://schemas.openxmlformats.org/officeDocument/2006/relationships" id="2147483653" r:id="Rb387bad79ce14d8f"/>
    <p:sldLayoutId xmlns:r="http://schemas.openxmlformats.org/officeDocument/2006/relationships" id="2147483654" r:id="Rf6ea6b0a33a649f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a4a007808b842da" /><Relationship Type="http://schemas.openxmlformats.org/officeDocument/2006/relationships/image" Target="/ppt/media/image.jpeg" Id="Ra3857ae676204876" /><Relationship Type="http://schemas.openxmlformats.org/officeDocument/2006/relationships/notesSlide" Target="/ppt/notesSlides/notesSlide1.xml" Id="R7ffafdf7a3b4443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00dd3b63bed45ed" /><Relationship Type="http://schemas.openxmlformats.org/officeDocument/2006/relationships/notesSlide" Target="/ppt/notesSlides/notesSlide2.xml" Id="R60a5796a675a45a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554558d6b0e497f" /><Relationship Type="http://schemas.openxmlformats.org/officeDocument/2006/relationships/notesSlide" Target="/ppt/notesSlides/notesSlide3.xml" Id="R1aebe760f497414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9107a9580c5473e" /><Relationship Type="http://schemas.openxmlformats.org/officeDocument/2006/relationships/notesSlide" Target="/ppt/notesSlides/notesSlide4.xml" Id="R3309da61cdd6477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ef3184e459a4e84" /><Relationship Type="http://schemas.openxmlformats.org/officeDocument/2006/relationships/image" Target="/ppt/media/image.png" Id="Rd784571a898444f8" /><Relationship Type="http://schemas.openxmlformats.org/officeDocument/2006/relationships/notesSlide" Target="/ppt/notesSlides/notesSlide5.xml" Id="R8fe83560149c4ad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f4540a444b547f6" /><Relationship Type="http://schemas.openxmlformats.org/officeDocument/2006/relationships/notesSlide" Target="/ppt/notesSlides/notesSlide6.xml" Id="R966f2c804c5548d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fc00d50ba074b6d" /><Relationship Type="http://schemas.openxmlformats.org/officeDocument/2006/relationships/notesSlide" Target="/ppt/notesSlides/notesSlide7.xml" Id="R8756e2f8b9254bf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a4682a036a84097" /><Relationship Type="http://schemas.openxmlformats.org/officeDocument/2006/relationships/notesSlide" Target="/ppt/notesSlides/notesSlide8.xml" Id="R9ad2d737307948a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0951c5d2c364565" /><Relationship Type="http://schemas.openxmlformats.org/officeDocument/2006/relationships/notesSlide" Target="/ppt/notesSlides/notesSlide9.xml" Id="Ra46795932e3346b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30cea6763184ff8" /><Relationship Type="http://schemas.openxmlformats.org/officeDocument/2006/relationships/notesSlide" Target="/ppt/notesSlides/notesSlide10.xml" Id="Rab1f2891c06a45b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8889689-5987-42A2-B619-15728C856459}"/>
              </a:ext>
            </a:extLst>
          </p:cNvPr>
          <p:cNvSpPr>
            <a:spLocks xmlns:a="http://schemas.openxmlformats.org/drawingml/2006/main" noGrp="1"/>
          </p:cNvSpPr>
          <p:nvPr/>
        </p:nvSpPr>
        <p:spPr>
          <a:xfrm xmlns:a="http://schemas.openxmlformats.org/drawingml/2006/main">
            <a:off x="523875" y="32385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173B5E"/>
                </a:solidFill>
                <a:latin typeface="Arial"/>
                <a:ea typeface="Arial"/>
                <a:cs typeface="Arial"/>
              </a:defRPr>
            </a:defPPr>
            <a:lvl1pPr>
              <a:defRPr sz="2700" b="1">
                <a:solidFill>
                  <a:srgbClr val="173B5E"/>
                </a:solidFill>
                <a:latin typeface="Arial"/>
                <a:ea typeface="Arial"/>
                <a:cs typeface="Arial"/>
              </a:defRPr>
            </a:lvl1pPr>
            <a:lvl2pPr>
              <a:defRPr sz="2700" b="1">
                <a:solidFill>
                  <a:srgbClr val="173B5E"/>
                </a:solidFill>
                <a:latin typeface="Arial"/>
                <a:ea typeface="Arial"/>
                <a:cs typeface="Arial"/>
              </a:defRPr>
            </a:lvl2pPr>
            <a:lvl3pPr>
              <a:defRPr sz="2700" b="1">
                <a:solidFill>
                  <a:srgbClr val="173B5E"/>
                </a:solidFill>
                <a:latin typeface="Arial"/>
                <a:ea typeface="Arial"/>
                <a:cs typeface="Arial"/>
              </a:defRPr>
            </a:lvl3pPr>
            <a:lvl4pPr>
              <a:defRPr sz="2700" b="1">
                <a:solidFill>
                  <a:srgbClr val="173B5E"/>
                </a:solidFill>
                <a:latin typeface="Arial"/>
                <a:ea typeface="Arial"/>
                <a:cs typeface="Arial"/>
              </a:defRPr>
            </a:lvl4pPr>
            <a:lvl5pPr>
              <a:defRPr sz="2700" b="1">
                <a:solidFill>
                  <a:srgbClr val="173B5E"/>
                </a:solidFill>
                <a:latin typeface="Arial"/>
                <a:ea typeface="Arial"/>
                <a:cs typeface="Arial"/>
              </a:defRPr>
            </a:lvl5pPr>
            <a:lvl6pPr>
              <a:defRPr sz="2700" b="1">
                <a:solidFill>
                  <a:srgbClr val="173B5E"/>
                </a:solidFill>
                <a:latin typeface="Arial"/>
                <a:ea typeface="Arial"/>
                <a:cs typeface="Arial"/>
              </a:defRPr>
            </a:lvl6pPr>
            <a:lvl7pPr>
              <a:defRPr sz="2700" b="1">
                <a:solidFill>
                  <a:srgbClr val="173B5E"/>
                </a:solidFill>
                <a:latin typeface="Arial"/>
                <a:ea typeface="Arial"/>
                <a:cs typeface="Arial"/>
              </a:defRPr>
            </a:lvl7pPr>
            <a:lvl8pPr>
              <a:defRPr sz="2700" b="1">
                <a:solidFill>
                  <a:srgbClr val="173B5E"/>
                </a:solidFill>
                <a:latin typeface="Arial"/>
                <a:ea typeface="Arial"/>
                <a:cs typeface="Arial"/>
              </a:defRPr>
            </a:lvl8pPr>
            <a:lvl9pPr>
              <a:defRPr sz="2700" b="1">
                <a:solidFill>
                  <a:srgbClr val="173B5E"/>
                </a:solidFill>
                <a:latin typeface="Arial"/>
                <a:ea typeface="Arial"/>
                <a:cs typeface="Arial"/>
              </a:defRPr>
            </a:lvl9pPr>
          </a:lstStyle>
          <a:p xmlns:a="http://schemas.openxmlformats.org/drawingml/2006/main">
            <a:pPr>
              <a:defRPr sz="2700" b="1">
                <a:solidFill>
                  <a:srgbClr val="173B5E"/>
                </a:solidFill>
                <a:latin typeface="Arial"/>
                <a:ea typeface="Arial"/>
                <a:cs typeface="Arial"/>
              </a:defRPr>
            </a:pPr>
            <a:r>
              <a:rPr sz="2700" b="1">
                <a:solidFill>
                  <a:srgbClr val="173B5E"/>
                </a:solidFill>
                <a:latin typeface="Arial"/>
                <a:ea typeface="Arial"/>
                <a:cs typeface="Arial"/>
              </a:rPr>
              <a:t>Retail360: GraphRAG and customer similarity</a:t>
            </a:r>
          </a:p>
        </p:txBody>
      </p:sp>
      <p:sp>
        <p:nvSpPr>
          <p:cNvPr id="2" name="">
            <a:extLst xmlns:a="http://schemas.openxmlformats.org/drawingml/2006/main">
              <a:ext uri="{FF2B5EF4-FFF2-40B4-BE49-F238E27FC236}">
                <a16:creationId xmlns:a16="http://schemas.microsoft.com/office/drawing/2014/main" id="{3E3A2202-EC6E-4F48-AFB0-860A60158387}"/>
              </a:ext>
            </a:extLst>
          </p:cNvPr>
          <p:cNvSpPr>
            <a:spLocks xmlns:a="http://schemas.openxmlformats.org/drawingml/2006/main" noGrp="1"/>
          </p:cNvSpPr>
          <p:nvPr/>
        </p:nvSpPr>
        <p:spPr>
          <a:xfrm xmlns:a="http://schemas.openxmlformats.org/drawingml/2006/main">
            <a:off x="523875" y="6505575"/>
            <a:ext cx="11144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566E82"/>
                </a:solidFill>
                <a:latin typeface="Arial"/>
                <a:ea typeface="Arial"/>
                <a:cs typeface="Arial"/>
              </a:defRPr>
            </a:defPPr>
            <a:lvl1pPr>
              <a:defRPr sz="1050" b="0">
                <a:solidFill>
                  <a:srgbClr val="566E82"/>
                </a:solidFill>
                <a:latin typeface="Arial"/>
                <a:ea typeface="Arial"/>
                <a:cs typeface="Arial"/>
              </a:defRPr>
            </a:lvl1pPr>
            <a:lvl2pPr>
              <a:defRPr sz="1050" b="0">
                <a:solidFill>
                  <a:srgbClr val="566E82"/>
                </a:solidFill>
                <a:latin typeface="Arial"/>
                <a:ea typeface="Arial"/>
                <a:cs typeface="Arial"/>
              </a:defRPr>
            </a:lvl2pPr>
            <a:lvl3pPr>
              <a:defRPr sz="1050" b="0">
                <a:solidFill>
                  <a:srgbClr val="566E82"/>
                </a:solidFill>
                <a:latin typeface="Arial"/>
                <a:ea typeface="Arial"/>
                <a:cs typeface="Arial"/>
              </a:defRPr>
            </a:lvl3pPr>
            <a:lvl4pPr>
              <a:defRPr sz="1050" b="0">
                <a:solidFill>
                  <a:srgbClr val="566E82"/>
                </a:solidFill>
                <a:latin typeface="Arial"/>
                <a:ea typeface="Arial"/>
                <a:cs typeface="Arial"/>
              </a:defRPr>
            </a:lvl4pPr>
            <a:lvl5pPr>
              <a:defRPr sz="1050" b="0">
                <a:solidFill>
                  <a:srgbClr val="566E82"/>
                </a:solidFill>
                <a:latin typeface="Arial"/>
                <a:ea typeface="Arial"/>
                <a:cs typeface="Arial"/>
              </a:defRPr>
            </a:lvl5pPr>
            <a:lvl6pPr>
              <a:defRPr sz="1050" b="0">
                <a:solidFill>
                  <a:srgbClr val="566E82"/>
                </a:solidFill>
                <a:latin typeface="Arial"/>
                <a:ea typeface="Arial"/>
                <a:cs typeface="Arial"/>
              </a:defRPr>
            </a:lvl6pPr>
            <a:lvl7pPr>
              <a:defRPr sz="1050" b="0">
                <a:solidFill>
                  <a:srgbClr val="566E82"/>
                </a:solidFill>
                <a:latin typeface="Arial"/>
                <a:ea typeface="Arial"/>
                <a:cs typeface="Arial"/>
              </a:defRPr>
            </a:lvl7pPr>
            <a:lvl8pPr>
              <a:defRPr sz="1050" b="0">
                <a:solidFill>
                  <a:srgbClr val="566E82"/>
                </a:solidFill>
                <a:latin typeface="Arial"/>
                <a:ea typeface="Arial"/>
                <a:cs typeface="Arial"/>
              </a:defRPr>
            </a:lvl8pPr>
            <a:lvl9pPr>
              <a:defRPr sz="1050" b="0">
                <a:solidFill>
                  <a:srgbClr val="566E82"/>
                </a:solidFill>
                <a:latin typeface="Arial"/>
                <a:ea typeface="Arial"/>
                <a:cs typeface="Arial"/>
              </a:defRPr>
            </a:lvl9pPr>
          </a:lstStyle>
          <a:p xmlns:a="http://schemas.openxmlformats.org/drawingml/2006/main">
            <a:pPr>
              <a:defRPr sz="1050" b="0">
                <a:solidFill>
                  <a:srgbClr val="566E82"/>
                </a:solidFill>
                <a:latin typeface="Arial"/>
                <a:ea typeface="Arial"/>
                <a:cs typeface="Arial"/>
              </a:defRPr>
            </a:pPr>
            <a:r>
              <a:rPr sz="1050" b="0">
                <a:solidFill>
                  <a:srgbClr val="566E82"/>
                </a:solidFill>
                <a:latin typeface="Arial"/>
                <a:ea typeface="Arial"/>
                <a:cs typeface="Arial"/>
              </a:rPr>
              <a:t>Retail360  |  CS 5588 Challenge 3                                         1/10</a:t>
            </a:r>
          </a:p>
        </p:txBody>
      </p:sp>
      <p:pic>
        <p:nvPicPr>
          <p:cNvPr id="3" name="">
            <a:extLst xmlns:a="http://schemas.openxmlformats.org/drawingml/2006/main">
              <a:ext uri="{FF2B5EF4-FFF2-40B4-BE49-F238E27FC236}">
                <a16:creationId xmlns:a16="http://schemas.microsoft.com/office/drawing/2014/main" id="{2C0E2365-257F-4EBD-BBA0-85379EAFB777}"/>
              </a:ext>
            </a:extLst>
          </p:cNvPr>
          <p:cNvPicPr>
            <a:picLocks xmlns:a="http://schemas.openxmlformats.org/drawingml/2006/main" noChangeAspect="1"/>
          </p:cNvPicPr>
          <p:nvPr/>
        </p:nvPicPr>
        <p:blipFill>
          <a:blip xmlns:r="http://schemas.openxmlformats.org/officeDocument/2006/relationships" xmlns:a="http://schemas.openxmlformats.org/drawingml/2006/main" r:embed="Ra3857ae676204876"/>
          <a:stretch xmlns:a="http://schemas.openxmlformats.org/drawingml/2006/main"/>
        </p:blipFill>
        <p:spPr>
          <a:xfrm xmlns:a="http://schemas.openxmlformats.org/drawingml/2006/main">
            <a:off x="428625" y="1437680"/>
            <a:ext cx="7334250" cy="412551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7782C16-439F-4904-BDE7-A12F0A181D20}"/>
              </a:ext>
            </a:extLst>
          </p:cNvPr>
          <p:cNvSpPr>
            <a:spLocks xmlns:a="http://schemas.openxmlformats.org/drawingml/2006/main" noGrp="1"/>
          </p:cNvSpPr>
          <p:nvPr/>
        </p:nvSpPr>
        <p:spPr>
          <a:xfrm xmlns:a="http://schemas.openxmlformats.org/drawingml/2006/main">
            <a:off x="7953375" y="1381125"/>
            <a:ext cx="3381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73B5E"/>
                </a:solidFill>
                <a:latin typeface="Arial"/>
                <a:ea typeface="Arial"/>
                <a:cs typeface="Arial"/>
              </a:defRPr>
            </a:defPPr>
            <a:lvl1pPr>
              <a:defRPr sz="1875" b="1">
                <a:solidFill>
                  <a:srgbClr val="173B5E"/>
                </a:solidFill>
                <a:latin typeface="Arial"/>
                <a:ea typeface="Arial"/>
                <a:cs typeface="Arial"/>
              </a:defRPr>
            </a:lvl1pPr>
            <a:lvl2pPr>
              <a:defRPr sz="1875" b="1">
                <a:solidFill>
                  <a:srgbClr val="173B5E"/>
                </a:solidFill>
                <a:latin typeface="Arial"/>
                <a:ea typeface="Arial"/>
                <a:cs typeface="Arial"/>
              </a:defRPr>
            </a:lvl2pPr>
            <a:lvl3pPr>
              <a:defRPr sz="1875" b="1">
                <a:solidFill>
                  <a:srgbClr val="173B5E"/>
                </a:solidFill>
                <a:latin typeface="Arial"/>
                <a:ea typeface="Arial"/>
                <a:cs typeface="Arial"/>
              </a:defRPr>
            </a:lvl3pPr>
            <a:lvl4pPr>
              <a:defRPr sz="1875" b="1">
                <a:solidFill>
                  <a:srgbClr val="173B5E"/>
                </a:solidFill>
                <a:latin typeface="Arial"/>
                <a:ea typeface="Arial"/>
                <a:cs typeface="Arial"/>
              </a:defRPr>
            </a:lvl4pPr>
            <a:lvl5pPr>
              <a:defRPr sz="1875" b="1">
                <a:solidFill>
                  <a:srgbClr val="173B5E"/>
                </a:solidFill>
                <a:latin typeface="Arial"/>
                <a:ea typeface="Arial"/>
                <a:cs typeface="Arial"/>
              </a:defRPr>
            </a:lvl5pPr>
            <a:lvl6pPr>
              <a:defRPr sz="1875" b="1">
                <a:solidFill>
                  <a:srgbClr val="173B5E"/>
                </a:solidFill>
                <a:latin typeface="Arial"/>
                <a:ea typeface="Arial"/>
                <a:cs typeface="Arial"/>
              </a:defRPr>
            </a:lvl6pPr>
            <a:lvl7pPr>
              <a:defRPr sz="1875" b="1">
                <a:solidFill>
                  <a:srgbClr val="173B5E"/>
                </a:solidFill>
                <a:latin typeface="Arial"/>
                <a:ea typeface="Arial"/>
                <a:cs typeface="Arial"/>
              </a:defRPr>
            </a:lvl7pPr>
            <a:lvl8pPr>
              <a:defRPr sz="1875" b="1">
                <a:solidFill>
                  <a:srgbClr val="173B5E"/>
                </a:solidFill>
                <a:latin typeface="Arial"/>
                <a:ea typeface="Arial"/>
                <a:cs typeface="Arial"/>
              </a:defRPr>
            </a:lvl8pPr>
            <a:lvl9pPr>
              <a:defRPr sz="1875" b="1">
                <a:solidFill>
                  <a:srgbClr val="173B5E"/>
                </a:solidFill>
                <a:latin typeface="Arial"/>
                <a:ea typeface="Arial"/>
                <a:cs typeface="Arial"/>
              </a:defRPr>
            </a:lvl9pPr>
          </a:lstStyle>
          <a:p xmlns:a="http://schemas.openxmlformats.org/drawingml/2006/main">
            <a:pPr>
              <a:defRPr sz="1875" b="1">
                <a:solidFill>
                  <a:srgbClr val="173B5E"/>
                </a:solidFill>
                <a:latin typeface="Arial"/>
                <a:ea typeface="Arial"/>
                <a:cs typeface="Arial"/>
              </a:defRPr>
            </a:pPr>
            <a:r>
              <a:rPr sz="1875" b="1">
                <a:solidFill>
                  <a:srgbClr val="173B5E"/>
                </a:solidFill>
                <a:latin typeface="Arial"/>
                <a:ea typeface="Arial"/>
                <a:cs typeface="Arial"/>
              </a:rPr>
              <a:t>Research question</a:t>
            </a:r>
          </a:p>
        </p:txBody>
      </p:sp>
      <p:sp>
        <p:nvSpPr>
          <p:cNvPr id="5" name="">
            <a:extLst xmlns:a="http://schemas.openxmlformats.org/drawingml/2006/main">
              <a:ext uri="{FF2B5EF4-FFF2-40B4-BE49-F238E27FC236}">
                <a16:creationId xmlns:a16="http://schemas.microsoft.com/office/drawing/2014/main" id="{BBD72C37-8471-40CF-8E43-EFB2BF7BD53E}"/>
              </a:ext>
            </a:extLst>
          </p:cNvPr>
          <p:cNvSpPr>
            <a:spLocks xmlns:a="http://schemas.openxmlformats.org/drawingml/2006/main" noGrp="1"/>
          </p:cNvSpPr>
          <p:nvPr/>
        </p:nvSpPr>
        <p:spPr>
          <a:xfrm xmlns:a="http://schemas.openxmlformats.org/drawingml/2006/main">
            <a:off x="7953375" y="1857375"/>
            <a:ext cx="35242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3374D"/>
                </a:solidFill>
                <a:latin typeface="Arial"/>
                <a:ea typeface="Arial"/>
                <a:cs typeface="Arial"/>
              </a:defRPr>
            </a:defPPr>
            <a:lvl1pPr>
              <a:defRPr sz="1800" b="0">
                <a:solidFill>
                  <a:srgbClr val="23374D"/>
                </a:solidFill>
                <a:latin typeface="Arial"/>
                <a:ea typeface="Arial"/>
                <a:cs typeface="Arial"/>
              </a:defRPr>
            </a:lvl1pPr>
            <a:lvl2pPr>
              <a:defRPr sz="1800" b="0">
                <a:solidFill>
                  <a:srgbClr val="23374D"/>
                </a:solidFill>
                <a:latin typeface="Arial"/>
                <a:ea typeface="Arial"/>
                <a:cs typeface="Arial"/>
              </a:defRPr>
            </a:lvl2pPr>
            <a:lvl3pPr>
              <a:defRPr sz="1800" b="0">
                <a:solidFill>
                  <a:srgbClr val="23374D"/>
                </a:solidFill>
                <a:latin typeface="Arial"/>
                <a:ea typeface="Arial"/>
                <a:cs typeface="Arial"/>
              </a:defRPr>
            </a:lvl3pPr>
            <a:lvl4pPr>
              <a:defRPr sz="1800" b="0">
                <a:solidFill>
                  <a:srgbClr val="23374D"/>
                </a:solidFill>
                <a:latin typeface="Arial"/>
                <a:ea typeface="Arial"/>
                <a:cs typeface="Arial"/>
              </a:defRPr>
            </a:lvl4pPr>
            <a:lvl5pPr>
              <a:defRPr sz="1800" b="0">
                <a:solidFill>
                  <a:srgbClr val="23374D"/>
                </a:solidFill>
                <a:latin typeface="Arial"/>
                <a:ea typeface="Arial"/>
                <a:cs typeface="Arial"/>
              </a:defRPr>
            </a:lvl5pPr>
            <a:lvl6pPr>
              <a:defRPr sz="1800" b="0">
                <a:solidFill>
                  <a:srgbClr val="23374D"/>
                </a:solidFill>
                <a:latin typeface="Arial"/>
                <a:ea typeface="Arial"/>
                <a:cs typeface="Arial"/>
              </a:defRPr>
            </a:lvl6pPr>
            <a:lvl7pPr>
              <a:defRPr sz="1800" b="0">
                <a:solidFill>
                  <a:srgbClr val="23374D"/>
                </a:solidFill>
                <a:latin typeface="Arial"/>
                <a:ea typeface="Arial"/>
                <a:cs typeface="Arial"/>
              </a:defRPr>
            </a:lvl7pPr>
            <a:lvl8pPr>
              <a:defRPr sz="1800" b="0">
                <a:solidFill>
                  <a:srgbClr val="23374D"/>
                </a:solidFill>
                <a:latin typeface="Arial"/>
                <a:ea typeface="Arial"/>
                <a:cs typeface="Arial"/>
              </a:defRPr>
            </a:lvl8pPr>
            <a:lvl9pPr>
              <a:defRPr sz="1800" b="0">
                <a:solidFill>
                  <a:srgbClr val="23374D"/>
                </a:solidFill>
                <a:latin typeface="Arial"/>
                <a:ea typeface="Arial"/>
                <a:cs typeface="Arial"/>
              </a:defRPr>
            </a:lvl9pPr>
          </a:lstStyle>
          <a:p xmlns:a="http://schemas.openxmlformats.org/drawingml/2006/main">
            <a:pPr>
              <a:defRPr sz="1800" b="0">
                <a:solidFill>
                  <a:srgbClr val="23374D"/>
                </a:solidFill>
                <a:latin typeface="Arial"/>
                <a:ea typeface="Arial"/>
                <a:cs typeface="Arial"/>
              </a:defRPr>
            </a:pPr>
            <a:r>
              <a:rPr sz="1800" b="0">
                <a:solidFill>
                  <a:srgbClr val="23374D"/>
                </a:solidFill>
                <a:latin typeface="Arial"/>
                <a:ea typeface="Arial"/>
                <a:cs typeface="Arial"/>
              </a:rPr>
              <a:t>Can graph-based customer representations help us find relevant customers while keeping purchase evidence visible?</a:t>
            </a:r>
          </a:p>
        </p:txBody>
      </p:sp>
      <p:sp>
        <p:nvSpPr>
          <p:cNvPr id="6" name="">
            <a:extLst xmlns:a="http://schemas.openxmlformats.org/drawingml/2006/main">
              <a:ext uri="{FF2B5EF4-FFF2-40B4-BE49-F238E27FC236}">
                <a16:creationId xmlns:a16="http://schemas.microsoft.com/office/drawing/2014/main" id="{53133AD3-AAA9-412B-8BDA-5A8D1F220ED4}"/>
              </a:ext>
            </a:extLst>
          </p:cNvPr>
          <p:cNvSpPr>
            <a:spLocks xmlns:a="http://schemas.openxmlformats.org/drawingml/2006/main" noGrp="1"/>
          </p:cNvSpPr>
          <p:nvPr/>
        </p:nvSpPr>
        <p:spPr>
          <a:xfrm xmlns:a="http://schemas.openxmlformats.org/drawingml/2006/main">
            <a:off x="7953375" y="3762375"/>
            <a:ext cx="3476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73B5E"/>
                </a:solidFill>
                <a:latin typeface="Arial"/>
                <a:ea typeface="Arial"/>
                <a:cs typeface="Arial"/>
              </a:defRPr>
            </a:defPPr>
            <a:lvl1pPr>
              <a:defRPr sz="1800" b="1">
                <a:solidFill>
                  <a:srgbClr val="173B5E"/>
                </a:solidFill>
                <a:latin typeface="Arial"/>
                <a:ea typeface="Arial"/>
                <a:cs typeface="Arial"/>
              </a:defRPr>
            </a:lvl1pPr>
            <a:lvl2pPr>
              <a:defRPr sz="1800" b="1">
                <a:solidFill>
                  <a:srgbClr val="173B5E"/>
                </a:solidFill>
                <a:latin typeface="Arial"/>
                <a:ea typeface="Arial"/>
                <a:cs typeface="Arial"/>
              </a:defRPr>
            </a:lvl2pPr>
            <a:lvl3pPr>
              <a:defRPr sz="1800" b="1">
                <a:solidFill>
                  <a:srgbClr val="173B5E"/>
                </a:solidFill>
                <a:latin typeface="Arial"/>
                <a:ea typeface="Arial"/>
                <a:cs typeface="Arial"/>
              </a:defRPr>
            </a:lvl3pPr>
            <a:lvl4pPr>
              <a:defRPr sz="1800" b="1">
                <a:solidFill>
                  <a:srgbClr val="173B5E"/>
                </a:solidFill>
                <a:latin typeface="Arial"/>
                <a:ea typeface="Arial"/>
                <a:cs typeface="Arial"/>
              </a:defRPr>
            </a:lvl4pPr>
            <a:lvl5pPr>
              <a:defRPr sz="1800" b="1">
                <a:solidFill>
                  <a:srgbClr val="173B5E"/>
                </a:solidFill>
                <a:latin typeface="Arial"/>
                <a:ea typeface="Arial"/>
                <a:cs typeface="Arial"/>
              </a:defRPr>
            </a:lvl5pPr>
            <a:lvl6pPr>
              <a:defRPr sz="1800" b="1">
                <a:solidFill>
                  <a:srgbClr val="173B5E"/>
                </a:solidFill>
                <a:latin typeface="Arial"/>
                <a:ea typeface="Arial"/>
                <a:cs typeface="Arial"/>
              </a:defRPr>
            </a:lvl6pPr>
            <a:lvl7pPr>
              <a:defRPr sz="1800" b="1">
                <a:solidFill>
                  <a:srgbClr val="173B5E"/>
                </a:solidFill>
                <a:latin typeface="Arial"/>
                <a:ea typeface="Arial"/>
                <a:cs typeface="Arial"/>
              </a:defRPr>
            </a:lvl7pPr>
            <a:lvl8pPr>
              <a:defRPr sz="1800" b="1">
                <a:solidFill>
                  <a:srgbClr val="173B5E"/>
                </a:solidFill>
                <a:latin typeface="Arial"/>
                <a:ea typeface="Arial"/>
                <a:cs typeface="Arial"/>
              </a:defRPr>
            </a:lvl8pPr>
            <a:lvl9pPr>
              <a:defRPr sz="1800" b="1">
                <a:solidFill>
                  <a:srgbClr val="173B5E"/>
                </a:solidFill>
                <a:latin typeface="Arial"/>
                <a:ea typeface="Arial"/>
                <a:cs typeface="Arial"/>
              </a:defRPr>
            </a:lvl9pPr>
          </a:lstStyle>
          <a:p xmlns:a="http://schemas.openxmlformats.org/drawingml/2006/main">
            <a:pPr>
              <a:defRPr sz="1800" b="1">
                <a:solidFill>
                  <a:srgbClr val="173B5E"/>
                </a:solidFill>
                <a:latin typeface="Arial"/>
                <a:ea typeface="Arial"/>
                <a:cs typeface="Arial"/>
              </a:defRPr>
            </a:pPr>
            <a:r>
              <a:rPr sz="1800" b="1">
                <a:solidFill>
                  <a:srgbClr val="173B5E"/>
                </a:solidFill>
                <a:latin typeface="Arial"/>
                <a:ea typeface="Arial"/>
                <a:cs typeface="Arial"/>
              </a:rPr>
              <a:t>Existing system</a:t>
            </a:r>
          </a:p>
        </p:txBody>
      </p:sp>
      <p:sp>
        <p:nvSpPr>
          <p:cNvPr id="7" name="">
            <a:extLst xmlns:a="http://schemas.openxmlformats.org/drawingml/2006/main">
              <a:ext uri="{FF2B5EF4-FFF2-40B4-BE49-F238E27FC236}">
                <a16:creationId xmlns:a16="http://schemas.microsoft.com/office/drawing/2014/main" id="{7BAA5214-5B7F-4DEB-A70A-26E44DE259E6}"/>
              </a:ext>
            </a:extLst>
          </p:cNvPr>
          <p:cNvSpPr>
            <a:spLocks xmlns:a="http://schemas.openxmlformats.org/drawingml/2006/main" noGrp="1"/>
          </p:cNvSpPr>
          <p:nvPr/>
        </p:nvSpPr>
        <p:spPr>
          <a:xfrm xmlns:a="http://schemas.openxmlformats.org/drawingml/2006/main">
            <a:off x="7953375" y="4210050"/>
            <a:ext cx="3476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23374D"/>
                </a:solidFill>
                <a:latin typeface="Arial"/>
                <a:ea typeface="Arial"/>
                <a:cs typeface="Arial"/>
              </a:defRPr>
            </a:defPPr>
            <a:lvl1pPr>
              <a:defRPr sz="1650" b="0">
                <a:solidFill>
                  <a:srgbClr val="23374D"/>
                </a:solidFill>
                <a:latin typeface="Arial"/>
                <a:ea typeface="Arial"/>
                <a:cs typeface="Arial"/>
              </a:defRPr>
            </a:lvl1pPr>
            <a:lvl2pPr>
              <a:defRPr sz="1650" b="0">
                <a:solidFill>
                  <a:srgbClr val="23374D"/>
                </a:solidFill>
                <a:latin typeface="Arial"/>
                <a:ea typeface="Arial"/>
                <a:cs typeface="Arial"/>
              </a:defRPr>
            </a:lvl2pPr>
            <a:lvl3pPr>
              <a:defRPr sz="1650" b="0">
                <a:solidFill>
                  <a:srgbClr val="23374D"/>
                </a:solidFill>
                <a:latin typeface="Arial"/>
                <a:ea typeface="Arial"/>
                <a:cs typeface="Arial"/>
              </a:defRPr>
            </a:lvl3pPr>
            <a:lvl4pPr>
              <a:defRPr sz="1650" b="0">
                <a:solidFill>
                  <a:srgbClr val="23374D"/>
                </a:solidFill>
                <a:latin typeface="Arial"/>
                <a:ea typeface="Arial"/>
                <a:cs typeface="Arial"/>
              </a:defRPr>
            </a:lvl4pPr>
            <a:lvl5pPr>
              <a:defRPr sz="1650" b="0">
                <a:solidFill>
                  <a:srgbClr val="23374D"/>
                </a:solidFill>
                <a:latin typeface="Arial"/>
                <a:ea typeface="Arial"/>
                <a:cs typeface="Arial"/>
              </a:defRPr>
            </a:lvl5pPr>
            <a:lvl6pPr>
              <a:defRPr sz="1650" b="0">
                <a:solidFill>
                  <a:srgbClr val="23374D"/>
                </a:solidFill>
                <a:latin typeface="Arial"/>
                <a:ea typeface="Arial"/>
                <a:cs typeface="Arial"/>
              </a:defRPr>
            </a:lvl6pPr>
            <a:lvl7pPr>
              <a:defRPr sz="1650" b="0">
                <a:solidFill>
                  <a:srgbClr val="23374D"/>
                </a:solidFill>
                <a:latin typeface="Arial"/>
                <a:ea typeface="Arial"/>
                <a:cs typeface="Arial"/>
              </a:defRPr>
            </a:lvl7pPr>
            <a:lvl8pPr>
              <a:defRPr sz="1650" b="0">
                <a:solidFill>
                  <a:srgbClr val="23374D"/>
                </a:solidFill>
                <a:latin typeface="Arial"/>
                <a:ea typeface="Arial"/>
                <a:cs typeface="Arial"/>
              </a:defRPr>
            </a:lvl8pPr>
            <a:lvl9pPr>
              <a:defRPr sz="1650" b="0">
                <a:solidFill>
                  <a:srgbClr val="23374D"/>
                </a:solidFill>
                <a:latin typeface="Arial"/>
                <a:ea typeface="Arial"/>
                <a:cs typeface="Arial"/>
              </a:defRPr>
            </a:lvl9pPr>
          </a:lstStyle>
          <a:p xmlns:a="http://schemas.openxmlformats.org/drawingml/2006/main">
            <a:pPr>
              <a:defRPr sz="1650" b="0">
                <a:solidFill>
                  <a:srgbClr val="23374D"/>
                </a:solidFill>
                <a:latin typeface="Arial"/>
                <a:ea typeface="Arial"/>
                <a:cs typeface="Arial"/>
              </a:defRPr>
            </a:pPr>
            <a:r>
              <a:rPr sz="1650" b="0">
                <a:solidFill>
                  <a:srgbClr val="23374D"/>
                </a:solidFill>
                <a:latin typeface="Arial"/>
                <a:ea typeface="Arial"/>
                <a:cs typeface="Arial"/>
              </a:rPr>
              <a:t>Neo4j KG: 138 nodes, 227 links</a:t>
            </a:r>
          </a:p>
          <a:p xmlns:a="http://schemas.openxmlformats.org/drawingml/2006/main">
            <a:pPr>
              <a:defRPr sz="1650" b="0">
                <a:solidFill>
                  <a:srgbClr val="23374D"/>
                </a:solidFill>
                <a:latin typeface="Arial"/>
                <a:ea typeface="Arial"/>
                <a:cs typeface="Arial"/>
              </a:defRPr>
            </a:pPr>
            <a:r>
              <a:rPr sz="1650" b="0">
                <a:solidFill>
                  <a:srgbClr val="23374D"/>
                </a:solidFill>
                <a:latin typeface="Arial"/>
                <a:ea typeface="Arial"/>
                <a:cs typeface="Arial"/>
              </a:rPr>
              <a:t>GraphRAG: Cypher evidence + local LLM</a:t>
            </a:r>
          </a:p>
          <a:p xmlns:a="http://schemas.openxmlformats.org/drawingml/2006/main">
            <a:pPr>
              <a:defRPr sz="1650" b="0">
                <a:solidFill>
                  <a:srgbClr val="23374D"/>
                </a:solidFill>
                <a:latin typeface="Arial"/>
                <a:ea typeface="Arial"/>
                <a:cs typeface="Arial"/>
              </a:defRPr>
            </a:pPr>
            <a:r>
              <a:rPr sz="1650" b="0">
                <a:solidFill>
                  <a:srgbClr val="23374D"/>
                </a:solidFill>
                <a:latin typeface="Arial"/>
                <a:ea typeface="Arial"/>
                <a:cs typeface="Arial"/>
              </a:rPr>
              <a:t>Users inspect invoices and source rows</a:t>
            </a:r>
          </a:p>
        </p:txBody>
      </p:sp>
    </p:spTree>
    <p:extLst>
      <p:ext uri="{BB962C8B-B14F-4D97-AF65-F5344CB8AC3E}">
        <p14:creationId xmlns:p14="http://schemas.microsoft.com/office/powerpoint/2010/main" val="137806405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9CFD41D-43A5-46E0-ACB8-7500EA5373FA}"/>
              </a:ext>
            </a:extLst>
          </p:cNvPr>
          <p:cNvSpPr>
            <a:spLocks xmlns:a="http://schemas.openxmlformats.org/drawingml/2006/main" noGrp="1"/>
          </p:cNvSpPr>
          <p:nvPr/>
        </p:nvSpPr>
        <p:spPr>
          <a:xfrm xmlns:a="http://schemas.openxmlformats.org/drawingml/2006/main">
            <a:off x="523875" y="32385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173B5E"/>
                </a:solidFill>
                <a:latin typeface="Arial"/>
                <a:ea typeface="Arial"/>
                <a:cs typeface="Arial"/>
              </a:defRPr>
            </a:defPPr>
            <a:lvl1pPr>
              <a:defRPr sz="2700" b="1">
                <a:solidFill>
                  <a:srgbClr val="173B5E"/>
                </a:solidFill>
                <a:latin typeface="Arial"/>
                <a:ea typeface="Arial"/>
                <a:cs typeface="Arial"/>
              </a:defRPr>
            </a:lvl1pPr>
            <a:lvl2pPr>
              <a:defRPr sz="2700" b="1">
                <a:solidFill>
                  <a:srgbClr val="173B5E"/>
                </a:solidFill>
                <a:latin typeface="Arial"/>
                <a:ea typeface="Arial"/>
                <a:cs typeface="Arial"/>
              </a:defRPr>
            </a:lvl2pPr>
            <a:lvl3pPr>
              <a:defRPr sz="2700" b="1">
                <a:solidFill>
                  <a:srgbClr val="173B5E"/>
                </a:solidFill>
                <a:latin typeface="Arial"/>
                <a:ea typeface="Arial"/>
                <a:cs typeface="Arial"/>
              </a:defRPr>
            </a:lvl3pPr>
            <a:lvl4pPr>
              <a:defRPr sz="2700" b="1">
                <a:solidFill>
                  <a:srgbClr val="173B5E"/>
                </a:solidFill>
                <a:latin typeface="Arial"/>
                <a:ea typeface="Arial"/>
                <a:cs typeface="Arial"/>
              </a:defRPr>
            </a:lvl4pPr>
            <a:lvl5pPr>
              <a:defRPr sz="2700" b="1">
                <a:solidFill>
                  <a:srgbClr val="173B5E"/>
                </a:solidFill>
                <a:latin typeface="Arial"/>
                <a:ea typeface="Arial"/>
                <a:cs typeface="Arial"/>
              </a:defRPr>
            </a:lvl5pPr>
            <a:lvl6pPr>
              <a:defRPr sz="2700" b="1">
                <a:solidFill>
                  <a:srgbClr val="173B5E"/>
                </a:solidFill>
                <a:latin typeface="Arial"/>
                <a:ea typeface="Arial"/>
                <a:cs typeface="Arial"/>
              </a:defRPr>
            </a:lvl6pPr>
            <a:lvl7pPr>
              <a:defRPr sz="2700" b="1">
                <a:solidFill>
                  <a:srgbClr val="173B5E"/>
                </a:solidFill>
                <a:latin typeface="Arial"/>
                <a:ea typeface="Arial"/>
                <a:cs typeface="Arial"/>
              </a:defRPr>
            </a:lvl7pPr>
            <a:lvl8pPr>
              <a:defRPr sz="2700" b="1">
                <a:solidFill>
                  <a:srgbClr val="173B5E"/>
                </a:solidFill>
                <a:latin typeface="Arial"/>
                <a:ea typeface="Arial"/>
                <a:cs typeface="Arial"/>
              </a:defRPr>
            </a:lvl8pPr>
            <a:lvl9pPr>
              <a:defRPr sz="2700" b="1">
                <a:solidFill>
                  <a:srgbClr val="173B5E"/>
                </a:solidFill>
                <a:latin typeface="Arial"/>
                <a:ea typeface="Arial"/>
                <a:cs typeface="Arial"/>
              </a:defRPr>
            </a:lvl9pPr>
          </a:lstStyle>
          <a:p xmlns:a="http://schemas.openxmlformats.org/drawingml/2006/main">
            <a:pPr>
              <a:defRPr sz="2700" b="1">
                <a:solidFill>
                  <a:srgbClr val="173B5E"/>
                </a:solidFill>
                <a:latin typeface="Arial"/>
                <a:ea typeface="Arial"/>
                <a:cs typeface="Arial"/>
              </a:defRPr>
            </a:pPr>
            <a:r>
              <a:rPr sz="2700" b="1">
                <a:solidFill>
                  <a:srgbClr val="173B5E"/>
                </a:solidFill>
                <a:latin typeface="Arial"/>
                <a:ea typeface="Arial"/>
                <a:cs typeface="Arial"/>
              </a:rPr>
              <a:t>Why explore a GNN?</a:t>
            </a:r>
          </a:p>
        </p:txBody>
      </p:sp>
      <p:sp>
        <p:nvSpPr>
          <p:cNvPr id="2" name="">
            <a:extLst xmlns:a="http://schemas.openxmlformats.org/drawingml/2006/main">
              <a:ext uri="{FF2B5EF4-FFF2-40B4-BE49-F238E27FC236}">
                <a16:creationId xmlns:a16="http://schemas.microsoft.com/office/drawing/2014/main" id="{29573934-8D37-4BAD-9DEC-9D9F35FBE84A}"/>
              </a:ext>
            </a:extLst>
          </p:cNvPr>
          <p:cNvSpPr>
            <a:spLocks xmlns:a="http://schemas.openxmlformats.org/drawingml/2006/main" noGrp="1"/>
          </p:cNvSpPr>
          <p:nvPr/>
        </p:nvSpPr>
        <p:spPr>
          <a:xfrm xmlns:a="http://schemas.openxmlformats.org/drawingml/2006/main">
            <a:off x="523875" y="6505575"/>
            <a:ext cx="11144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566E82"/>
                </a:solidFill>
                <a:latin typeface="Arial"/>
                <a:ea typeface="Arial"/>
                <a:cs typeface="Arial"/>
              </a:defRPr>
            </a:defPPr>
            <a:lvl1pPr>
              <a:defRPr sz="1050" b="0">
                <a:solidFill>
                  <a:srgbClr val="566E82"/>
                </a:solidFill>
                <a:latin typeface="Arial"/>
                <a:ea typeface="Arial"/>
                <a:cs typeface="Arial"/>
              </a:defRPr>
            </a:lvl1pPr>
            <a:lvl2pPr>
              <a:defRPr sz="1050" b="0">
                <a:solidFill>
                  <a:srgbClr val="566E82"/>
                </a:solidFill>
                <a:latin typeface="Arial"/>
                <a:ea typeface="Arial"/>
                <a:cs typeface="Arial"/>
              </a:defRPr>
            </a:lvl2pPr>
            <a:lvl3pPr>
              <a:defRPr sz="1050" b="0">
                <a:solidFill>
                  <a:srgbClr val="566E82"/>
                </a:solidFill>
                <a:latin typeface="Arial"/>
                <a:ea typeface="Arial"/>
                <a:cs typeface="Arial"/>
              </a:defRPr>
            </a:lvl3pPr>
            <a:lvl4pPr>
              <a:defRPr sz="1050" b="0">
                <a:solidFill>
                  <a:srgbClr val="566E82"/>
                </a:solidFill>
                <a:latin typeface="Arial"/>
                <a:ea typeface="Arial"/>
                <a:cs typeface="Arial"/>
              </a:defRPr>
            </a:lvl4pPr>
            <a:lvl5pPr>
              <a:defRPr sz="1050" b="0">
                <a:solidFill>
                  <a:srgbClr val="566E82"/>
                </a:solidFill>
                <a:latin typeface="Arial"/>
                <a:ea typeface="Arial"/>
                <a:cs typeface="Arial"/>
              </a:defRPr>
            </a:lvl5pPr>
            <a:lvl6pPr>
              <a:defRPr sz="1050" b="0">
                <a:solidFill>
                  <a:srgbClr val="566E82"/>
                </a:solidFill>
                <a:latin typeface="Arial"/>
                <a:ea typeface="Arial"/>
                <a:cs typeface="Arial"/>
              </a:defRPr>
            </a:lvl6pPr>
            <a:lvl7pPr>
              <a:defRPr sz="1050" b="0">
                <a:solidFill>
                  <a:srgbClr val="566E82"/>
                </a:solidFill>
                <a:latin typeface="Arial"/>
                <a:ea typeface="Arial"/>
                <a:cs typeface="Arial"/>
              </a:defRPr>
            </a:lvl7pPr>
            <a:lvl8pPr>
              <a:defRPr sz="1050" b="0">
                <a:solidFill>
                  <a:srgbClr val="566E82"/>
                </a:solidFill>
                <a:latin typeface="Arial"/>
                <a:ea typeface="Arial"/>
                <a:cs typeface="Arial"/>
              </a:defRPr>
            </a:lvl8pPr>
            <a:lvl9pPr>
              <a:defRPr sz="1050" b="0">
                <a:solidFill>
                  <a:srgbClr val="566E82"/>
                </a:solidFill>
                <a:latin typeface="Arial"/>
                <a:ea typeface="Arial"/>
                <a:cs typeface="Arial"/>
              </a:defRPr>
            </a:lvl9pPr>
          </a:lstStyle>
          <a:p xmlns:a="http://schemas.openxmlformats.org/drawingml/2006/main">
            <a:pPr>
              <a:defRPr sz="1050" b="0">
                <a:solidFill>
                  <a:srgbClr val="566E82"/>
                </a:solidFill>
                <a:latin typeface="Arial"/>
                <a:ea typeface="Arial"/>
                <a:cs typeface="Arial"/>
              </a:defRPr>
            </a:pPr>
            <a:r>
              <a:rPr sz="1050" b="0">
                <a:solidFill>
                  <a:srgbClr val="566E82"/>
                </a:solidFill>
                <a:latin typeface="Arial"/>
                <a:ea typeface="Arial"/>
                <a:cs typeface="Arial"/>
              </a:rPr>
              <a:t>Retail360  |  CS 5588 Challenge 3                                         2/10</a:t>
            </a:r>
          </a:p>
        </p:txBody>
      </p:sp>
      <p:sp>
        <p:nvSpPr>
          <p:cNvPr id="3" name="">
            <a:extLst xmlns:a="http://schemas.openxmlformats.org/drawingml/2006/main">
              <a:ext uri="{FF2B5EF4-FFF2-40B4-BE49-F238E27FC236}">
                <a16:creationId xmlns:a16="http://schemas.microsoft.com/office/drawing/2014/main" id="{599FDE68-B4FA-4B82-9897-E981DCDC3A72}"/>
              </a:ext>
            </a:extLst>
          </p:cNvPr>
          <p:cNvSpPr>
            <a:spLocks xmlns:a="http://schemas.openxmlformats.org/drawingml/2006/main" noGrp="1"/>
          </p:cNvSpPr>
          <p:nvPr/>
        </p:nvSpPr>
        <p:spPr>
          <a:xfrm xmlns:a="http://schemas.openxmlformats.org/drawingml/2006/main">
            <a:off x="714375" y="14763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173B5E"/>
                </a:solidFill>
                <a:latin typeface="Arial"/>
                <a:ea typeface="Arial"/>
                <a:cs typeface="Arial"/>
              </a:defRPr>
            </a:defPPr>
            <a:lvl1pPr>
              <a:defRPr sz="2025" b="1">
                <a:solidFill>
                  <a:srgbClr val="173B5E"/>
                </a:solidFill>
                <a:latin typeface="Arial"/>
                <a:ea typeface="Arial"/>
                <a:cs typeface="Arial"/>
              </a:defRPr>
            </a:lvl1pPr>
            <a:lvl2pPr>
              <a:defRPr sz="2025" b="1">
                <a:solidFill>
                  <a:srgbClr val="173B5E"/>
                </a:solidFill>
                <a:latin typeface="Arial"/>
                <a:ea typeface="Arial"/>
                <a:cs typeface="Arial"/>
              </a:defRPr>
            </a:lvl2pPr>
            <a:lvl3pPr>
              <a:defRPr sz="2025" b="1">
                <a:solidFill>
                  <a:srgbClr val="173B5E"/>
                </a:solidFill>
                <a:latin typeface="Arial"/>
                <a:ea typeface="Arial"/>
                <a:cs typeface="Arial"/>
              </a:defRPr>
            </a:lvl3pPr>
            <a:lvl4pPr>
              <a:defRPr sz="2025" b="1">
                <a:solidFill>
                  <a:srgbClr val="173B5E"/>
                </a:solidFill>
                <a:latin typeface="Arial"/>
                <a:ea typeface="Arial"/>
                <a:cs typeface="Arial"/>
              </a:defRPr>
            </a:lvl4pPr>
            <a:lvl5pPr>
              <a:defRPr sz="2025" b="1">
                <a:solidFill>
                  <a:srgbClr val="173B5E"/>
                </a:solidFill>
                <a:latin typeface="Arial"/>
                <a:ea typeface="Arial"/>
                <a:cs typeface="Arial"/>
              </a:defRPr>
            </a:lvl5pPr>
            <a:lvl6pPr>
              <a:defRPr sz="2025" b="1">
                <a:solidFill>
                  <a:srgbClr val="173B5E"/>
                </a:solidFill>
                <a:latin typeface="Arial"/>
                <a:ea typeface="Arial"/>
                <a:cs typeface="Arial"/>
              </a:defRPr>
            </a:lvl6pPr>
            <a:lvl7pPr>
              <a:defRPr sz="2025" b="1">
                <a:solidFill>
                  <a:srgbClr val="173B5E"/>
                </a:solidFill>
                <a:latin typeface="Arial"/>
                <a:ea typeface="Arial"/>
                <a:cs typeface="Arial"/>
              </a:defRPr>
            </a:lvl7pPr>
            <a:lvl8pPr>
              <a:defRPr sz="2025" b="1">
                <a:solidFill>
                  <a:srgbClr val="173B5E"/>
                </a:solidFill>
                <a:latin typeface="Arial"/>
                <a:ea typeface="Arial"/>
                <a:cs typeface="Arial"/>
              </a:defRPr>
            </a:lvl8pPr>
            <a:lvl9pPr>
              <a:defRPr sz="2025" b="1">
                <a:solidFill>
                  <a:srgbClr val="173B5E"/>
                </a:solidFill>
                <a:latin typeface="Arial"/>
                <a:ea typeface="Arial"/>
                <a:cs typeface="Arial"/>
              </a:defRPr>
            </a:lvl9pPr>
          </a:lstStyle>
          <a:p xmlns:a="http://schemas.openxmlformats.org/drawingml/2006/main">
            <a:pPr>
              <a:defRPr sz="2025" b="1">
                <a:solidFill>
                  <a:srgbClr val="173B5E"/>
                </a:solidFill>
                <a:latin typeface="Arial"/>
                <a:ea typeface="Arial"/>
                <a:cs typeface="Arial"/>
              </a:defRPr>
            </a:pPr>
            <a:r>
              <a:rPr sz="2025" b="1">
                <a:solidFill>
                  <a:srgbClr val="173B5E"/>
                </a:solidFill>
                <a:latin typeface="Arial"/>
                <a:ea typeface="Arial"/>
                <a:cs typeface="Arial"/>
              </a:rPr>
              <a:t>Current GraphRAG</a:t>
            </a:r>
          </a:p>
        </p:txBody>
      </p:sp>
      <p:sp>
        <p:nvSpPr>
          <p:cNvPr id="4" name="">
            <a:extLst xmlns:a="http://schemas.openxmlformats.org/drawingml/2006/main">
              <a:ext uri="{FF2B5EF4-FFF2-40B4-BE49-F238E27FC236}">
                <a16:creationId xmlns:a16="http://schemas.microsoft.com/office/drawing/2014/main" id="{A7CC5BF1-56BC-44D5-8B15-0B38FB432D64}"/>
              </a:ext>
            </a:extLst>
          </p:cNvPr>
          <p:cNvSpPr>
            <a:spLocks xmlns:a="http://schemas.openxmlformats.org/drawingml/2006/main" noGrp="1"/>
          </p:cNvSpPr>
          <p:nvPr/>
        </p:nvSpPr>
        <p:spPr>
          <a:xfrm xmlns:a="http://schemas.openxmlformats.org/drawingml/2006/main">
            <a:off x="714375" y="2047875"/>
            <a:ext cx="476250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3374D"/>
                </a:solidFill>
                <a:latin typeface="Arial"/>
                <a:ea typeface="Arial"/>
                <a:cs typeface="Arial"/>
              </a:defRPr>
            </a:defPPr>
            <a:lvl1pPr>
              <a:defRPr sz="1875" b="0">
                <a:solidFill>
                  <a:srgbClr val="23374D"/>
                </a:solidFill>
                <a:latin typeface="Arial"/>
                <a:ea typeface="Arial"/>
                <a:cs typeface="Arial"/>
              </a:defRPr>
            </a:lvl1pPr>
            <a:lvl2pPr>
              <a:defRPr sz="1875" b="0">
                <a:solidFill>
                  <a:srgbClr val="23374D"/>
                </a:solidFill>
                <a:latin typeface="Arial"/>
                <a:ea typeface="Arial"/>
                <a:cs typeface="Arial"/>
              </a:defRPr>
            </a:lvl2pPr>
            <a:lvl3pPr>
              <a:defRPr sz="1875" b="0">
                <a:solidFill>
                  <a:srgbClr val="23374D"/>
                </a:solidFill>
                <a:latin typeface="Arial"/>
                <a:ea typeface="Arial"/>
                <a:cs typeface="Arial"/>
              </a:defRPr>
            </a:lvl3pPr>
            <a:lvl4pPr>
              <a:defRPr sz="1875" b="0">
                <a:solidFill>
                  <a:srgbClr val="23374D"/>
                </a:solidFill>
                <a:latin typeface="Arial"/>
                <a:ea typeface="Arial"/>
                <a:cs typeface="Arial"/>
              </a:defRPr>
            </a:lvl4pPr>
            <a:lvl5pPr>
              <a:defRPr sz="1875" b="0">
                <a:solidFill>
                  <a:srgbClr val="23374D"/>
                </a:solidFill>
                <a:latin typeface="Arial"/>
                <a:ea typeface="Arial"/>
                <a:cs typeface="Arial"/>
              </a:defRPr>
            </a:lvl5pPr>
            <a:lvl6pPr>
              <a:defRPr sz="1875" b="0">
                <a:solidFill>
                  <a:srgbClr val="23374D"/>
                </a:solidFill>
                <a:latin typeface="Arial"/>
                <a:ea typeface="Arial"/>
                <a:cs typeface="Arial"/>
              </a:defRPr>
            </a:lvl6pPr>
            <a:lvl7pPr>
              <a:defRPr sz="1875" b="0">
                <a:solidFill>
                  <a:srgbClr val="23374D"/>
                </a:solidFill>
                <a:latin typeface="Arial"/>
                <a:ea typeface="Arial"/>
                <a:cs typeface="Arial"/>
              </a:defRPr>
            </a:lvl7pPr>
            <a:lvl8pPr>
              <a:defRPr sz="1875" b="0">
                <a:solidFill>
                  <a:srgbClr val="23374D"/>
                </a:solidFill>
                <a:latin typeface="Arial"/>
                <a:ea typeface="Arial"/>
                <a:cs typeface="Arial"/>
              </a:defRPr>
            </a:lvl8pPr>
            <a:lvl9pPr>
              <a:defRPr sz="1875" b="0">
                <a:solidFill>
                  <a:srgbClr val="23374D"/>
                </a:solidFill>
                <a:latin typeface="Arial"/>
                <a:ea typeface="Arial"/>
                <a:cs typeface="Arial"/>
              </a:defRPr>
            </a:lvl9pPr>
          </a:lstStyle>
          <a:p xmlns:a="http://schemas.openxmlformats.org/drawingml/2006/main">
            <a:pPr>
              <a:defRPr sz="1875" b="0">
                <a:solidFill>
                  <a:srgbClr val="23374D"/>
                </a:solidFill>
                <a:latin typeface="Arial"/>
                <a:ea typeface="Arial"/>
                <a:cs typeface="Arial"/>
              </a:defRPr>
            </a:pPr>
            <a:r>
              <a:rPr sz="1875" b="0">
                <a:solidFill>
                  <a:srgbClr val="23374D"/>
                </a:solidFill>
                <a:latin typeface="Arial"/>
                <a:ea typeface="Arial"/>
                <a:cs typeface="Arial"/>
              </a:rPr>
              <a:t>Cypher retrieves exact paths and evidence.</a:t>
            </a:r>
          </a:p>
          <a:p xmlns:a="http://schemas.openxmlformats.org/drawingml/2006/main">
            <a:pPr>
              <a:defRPr sz="1875" b="0">
                <a:solidFill>
                  <a:srgbClr val="23374D"/>
                </a:solidFill>
                <a:latin typeface="Arial"/>
                <a:ea typeface="Arial"/>
                <a:cs typeface="Arial"/>
              </a:defRPr>
            </a:pPr>
            <a:r>
              <a:rPr sz="1875" b="0">
                <a:solidFill>
                  <a:srgbClr val="23374D"/>
                </a:solidFill>
                <a:latin typeface="Arial"/>
                <a:ea typeface="Arial"/>
                <a:cs typeface="Arial"/>
              </a:rPr>
              <a:t>The similarity query calculates product overlap.</a:t>
            </a:r>
          </a:p>
          <a:p xmlns:a="http://schemas.openxmlformats.org/drawingml/2006/main">
            <a:pPr>
              <a:defRPr sz="1875" b="0">
                <a:solidFill>
                  <a:srgbClr val="23374D"/>
                </a:solidFill>
                <a:latin typeface="Arial"/>
                <a:ea typeface="Arial"/>
                <a:cs typeface="Arial"/>
              </a:defRPr>
            </a:pPr>
            <a:r>
              <a:rPr sz="1875" b="0">
                <a:solidFill>
                  <a:srgbClr val="23374D"/>
                </a:solidFill>
                <a:latin typeface="Arial"/>
                <a:ea typeface="Arial"/>
                <a:cs typeface="Arial"/>
              </a:rPr>
              <a:t>With more customers, it needs a way to rank candidates.</a:t>
            </a:r>
          </a:p>
        </p:txBody>
      </p:sp>
      <p:sp>
        <p:nvSpPr>
          <p:cNvPr id="5" name="">
            <a:extLst xmlns:a="http://schemas.openxmlformats.org/drawingml/2006/main">
              <a:ext uri="{FF2B5EF4-FFF2-40B4-BE49-F238E27FC236}">
                <a16:creationId xmlns:a16="http://schemas.microsoft.com/office/drawing/2014/main" id="{7F926E53-AA66-4C97-8341-8CC46E2A62AE}"/>
              </a:ext>
            </a:extLst>
          </p:cNvPr>
          <p:cNvSpPr>
            <a:spLocks xmlns:a="http://schemas.openxmlformats.org/drawingml/2006/main" noGrp="1"/>
          </p:cNvSpPr>
          <p:nvPr/>
        </p:nvSpPr>
        <p:spPr>
          <a:xfrm xmlns:a="http://schemas.openxmlformats.org/drawingml/2006/main">
            <a:off x="6429375" y="14763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173B5E"/>
                </a:solidFill>
                <a:latin typeface="Arial"/>
                <a:ea typeface="Arial"/>
                <a:cs typeface="Arial"/>
              </a:defRPr>
            </a:defPPr>
            <a:lvl1pPr>
              <a:defRPr sz="2025" b="1">
                <a:solidFill>
                  <a:srgbClr val="173B5E"/>
                </a:solidFill>
                <a:latin typeface="Arial"/>
                <a:ea typeface="Arial"/>
                <a:cs typeface="Arial"/>
              </a:defRPr>
            </a:lvl1pPr>
            <a:lvl2pPr>
              <a:defRPr sz="2025" b="1">
                <a:solidFill>
                  <a:srgbClr val="173B5E"/>
                </a:solidFill>
                <a:latin typeface="Arial"/>
                <a:ea typeface="Arial"/>
                <a:cs typeface="Arial"/>
              </a:defRPr>
            </a:lvl2pPr>
            <a:lvl3pPr>
              <a:defRPr sz="2025" b="1">
                <a:solidFill>
                  <a:srgbClr val="173B5E"/>
                </a:solidFill>
                <a:latin typeface="Arial"/>
                <a:ea typeface="Arial"/>
                <a:cs typeface="Arial"/>
              </a:defRPr>
            </a:lvl3pPr>
            <a:lvl4pPr>
              <a:defRPr sz="2025" b="1">
                <a:solidFill>
                  <a:srgbClr val="173B5E"/>
                </a:solidFill>
                <a:latin typeface="Arial"/>
                <a:ea typeface="Arial"/>
                <a:cs typeface="Arial"/>
              </a:defRPr>
            </a:lvl4pPr>
            <a:lvl5pPr>
              <a:defRPr sz="2025" b="1">
                <a:solidFill>
                  <a:srgbClr val="173B5E"/>
                </a:solidFill>
                <a:latin typeface="Arial"/>
                <a:ea typeface="Arial"/>
                <a:cs typeface="Arial"/>
              </a:defRPr>
            </a:lvl5pPr>
            <a:lvl6pPr>
              <a:defRPr sz="2025" b="1">
                <a:solidFill>
                  <a:srgbClr val="173B5E"/>
                </a:solidFill>
                <a:latin typeface="Arial"/>
                <a:ea typeface="Arial"/>
                <a:cs typeface="Arial"/>
              </a:defRPr>
            </a:lvl6pPr>
            <a:lvl7pPr>
              <a:defRPr sz="2025" b="1">
                <a:solidFill>
                  <a:srgbClr val="173B5E"/>
                </a:solidFill>
                <a:latin typeface="Arial"/>
                <a:ea typeface="Arial"/>
                <a:cs typeface="Arial"/>
              </a:defRPr>
            </a:lvl7pPr>
            <a:lvl8pPr>
              <a:defRPr sz="2025" b="1">
                <a:solidFill>
                  <a:srgbClr val="173B5E"/>
                </a:solidFill>
                <a:latin typeface="Arial"/>
                <a:ea typeface="Arial"/>
                <a:cs typeface="Arial"/>
              </a:defRPr>
            </a:lvl8pPr>
            <a:lvl9pPr>
              <a:defRPr sz="2025" b="1">
                <a:solidFill>
                  <a:srgbClr val="173B5E"/>
                </a:solidFill>
                <a:latin typeface="Arial"/>
                <a:ea typeface="Arial"/>
                <a:cs typeface="Arial"/>
              </a:defRPr>
            </a:lvl9pPr>
          </a:lstStyle>
          <a:p xmlns:a="http://schemas.openxmlformats.org/drawingml/2006/main">
            <a:pPr>
              <a:defRPr sz="2025" b="1">
                <a:solidFill>
                  <a:srgbClr val="173B5E"/>
                </a:solidFill>
                <a:latin typeface="Arial"/>
                <a:ea typeface="Arial"/>
                <a:cs typeface="Arial"/>
              </a:defRPr>
            </a:pPr>
            <a:r>
              <a:rPr sz="2025" b="1">
                <a:solidFill>
                  <a:srgbClr val="173B5E"/>
                </a:solidFill>
                <a:latin typeface="Arial"/>
                <a:ea typeface="Arial"/>
                <a:cs typeface="Arial"/>
              </a:rPr>
              <a:t>Possible GNN role</a:t>
            </a:r>
          </a:p>
        </p:txBody>
      </p:sp>
      <p:sp>
        <p:nvSpPr>
          <p:cNvPr id="6" name="">
            <a:extLst xmlns:a="http://schemas.openxmlformats.org/drawingml/2006/main">
              <a:ext uri="{FF2B5EF4-FFF2-40B4-BE49-F238E27FC236}">
                <a16:creationId xmlns:a16="http://schemas.microsoft.com/office/drawing/2014/main" id="{839A5A2B-28B2-493F-A315-94491773212C}"/>
              </a:ext>
            </a:extLst>
          </p:cNvPr>
          <p:cNvSpPr>
            <a:spLocks xmlns:a="http://schemas.openxmlformats.org/drawingml/2006/main" noGrp="1"/>
          </p:cNvSpPr>
          <p:nvPr/>
        </p:nvSpPr>
        <p:spPr>
          <a:xfrm xmlns:a="http://schemas.openxmlformats.org/drawingml/2006/main">
            <a:off x="6429375" y="2047875"/>
            <a:ext cx="4762500" cy="2905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3374D"/>
                </a:solidFill>
                <a:latin typeface="Arial"/>
                <a:ea typeface="Arial"/>
                <a:cs typeface="Arial"/>
              </a:defRPr>
            </a:defPPr>
            <a:lvl1pPr>
              <a:defRPr sz="1875" b="0">
                <a:solidFill>
                  <a:srgbClr val="23374D"/>
                </a:solidFill>
                <a:latin typeface="Arial"/>
                <a:ea typeface="Arial"/>
                <a:cs typeface="Arial"/>
              </a:defRPr>
            </a:lvl1pPr>
            <a:lvl2pPr>
              <a:defRPr sz="1875" b="0">
                <a:solidFill>
                  <a:srgbClr val="23374D"/>
                </a:solidFill>
                <a:latin typeface="Arial"/>
                <a:ea typeface="Arial"/>
                <a:cs typeface="Arial"/>
              </a:defRPr>
            </a:lvl2pPr>
            <a:lvl3pPr>
              <a:defRPr sz="1875" b="0">
                <a:solidFill>
                  <a:srgbClr val="23374D"/>
                </a:solidFill>
                <a:latin typeface="Arial"/>
                <a:ea typeface="Arial"/>
                <a:cs typeface="Arial"/>
              </a:defRPr>
            </a:lvl3pPr>
            <a:lvl4pPr>
              <a:defRPr sz="1875" b="0">
                <a:solidFill>
                  <a:srgbClr val="23374D"/>
                </a:solidFill>
                <a:latin typeface="Arial"/>
                <a:ea typeface="Arial"/>
                <a:cs typeface="Arial"/>
              </a:defRPr>
            </a:lvl4pPr>
            <a:lvl5pPr>
              <a:defRPr sz="1875" b="0">
                <a:solidFill>
                  <a:srgbClr val="23374D"/>
                </a:solidFill>
                <a:latin typeface="Arial"/>
                <a:ea typeface="Arial"/>
                <a:cs typeface="Arial"/>
              </a:defRPr>
            </a:lvl5pPr>
            <a:lvl6pPr>
              <a:defRPr sz="1875" b="0">
                <a:solidFill>
                  <a:srgbClr val="23374D"/>
                </a:solidFill>
                <a:latin typeface="Arial"/>
                <a:ea typeface="Arial"/>
                <a:cs typeface="Arial"/>
              </a:defRPr>
            </a:lvl6pPr>
            <a:lvl7pPr>
              <a:defRPr sz="1875" b="0">
                <a:solidFill>
                  <a:srgbClr val="23374D"/>
                </a:solidFill>
                <a:latin typeface="Arial"/>
                <a:ea typeface="Arial"/>
                <a:cs typeface="Arial"/>
              </a:defRPr>
            </a:lvl7pPr>
            <a:lvl8pPr>
              <a:defRPr sz="1875" b="0">
                <a:solidFill>
                  <a:srgbClr val="23374D"/>
                </a:solidFill>
                <a:latin typeface="Arial"/>
                <a:ea typeface="Arial"/>
                <a:cs typeface="Arial"/>
              </a:defRPr>
            </a:lvl8pPr>
            <a:lvl9pPr>
              <a:defRPr sz="1875" b="0">
                <a:solidFill>
                  <a:srgbClr val="23374D"/>
                </a:solidFill>
                <a:latin typeface="Arial"/>
                <a:ea typeface="Arial"/>
                <a:cs typeface="Arial"/>
              </a:defRPr>
            </a:lvl9pPr>
          </a:lstStyle>
          <a:p xmlns:a="http://schemas.openxmlformats.org/drawingml/2006/main">
            <a:pPr>
              <a:defRPr sz="1875" b="0">
                <a:solidFill>
                  <a:srgbClr val="23374D"/>
                </a:solidFill>
                <a:latin typeface="Arial"/>
                <a:ea typeface="Arial"/>
                <a:cs typeface="Arial"/>
              </a:defRPr>
            </a:pPr>
            <a:r>
              <a:rPr sz="1875" b="0">
                <a:solidFill>
                  <a:srgbClr val="23374D"/>
                </a:solidFill>
                <a:latin typeface="Arial"/>
                <a:ea typeface="Arial"/>
                <a:cs typeface="Arial"/>
              </a:rPr>
              <a:t>Neighbor information updates customer vectors.</a:t>
            </a:r>
          </a:p>
          <a:p xmlns:a="http://schemas.openxmlformats.org/drawingml/2006/main">
            <a:pPr>
              <a:defRPr sz="1875" b="0">
                <a:solidFill>
                  <a:srgbClr val="23374D"/>
                </a:solidFill>
                <a:latin typeface="Arial"/>
                <a:ea typeface="Arial"/>
                <a:cs typeface="Arial"/>
              </a:defRPr>
            </a:pPr>
            <a:r>
              <a:rPr sz="1875" b="0">
                <a:solidFill>
                  <a:srgbClr val="23374D"/>
                </a:solidFill>
                <a:latin typeface="Arial"/>
                <a:ea typeface="Arial"/>
                <a:cs typeface="Arial"/>
              </a:rPr>
              <a:t>Vectors could rank candidates first.</a:t>
            </a:r>
          </a:p>
          <a:p xmlns:a="http://schemas.openxmlformats.org/drawingml/2006/main">
            <a:pPr>
              <a:defRPr sz="1875" b="0">
                <a:solidFill>
                  <a:srgbClr val="23374D"/>
                </a:solidFill>
                <a:latin typeface="Arial"/>
                <a:ea typeface="Arial"/>
                <a:cs typeface="Arial"/>
              </a:defRPr>
            </a:pPr>
            <a:r>
              <a:rPr sz="1875" b="0">
                <a:solidFill>
                  <a:srgbClr val="23374D"/>
                </a:solidFill>
                <a:latin typeface="Arial"/>
                <a:ea typeface="Arial"/>
                <a:cs typeface="Arial"/>
              </a:rPr>
              <a:t>Cypher still retrieves the invoices and source rows behind each result.</a:t>
            </a:r>
          </a:p>
        </p:txBody>
      </p:sp>
      <p:sp>
        <p:nvSpPr>
          <p:cNvPr id="7" name="">
            <a:extLst xmlns:a="http://schemas.openxmlformats.org/drawingml/2006/main">
              <a:ext uri="{FF2B5EF4-FFF2-40B4-BE49-F238E27FC236}">
                <a16:creationId xmlns:a16="http://schemas.microsoft.com/office/drawing/2014/main" id="{DAAF67F2-7635-417E-9BCB-93432F8071C0}"/>
              </a:ext>
            </a:extLst>
          </p:cNvPr>
          <p:cNvSpPr>
            <a:spLocks xmlns:a="http://schemas.openxmlformats.org/drawingml/2006/main" noGrp="1"/>
          </p:cNvSpPr>
          <p:nvPr/>
        </p:nvSpPr>
        <p:spPr>
          <a:xfrm xmlns:a="http://schemas.openxmlformats.org/drawingml/2006/main">
            <a:off x="714375" y="53816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8A3E30"/>
                </a:solidFill>
                <a:latin typeface="Arial"/>
                <a:ea typeface="Arial"/>
                <a:cs typeface="Arial"/>
              </a:defRPr>
            </a:defPPr>
            <a:lvl1pPr>
              <a:defRPr sz="1800" b="1">
                <a:solidFill>
                  <a:srgbClr val="8A3E30"/>
                </a:solidFill>
                <a:latin typeface="Arial"/>
                <a:ea typeface="Arial"/>
                <a:cs typeface="Arial"/>
              </a:defRPr>
            </a:lvl1pPr>
            <a:lvl2pPr>
              <a:defRPr sz="1800" b="1">
                <a:solidFill>
                  <a:srgbClr val="8A3E30"/>
                </a:solidFill>
                <a:latin typeface="Arial"/>
                <a:ea typeface="Arial"/>
                <a:cs typeface="Arial"/>
              </a:defRPr>
            </a:lvl2pPr>
            <a:lvl3pPr>
              <a:defRPr sz="1800" b="1">
                <a:solidFill>
                  <a:srgbClr val="8A3E30"/>
                </a:solidFill>
                <a:latin typeface="Arial"/>
                <a:ea typeface="Arial"/>
                <a:cs typeface="Arial"/>
              </a:defRPr>
            </a:lvl3pPr>
            <a:lvl4pPr>
              <a:defRPr sz="1800" b="1">
                <a:solidFill>
                  <a:srgbClr val="8A3E30"/>
                </a:solidFill>
                <a:latin typeface="Arial"/>
                <a:ea typeface="Arial"/>
                <a:cs typeface="Arial"/>
              </a:defRPr>
            </a:lvl4pPr>
            <a:lvl5pPr>
              <a:defRPr sz="1800" b="1">
                <a:solidFill>
                  <a:srgbClr val="8A3E30"/>
                </a:solidFill>
                <a:latin typeface="Arial"/>
                <a:ea typeface="Arial"/>
                <a:cs typeface="Arial"/>
              </a:defRPr>
            </a:lvl5pPr>
            <a:lvl6pPr>
              <a:defRPr sz="1800" b="1">
                <a:solidFill>
                  <a:srgbClr val="8A3E30"/>
                </a:solidFill>
                <a:latin typeface="Arial"/>
                <a:ea typeface="Arial"/>
                <a:cs typeface="Arial"/>
              </a:defRPr>
            </a:lvl6pPr>
            <a:lvl7pPr>
              <a:defRPr sz="1800" b="1">
                <a:solidFill>
                  <a:srgbClr val="8A3E30"/>
                </a:solidFill>
                <a:latin typeface="Arial"/>
                <a:ea typeface="Arial"/>
                <a:cs typeface="Arial"/>
              </a:defRPr>
            </a:lvl7pPr>
            <a:lvl8pPr>
              <a:defRPr sz="1800" b="1">
                <a:solidFill>
                  <a:srgbClr val="8A3E30"/>
                </a:solidFill>
                <a:latin typeface="Arial"/>
                <a:ea typeface="Arial"/>
                <a:cs typeface="Arial"/>
              </a:defRPr>
            </a:lvl8pPr>
            <a:lvl9pPr>
              <a:defRPr sz="1800" b="1">
                <a:solidFill>
                  <a:srgbClr val="8A3E30"/>
                </a:solidFill>
                <a:latin typeface="Arial"/>
                <a:ea typeface="Arial"/>
                <a:cs typeface="Arial"/>
              </a:defRPr>
            </a:lvl9pPr>
          </a:lstStyle>
          <a:p xmlns:a="http://schemas.openxmlformats.org/drawingml/2006/main">
            <a:pPr>
              <a:defRPr sz="1800" b="1">
                <a:solidFill>
                  <a:srgbClr val="8A3E30"/>
                </a:solidFill>
                <a:latin typeface="Arial"/>
                <a:ea typeface="Arial"/>
                <a:cs typeface="Arial"/>
              </a:defRPr>
            </a:pPr>
            <a:r>
              <a:rPr sz="1800" b="1">
                <a:solidFill>
                  <a:srgbClr val="8A3E30"/>
                </a:solidFill>
                <a:latin typeface="Arial"/>
                <a:ea typeface="Arial"/>
                <a:cs typeface="Arial"/>
              </a:rPr>
              <a:t>Hypothesis for later testing: learned embeddings may improve candidate retrieval; this tiny sample cannot test it.</a:t>
            </a:r>
          </a:p>
        </p:txBody>
      </p:sp>
    </p:spTree>
    <p:extLst>
      <p:ext uri="{BB962C8B-B14F-4D97-AF65-F5344CB8AC3E}">
        <p14:creationId xmlns:p14="http://schemas.microsoft.com/office/powerpoint/2010/main" val="200006722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85E8637E-8940-473D-9332-5E62D0C69B31}"/>
              </a:ext>
            </a:extLst>
          </p:cNvPr>
          <p:cNvCxnSpPr>
            <a:stCxn xmlns:a="http://schemas.openxmlformats.org/drawingml/2006/main" id="4" idx="3"/>
            <a:endCxn xmlns:a="http://schemas.openxmlformats.org/drawingml/2006/main" id="5" idx="1"/>
          </p:cNvCxnSpPr>
          <p:nvPr/>
        </p:nvCxnSpPr>
        <p:spPr>
          <a:xfrm xmlns:a="http://schemas.openxmlformats.org/drawingml/2006/main">
            <a:off x="7239000" y="2514600"/>
            <a:ext cx="1190625" cy="0"/>
          </a:xfrm>
          <a:prstGeom xmlns:a="http://schemas.openxmlformats.org/drawingml/2006/main" prst="straightConnector1">
            <a:avLst/>
          </a:prstGeom>
          <a:ln xmlns:a="http://schemas.openxmlformats.org/drawingml/2006/main" w="19050">
            <a:solidFill>
              <a:srgbClr val="6082A0"/>
            </a:solidFill>
            <a:tailEnd type="arrow" w="med" len="med"/>
          </a:ln>
        </p:spPr>
      </p:cxnSp>
      <p:cxnSp>
        <p:nvCxnSpPr>
          <p:cNvPr id="6" name="">
            <a:extLst xmlns:a="http://schemas.openxmlformats.org/drawingml/2006/main">
              <a:ext uri="{FF2B5EF4-FFF2-40B4-BE49-F238E27FC236}">
                <a16:creationId xmlns:a16="http://schemas.microsoft.com/office/drawing/2014/main" id="{4AA0AEE8-A02C-4C85-B4D7-3B7338C38FB3}"/>
              </a:ext>
            </a:extLst>
          </p:cNvPr>
          <p:cNvCxnSpPr>
            <a:stCxn xmlns:a="http://schemas.openxmlformats.org/drawingml/2006/main" id="3" idx="3"/>
            <a:endCxn xmlns:a="http://schemas.openxmlformats.org/drawingml/2006/main" id="4" idx="1"/>
          </p:cNvCxnSpPr>
          <p:nvPr/>
        </p:nvCxnSpPr>
        <p:spPr>
          <a:xfrm xmlns:a="http://schemas.openxmlformats.org/drawingml/2006/main">
            <a:off x="3238500" y="2514600"/>
            <a:ext cx="1190625" cy="0"/>
          </a:xfrm>
          <a:prstGeom xmlns:a="http://schemas.openxmlformats.org/drawingml/2006/main" prst="straightConnector1">
            <a:avLst/>
          </a:prstGeom>
          <a:ln xmlns:a="http://schemas.openxmlformats.org/drawingml/2006/main" w="19050">
            <a:solidFill>
              <a:srgbClr val="6082A0"/>
            </a:solidFill>
            <a:tailEnd type="arrow" w="med" len="med"/>
          </a:ln>
        </p:spPr>
      </p:cxnSp>
      <p:sp>
        <p:nvSpPr>
          <p:cNvPr id="11" name="">
            <a:extLst xmlns:a="http://schemas.openxmlformats.org/drawingml/2006/main">
              <a:ext uri="{FF2B5EF4-FFF2-40B4-BE49-F238E27FC236}">
                <a16:creationId xmlns:a16="http://schemas.microsoft.com/office/drawing/2014/main" id="{593A6423-5D28-4BA6-B8F5-D1F963113C7C}"/>
              </a:ext>
            </a:extLst>
          </p:cNvPr>
          <p:cNvSpPr>
            <a:spLocks xmlns:a="http://schemas.openxmlformats.org/drawingml/2006/main" noGrp="1"/>
          </p:cNvSpPr>
          <p:nvPr/>
        </p:nvSpPr>
        <p:spPr>
          <a:xfrm xmlns:a="http://schemas.openxmlformats.org/drawingml/2006/main">
            <a:off x="523875" y="32385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173B5E"/>
                </a:solidFill>
                <a:latin typeface="Arial"/>
                <a:ea typeface="Arial"/>
                <a:cs typeface="Arial"/>
              </a:defRPr>
            </a:defPPr>
            <a:lvl1pPr>
              <a:defRPr sz="2700" b="1">
                <a:solidFill>
                  <a:srgbClr val="173B5E"/>
                </a:solidFill>
                <a:latin typeface="Arial"/>
                <a:ea typeface="Arial"/>
                <a:cs typeface="Arial"/>
              </a:defRPr>
            </a:lvl1pPr>
            <a:lvl2pPr>
              <a:defRPr sz="2700" b="1">
                <a:solidFill>
                  <a:srgbClr val="173B5E"/>
                </a:solidFill>
                <a:latin typeface="Arial"/>
                <a:ea typeface="Arial"/>
                <a:cs typeface="Arial"/>
              </a:defRPr>
            </a:lvl2pPr>
            <a:lvl3pPr>
              <a:defRPr sz="2700" b="1">
                <a:solidFill>
                  <a:srgbClr val="173B5E"/>
                </a:solidFill>
                <a:latin typeface="Arial"/>
                <a:ea typeface="Arial"/>
                <a:cs typeface="Arial"/>
              </a:defRPr>
            </a:lvl3pPr>
            <a:lvl4pPr>
              <a:defRPr sz="2700" b="1">
                <a:solidFill>
                  <a:srgbClr val="173B5E"/>
                </a:solidFill>
                <a:latin typeface="Arial"/>
                <a:ea typeface="Arial"/>
                <a:cs typeface="Arial"/>
              </a:defRPr>
            </a:lvl4pPr>
            <a:lvl5pPr>
              <a:defRPr sz="2700" b="1">
                <a:solidFill>
                  <a:srgbClr val="173B5E"/>
                </a:solidFill>
                <a:latin typeface="Arial"/>
                <a:ea typeface="Arial"/>
                <a:cs typeface="Arial"/>
              </a:defRPr>
            </a:lvl5pPr>
            <a:lvl6pPr>
              <a:defRPr sz="2700" b="1">
                <a:solidFill>
                  <a:srgbClr val="173B5E"/>
                </a:solidFill>
                <a:latin typeface="Arial"/>
                <a:ea typeface="Arial"/>
                <a:cs typeface="Arial"/>
              </a:defRPr>
            </a:lvl6pPr>
            <a:lvl7pPr>
              <a:defRPr sz="2700" b="1">
                <a:solidFill>
                  <a:srgbClr val="173B5E"/>
                </a:solidFill>
                <a:latin typeface="Arial"/>
                <a:ea typeface="Arial"/>
                <a:cs typeface="Arial"/>
              </a:defRPr>
            </a:lvl7pPr>
            <a:lvl8pPr>
              <a:defRPr sz="2700" b="1">
                <a:solidFill>
                  <a:srgbClr val="173B5E"/>
                </a:solidFill>
                <a:latin typeface="Arial"/>
                <a:ea typeface="Arial"/>
                <a:cs typeface="Arial"/>
              </a:defRPr>
            </a:lvl8pPr>
            <a:lvl9pPr>
              <a:defRPr sz="2700" b="1">
                <a:solidFill>
                  <a:srgbClr val="173B5E"/>
                </a:solidFill>
                <a:latin typeface="Arial"/>
                <a:ea typeface="Arial"/>
                <a:cs typeface="Arial"/>
              </a:defRPr>
            </a:lvl9pPr>
          </a:lstStyle>
          <a:p xmlns:a="http://schemas.openxmlformats.org/drawingml/2006/main">
            <a:pPr>
              <a:defRPr sz="2700" b="1">
                <a:solidFill>
                  <a:srgbClr val="173B5E"/>
                </a:solidFill>
                <a:latin typeface="Arial"/>
                <a:ea typeface="Arial"/>
                <a:cs typeface="Arial"/>
              </a:defRPr>
            </a:pPr>
            <a:r>
              <a:rPr sz="2700" b="1">
                <a:solidFill>
                  <a:srgbClr val="173B5E"/>
                </a:solidFill>
                <a:latin typeface="Arial"/>
                <a:ea typeface="Arial"/>
                <a:cs typeface="Arial"/>
              </a:rPr>
              <a:t>One-layer GraphSAGE-style experiment</a:t>
            </a:r>
          </a:p>
        </p:txBody>
      </p:sp>
      <p:sp>
        <p:nvSpPr>
          <p:cNvPr id="2" name="">
            <a:extLst xmlns:a="http://schemas.openxmlformats.org/drawingml/2006/main">
              <a:ext uri="{FF2B5EF4-FFF2-40B4-BE49-F238E27FC236}">
                <a16:creationId xmlns:a16="http://schemas.microsoft.com/office/drawing/2014/main" id="{BA0A9FDB-C858-416C-BDF6-ADAC9CE6BFDF}"/>
              </a:ext>
            </a:extLst>
          </p:cNvPr>
          <p:cNvSpPr>
            <a:spLocks xmlns:a="http://schemas.openxmlformats.org/drawingml/2006/main" noGrp="1"/>
          </p:cNvSpPr>
          <p:nvPr/>
        </p:nvSpPr>
        <p:spPr>
          <a:xfrm xmlns:a="http://schemas.openxmlformats.org/drawingml/2006/main">
            <a:off x="523875" y="6505575"/>
            <a:ext cx="11144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566E82"/>
                </a:solidFill>
                <a:latin typeface="Arial"/>
                <a:ea typeface="Arial"/>
                <a:cs typeface="Arial"/>
              </a:defRPr>
            </a:defPPr>
            <a:lvl1pPr>
              <a:defRPr sz="1050" b="0">
                <a:solidFill>
                  <a:srgbClr val="566E82"/>
                </a:solidFill>
                <a:latin typeface="Arial"/>
                <a:ea typeface="Arial"/>
                <a:cs typeface="Arial"/>
              </a:defRPr>
            </a:lvl1pPr>
            <a:lvl2pPr>
              <a:defRPr sz="1050" b="0">
                <a:solidFill>
                  <a:srgbClr val="566E82"/>
                </a:solidFill>
                <a:latin typeface="Arial"/>
                <a:ea typeface="Arial"/>
                <a:cs typeface="Arial"/>
              </a:defRPr>
            </a:lvl2pPr>
            <a:lvl3pPr>
              <a:defRPr sz="1050" b="0">
                <a:solidFill>
                  <a:srgbClr val="566E82"/>
                </a:solidFill>
                <a:latin typeface="Arial"/>
                <a:ea typeface="Arial"/>
                <a:cs typeface="Arial"/>
              </a:defRPr>
            </a:lvl3pPr>
            <a:lvl4pPr>
              <a:defRPr sz="1050" b="0">
                <a:solidFill>
                  <a:srgbClr val="566E82"/>
                </a:solidFill>
                <a:latin typeface="Arial"/>
                <a:ea typeface="Arial"/>
                <a:cs typeface="Arial"/>
              </a:defRPr>
            </a:lvl4pPr>
            <a:lvl5pPr>
              <a:defRPr sz="1050" b="0">
                <a:solidFill>
                  <a:srgbClr val="566E82"/>
                </a:solidFill>
                <a:latin typeface="Arial"/>
                <a:ea typeface="Arial"/>
                <a:cs typeface="Arial"/>
              </a:defRPr>
            </a:lvl5pPr>
            <a:lvl6pPr>
              <a:defRPr sz="1050" b="0">
                <a:solidFill>
                  <a:srgbClr val="566E82"/>
                </a:solidFill>
                <a:latin typeface="Arial"/>
                <a:ea typeface="Arial"/>
                <a:cs typeface="Arial"/>
              </a:defRPr>
            </a:lvl6pPr>
            <a:lvl7pPr>
              <a:defRPr sz="1050" b="0">
                <a:solidFill>
                  <a:srgbClr val="566E82"/>
                </a:solidFill>
                <a:latin typeface="Arial"/>
                <a:ea typeface="Arial"/>
                <a:cs typeface="Arial"/>
              </a:defRPr>
            </a:lvl7pPr>
            <a:lvl8pPr>
              <a:defRPr sz="1050" b="0">
                <a:solidFill>
                  <a:srgbClr val="566E82"/>
                </a:solidFill>
                <a:latin typeface="Arial"/>
                <a:ea typeface="Arial"/>
                <a:cs typeface="Arial"/>
              </a:defRPr>
            </a:lvl8pPr>
            <a:lvl9pPr>
              <a:defRPr sz="1050" b="0">
                <a:solidFill>
                  <a:srgbClr val="566E82"/>
                </a:solidFill>
                <a:latin typeface="Arial"/>
                <a:ea typeface="Arial"/>
                <a:cs typeface="Arial"/>
              </a:defRPr>
            </a:lvl9pPr>
          </a:lstStyle>
          <a:p xmlns:a="http://schemas.openxmlformats.org/drawingml/2006/main">
            <a:pPr>
              <a:defRPr sz="1050" b="0">
                <a:solidFill>
                  <a:srgbClr val="566E82"/>
                </a:solidFill>
                <a:latin typeface="Arial"/>
                <a:ea typeface="Arial"/>
                <a:cs typeface="Arial"/>
              </a:defRPr>
            </a:pPr>
            <a:r>
              <a:rPr sz="1050" b="0">
                <a:solidFill>
                  <a:srgbClr val="566E82"/>
                </a:solidFill>
                <a:latin typeface="Arial"/>
                <a:ea typeface="Arial"/>
                <a:cs typeface="Arial"/>
              </a:rPr>
              <a:t>Retail360  |  CS 5588 Challenge 3                                         3/10</a:t>
            </a:r>
          </a:p>
        </p:txBody>
      </p:sp>
      <p:sp>
        <p:nvSpPr>
          <p:cNvPr id="3" name="">
            <a:extLst xmlns:a="http://schemas.openxmlformats.org/drawingml/2006/main">
              <a:ext uri="{FF2B5EF4-FFF2-40B4-BE49-F238E27FC236}">
                <a16:creationId xmlns:a16="http://schemas.microsoft.com/office/drawing/2014/main" id="{16782E75-339C-4ABA-A84D-56F191D94A0D}"/>
              </a:ext>
            </a:extLst>
          </p:cNvPr>
          <p:cNvSpPr>
            <a:spLocks xmlns:a="http://schemas.openxmlformats.org/drawingml/2006/main" noGrp="1"/>
          </p:cNvSpPr>
          <p:nvPr/>
        </p:nvSpPr>
        <p:spPr>
          <a:xfrm xmlns:a="http://schemas.openxmlformats.org/drawingml/2006/main">
            <a:off x="762000" y="1981200"/>
            <a:ext cx="2476500" cy="1066800"/>
          </a:xfrm>
          <a:prstGeom xmlns:a="http://schemas.openxmlformats.org/drawingml/2006/main" prst="rect">
            <a:avLst/>
          </a:prstGeom>
          <a:solidFill xmlns:a="http://schemas.openxmlformats.org/drawingml/2006/main">
            <a:srgbClr val="E7F1F6"/>
          </a:solidFill>
          <a:ln xmlns:a="http://schemas.openxmlformats.org/drawingml/2006/main" w="9525">
            <a:solidFill>
              <a:srgbClr val="A7BDCC"/>
            </a:solidFill>
          </a:ln>
        </p:spPr>
        <p:txBody>
          <a:bodyPr xmlns:a="http://schemas.openxmlformats.org/drawingml/2006/main" anchor="ctr"/>
          <a:lstStyle xmlns:a="http://schemas.openxmlformats.org/drawingml/2006/main">
            <a:defPPr algn="ctr">
              <a:defRPr sz="1725">
                <a:solidFill>
                  <a:srgbClr val="23374D"/>
                </a:solidFill>
                <a:latin typeface="Arial"/>
                <a:ea typeface="Arial"/>
                <a:cs typeface="Arial"/>
              </a:defRPr>
            </a:defPPr>
            <a:lvl1pPr algn="ctr">
              <a:defRPr sz="1725">
                <a:solidFill>
                  <a:srgbClr val="23374D"/>
                </a:solidFill>
                <a:latin typeface="Arial"/>
                <a:ea typeface="Arial"/>
                <a:cs typeface="Arial"/>
              </a:defRPr>
            </a:lvl1pPr>
            <a:lvl2pPr algn="ctr">
              <a:defRPr sz="1725">
                <a:solidFill>
                  <a:srgbClr val="23374D"/>
                </a:solidFill>
                <a:latin typeface="Arial"/>
                <a:ea typeface="Arial"/>
                <a:cs typeface="Arial"/>
              </a:defRPr>
            </a:lvl2pPr>
            <a:lvl3pPr algn="ctr">
              <a:defRPr sz="1725">
                <a:solidFill>
                  <a:srgbClr val="23374D"/>
                </a:solidFill>
                <a:latin typeface="Arial"/>
                <a:ea typeface="Arial"/>
                <a:cs typeface="Arial"/>
              </a:defRPr>
            </a:lvl3pPr>
            <a:lvl4pPr algn="ctr">
              <a:defRPr sz="1725">
                <a:solidFill>
                  <a:srgbClr val="23374D"/>
                </a:solidFill>
                <a:latin typeface="Arial"/>
                <a:ea typeface="Arial"/>
                <a:cs typeface="Arial"/>
              </a:defRPr>
            </a:lvl4pPr>
            <a:lvl5pPr algn="ctr">
              <a:defRPr sz="1725">
                <a:solidFill>
                  <a:srgbClr val="23374D"/>
                </a:solidFill>
                <a:latin typeface="Arial"/>
                <a:ea typeface="Arial"/>
                <a:cs typeface="Arial"/>
              </a:defRPr>
            </a:lvl5pPr>
            <a:lvl6pPr algn="ctr">
              <a:defRPr sz="1725">
                <a:solidFill>
                  <a:srgbClr val="23374D"/>
                </a:solidFill>
                <a:latin typeface="Arial"/>
                <a:ea typeface="Arial"/>
                <a:cs typeface="Arial"/>
              </a:defRPr>
            </a:lvl6pPr>
            <a:lvl7pPr algn="ctr">
              <a:defRPr sz="1725">
                <a:solidFill>
                  <a:srgbClr val="23374D"/>
                </a:solidFill>
                <a:latin typeface="Arial"/>
                <a:ea typeface="Arial"/>
                <a:cs typeface="Arial"/>
              </a:defRPr>
            </a:lvl7pPr>
            <a:lvl8pPr algn="ctr">
              <a:defRPr sz="1725">
                <a:solidFill>
                  <a:srgbClr val="23374D"/>
                </a:solidFill>
                <a:latin typeface="Arial"/>
                <a:ea typeface="Arial"/>
                <a:cs typeface="Arial"/>
              </a:defRPr>
            </a:lvl8pPr>
            <a:lvl9pPr algn="ctr">
              <a:defRPr sz="1725">
                <a:solidFill>
                  <a:srgbClr val="23374D"/>
                </a:solidFill>
                <a:latin typeface="Arial"/>
                <a:ea typeface="Arial"/>
                <a:cs typeface="Arial"/>
              </a:defRPr>
            </a:lvl9pPr>
          </a:lstStyle>
          <a:p xmlns:a="http://schemas.openxmlformats.org/drawingml/2006/main">
            <a:pPr algn="ctr">
              <a:defRPr sz="1725">
                <a:solidFill>
                  <a:srgbClr val="23374D"/>
                </a:solidFill>
                <a:latin typeface="Arial"/>
                <a:ea typeface="Arial"/>
                <a:cs typeface="Arial"/>
              </a:defRPr>
            </a:pPr>
            <a:r>
              <a:rPr sz="1725">
                <a:solidFill>
                  <a:srgbClr val="23374D"/>
                </a:solidFill>
                <a:latin typeface="Arial"/>
                <a:ea typeface="Arial"/>
                <a:cs typeface="Arial"/>
              </a:rPr>
              <a:t>Product nodes</a:t>
            </a:r>
          </a:p>
          <a:p xmlns:a="http://schemas.openxmlformats.org/drawingml/2006/main">
            <a:pPr algn="ctr">
              <a:defRPr sz="1725">
                <a:solidFill>
                  <a:srgbClr val="23374D"/>
                </a:solidFill>
                <a:latin typeface="Arial"/>
                <a:ea typeface="Arial"/>
                <a:cs typeface="Arial"/>
              </a:defRPr>
            </a:pPr>
            <a:r>
              <a:rPr sz="1725">
                <a:solidFill>
                  <a:srgbClr val="23374D"/>
                </a:solidFill>
                <a:latin typeface="Arial"/>
                <a:ea typeface="Arial"/>
                <a:cs typeface="Arial"/>
              </a:rPr>
              <a:t>one-hot StockCode</a:t>
            </a:r>
          </a:p>
        </p:txBody>
      </p:sp>
      <p:sp>
        <p:nvSpPr>
          <p:cNvPr id="4" name="">
            <a:extLst xmlns:a="http://schemas.openxmlformats.org/drawingml/2006/main">
              <a:ext uri="{FF2B5EF4-FFF2-40B4-BE49-F238E27FC236}">
                <a16:creationId xmlns:a16="http://schemas.microsoft.com/office/drawing/2014/main" id="{2F3C1669-9433-4238-908E-A57AEAB008F7}"/>
              </a:ext>
            </a:extLst>
          </p:cNvPr>
          <p:cNvSpPr>
            <a:spLocks xmlns:a="http://schemas.openxmlformats.org/drawingml/2006/main" noGrp="1"/>
          </p:cNvSpPr>
          <p:nvPr/>
        </p:nvSpPr>
        <p:spPr>
          <a:xfrm xmlns:a="http://schemas.openxmlformats.org/drawingml/2006/main">
            <a:off x="4429125" y="1981200"/>
            <a:ext cx="2809875" cy="1066800"/>
          </a:xfrm>
          <a:prstGeom xmlns:a="http://schemas.openxmlformats.org/drawingml/2006/main" prst="rect">
            <a:avLst/>
          </a:prstGeom>
          <a:solidFill xmlns:a="http://schemas.openxmlformats.org/drawingml/2006/main">
            <a:srgbClr val="E7F1F6"/>
          </a:solidFill>
          <a:ln xmlns:a="http://schemas.openxmlformats.org/drawingml/2006/main" w="9525">
            <a:solidFill>
              <a:srgbClr val="A7BDCC"/>
            </a:solidFill>
          </a:ln>
        </p:spPr>
        <p:txBody>
          <a:bodyPr xmlns:a="http://schemas.openxmlformats.org/drawingml/2006/main" anchor="ctr"/>
          <a:lstStyle xmlns:a="http://schemas.openxmlformats.org/drawingml/2006/main">
            <a:defPPr algn="ctr">
              <a:defRPr sz="1725">
                <a:solidFill>
                  <a:srgbClr val="23374D"/>
                </a:solidFill>
                <a:latin typeface="Arial"/>
                <a:ea typeface="Arial"/>
                <a:cs typeface="Arial"/>
              </a:defRPr>
            </a:defPPr>
            <a:lvl1pPr algn="ctr">
              <a:defRPr sz="1725">
                <a:solidFill>
                  <a:srgbClr val="23374D"/>
                </a:solidFill>
                <a:latin typeface="Arial"/>
                <a:ea typeface="Arial"/>
                <a:cs typeface="Arial"/>
              </a:defRPr>
            </a:lvl1pPr>
            <a:lvl2pPr algn="ctr">
              <a:defRPr sz="1725">
                <a:solidFill>
                  <a:srgbClr val="23374D"/>
                </a:solidFill>
                <a:latin typeface="Arial"/>
                <a:ea typeface="Arial"/>
                <a:cs typeface="Arial"/>
              </a:defRPr>
            </a:lvl2pPr>
            <a:lvl3pPr algn="ctr">
              <a:defRPr sz="1725">
                <a:solidFill>
                  <a:srgbClr val="23374D"/>
                </a:solidFill>
                <a:latin typeface="Arial"/>
                <a:ea typeface="Arial"/>
                <a:cs typeface="Arial"/>
              </a:defRPr>
            </a:lvl3pPr>
            <a:lvl4pPr algn="ctr">
              <a:defRPr sz="1725">
                <a:solidFill>
                  <a:srgbClr val="23374D"/>
                </a:solidFill>
                <a:latin typeface="Arial"/>
                <a:ea typeface="Arial"/>
                <a:cs typeface="Arial"/>
              </a:defRPr>
            </a:lvl4pPr>
            <a:lvl5pPr algn="ctr">
              <a:defRPr sz="1725">
                <a:solidFill>
                  <a:srgbClr val="23374D"/>
                </a:solidFill>
                <a:latin typeface="Arial"/>
                <a:ea typeface="Arial"/>
                <a:cs typeface="Arial"/>
              </a:defRPr>
            </a:lvl5pPr>
            <a:lvl6pPr algn="ctr">
              <a:defRPr sz="1725">
                <a:solidFill>
                  <a:srgbClr val="23374D"/>
                </a:solidFill>
                <a:latin typeface="Arial"/>
                <a:ea typeface="Arial"/>
                <a:cs typeface="Arial"/>
              </a:defRPr>
            </a:lvl6pPr>
            <a:lvl7pPr algn="ctr">
              <a:defRPr sz="1725">
                <a:solidFill>
                  <a:srgbClr val="23374D"/>
                </a:solidFill>
                <a:latin typeface="Arial"/>
                <a:ea typeface="Arial"/>
                <a:cs typeface="Arial"/>
              </a:defRPr>
            </a:lvl7pPr>
            <a:lvl8pPr algn="ctr">
              <a:defRPr sz="1725">
                <a:solidFill>
                  <a:srgbClr val="23374D"/>
                </a:solidFill>
                <a:latin typeface="Arial"/>
                <a:ea typeface="Arial"/>
                <a:cs typeface="Arial"/>
              </a:defRPr>
            </a:lvl8pPr>
            <a:lvl9pPr algn="ctr">
              <a:defRPr sz="1725">
                <a:solidFill>
                  <a:srgbClr val="23374D"/>
                </a:solidFill>
                <a:latin typeface="Arial"/>
                <a:ea typeface="Arial"/>
                <a:cs typeface="Arial"/>
              </a:defRPr>
            </a:lvl9pPr>
          </a:lstStyle>
          <a:p xmlns:a="http://schemas.openxmlformats.org/drawingml/2006/main">
            <a:pPr algn="ctr">
              <a:defRPr sz="1725">
                <a:solidFill>
                  <a:srgbClr val="23374D"/>
                </a:solidFill>
                <a:latin typeface="Arial"/>
                <a:ea typeface="Arial"/>
                <a:cs typeface="Arial"/>
              </a:defRPr>
            </a:pPr>
            <a:r>
              <a:rPr sz="1725">
                <a:solidFill>
                  <a:srgbClr val="23374D"/>
                </a:solidFill>
                <a:latin typeface="Arial"/>
                <a:ea typeface="Arial"/>
                <a:cs typeface="Arial"/>
              </a:rPr>
              <a:t>Mean of purchased</a:t>
            </a:r>
          </a:p>
          <a:p xmlns:a="http://schemas.openxmlformats.org/drawingml/2006/main">
            <a:pPr algn="ctr">
              <a:defRPr sz="1725">
                <a:solidFill>
                  <a:srgbClr val="23374D"/>
                </a:solidFill>
                <a:latin typeface="Arial"/>
                <a:ea typeface="Arial"/>
                <a:cs typeface="Arial"/>
              </a:defRPr>
            </a:pPr>
            <a:r>
              <a:rPr sz="1725">
                <a:solidFill>
                  <a:srgbClr val="23374D"/>
                </a:solidFill>
                <a:latin typeface="Arial"/>
                <a:ea typeface="Arial"/>
                <a:cs typeface="Arial"/>
              </a:rPr>
              <a:t>product vectors</a:t>
            </a:r>
          </a:p>
        </p:txBody>
      </p:sp>
      <p:sp>
        <p:nvSpPr>
          <p:cNvPr id="5" name="">
            <a:extLst xmlns:a="http://schemas.openxmlformats.org/drawingml/2006/main">
              <a:ext uri="{FF2B5EF4-FFF2-40B4-BE49-F238E27FC236}">
                <a16:creationId xmlns:a16="http://schemas.microsoft.com/office/drawing/2014/main" id="{D4C3C422-6D45-4790-9E47-6424D2359F2C}"/>
              </a:ext>
            </a:extLst>
          </p:cNvPr>
          <p:cNvSpPr>
            <a:spLocks xmlns:a="http://schemas.openxmlformats.org/drawingml/2006/main" noGrp="1"/>
          </p:cNvSpPr>
          <p:nvPr/>
        </p:nvSpPr>
        <p:spPr>
          <a:xfrm xmlns:a="http://schemas.openxmlformats.org/drawingml/2006/main">
            <a:off x="8429625" y="1981200"/>
            <a:ext cx="2857500" cy="1066800"/>
          </a:xfrm>
          <a:prstGeom xmlns:a="http://schemas.openxmlformats.org/drawingml/2006/main" prst="rect">
            <a:avLst/>
          </a:prstGeom>
          <a:solidFill xmlns:a="http://schemas.openxmlformats.org/drawingml/2006/main">
            <a:srgbClr val="E7F1F6"/>
          </a:solidFill>
          <a:ln xmlns:a="http://schemas.openxmlformats.org/drawingml/2006/main" w="9525">
            <a:solidFill>
              <a:srgbClr val="A7BDCC"/>
            </a:solidFill>
          </a:ln>
        </p:spPr>
        <p:txBody>
          <a:bodyPr xmlns:a="http://schemas.openxmlformats.org/drawingml/2006/main" anchor="ctr"/>
          <a:lstStyle xmlns:a="http://schemas.openxmlformats.org/drawingml/2006/main">
            <a:defPPr algn="ctr">
              <a:defRPr sz="1725">
                <a:solidFill>
                  <a:srgbClr val="23374D"/>
                </a:solidFill>
                <a:latin typeface="Arial"/>
                <a:ea typeface="Arial"/>
                <a:cs typeface="Arial"/>
              </a:defRPr>
            </a:defPPr>
            <a:lvl1pPr algn="ctr">
              <a:defRPr sz="1725">
                <a:solidFill>
                  <a:srgbClr val="23374D"/>
                </a:solidFill>
                <a:latin typeface="Arial"/>
                <a:ea typeface="Arial"/>
                <a:cs typeface="Arial"/>
              </a:defRPr>
            </a:lvl1pPr>
            <a:lvl2pPr algn="ctr">
              <a:defRPr sz="1725">
                <a:solidFill>
                  <a:srgbClr val="23374D"/>
                </a:solidFill>
                <a:latin typeface="Arial"/>
                <a:ea typeface="Arial"/>
                <a:cs typeface="Arial"/>
              </a:defRPr>
            </a:lvl2pPr>
            <a:lvl3pPr algn="ctr">
              <a:defRPr sz="1725">
                <a:solidFill>
                  <a:srgbClr val="23374D"/>
                </a:solidFill>
                <a:latin typeface="Arial"/>
                <a:ea typeface="Arial"/>
                <a:cs typeface="Arial"/>
              </a:defRPr>
            </a:lvl3pPr>
            <a:lvl4pPr algn="ctr">
              <a:defRPr sz="1725">
                <a:solidFill>
                  <a:srgbClr val="23374D"/>
                </a:solidFill>
                <a:latin typeface="Arial"/>
                <a:ea typeface="Arial"/>
                <a:cs typeface="Arial"/>
              </a:defRPr>
            </a:lvl4pPr>
            <a:lvl5pPr algn="ctr">
              <a:defRPr sz="1725">
                <a:solidFill>
                  <a:srgbClr val="23374D"/>
                </a:solidFill>
                <a:latin typeface="Arial"/>
                <a:ea typeface="Arial"/>
                <a:cs typeface="Arial"/>
              </a:defRPr>
            </a:lvl5pPr>
            <a:lvl6pPr algn="ctr">
              <a:defRPr sz="1725">
                <a:solidFill>
                  <a:srgbClr val="23374D"/>
                </a:solidFill>
                <a:latin typeface="Arial"/>
                <a:ea typeface="Arial"/>
                <a:cs typeface="Arial"/>
              </a:defRPr>
            </a:lvl6pPr>
            <a:lvl7pPr algn="ctr">
              <a:defRPr sz="1725">
                <a:solidFill>
                  <a:srgbClr val="23374D"/>
                </a:solidFill>
                <a:latin typeface="Arial"/>
                <a:ea typeface="Arial"/>
                <a:cs typeface="Arial"/>
              </a:defRPr>
            </a:lvl7pPr>
            <a:lvl8pPr algn="ctr">
              <a:defRPr sz="1725">
                <a:solidFill>
                  <a:srgbClr val="23374D"/>
                </a:solidFill>
                <a:latin typeface="Arial"/>
                <a:ea typeface="Arial"/>
                <a:cs typeface="Arial"/>
              </a:defRPr>
            </a:lvl8pPr>
            <a:lvl9pPr algn="ctr">
              <a:defRPr sz="1725">
                <a:solidFill>
                  <a:srgbClr val="23374D"/>
                </a:solidFill>
                <a:latin typeface="Arial"/>
                <a:ea typeface="Arial"/>
                <a:cs typeface="Arial"/>
              </a:defRPr>
            </a:lvl9pPr>
          </a:lstStyle>
          <a:p xmlns:a="http://schemas.openxmlformats.org/drawingml/2006/main">
            <a:pPr algn="ctr">
              <a:defRPr sz="1725">
                <a:solidFill>
                  <a:srgbClr val="23374D"/>
                </a:solidFill>
                <a:latin typeface="Arial"/>
                <a:ea typeface="Arial"/>
                <a:cs typeface="Arial"/>
              </a:defRPr>
            </a:pPr>
            <a:r>
              <a:rPr sz="1725">
                <a:solidFill>
                  <a:srgbClr val="23374D"/>
                </a:solidFill>
                <a:latin typeface="Arial"/>
                <a:ea typeface="Arial"/>
                <a:cs typeface="Arial"/>
              </a:rPr>
              <a:t>Customer embedding</a:t>
            </a:r>
          </a:p>
          <a:p xmlns:a="http://schemas.openxmlformats.org/drawingml/2006/main">
            <a:pPr algn="ctr">
              <a:defRPr sz="1725">
                <a:solidFill>
                  <a:srgbClr val="23374D"/>
                </a:solidFill>
                <a:latin typeface="Arial"/>
                <a:ea typeface="Arial"/>
                <a:cs typeface="Arial"/>
              </a:defRPr>
            </a:pPr>
            <a:r>
              <a:rPr sz="1725">
                <a:solidFill>
                  <a:srgbClr val="23374D"/>
                </a:solidFill>
                <a:latin typeface="Arial"/>
                <a:ea typeface="Arial"/>
                <a:cs typeface="Arial"/>
              </a:rPr>
              <a:t>58 dimensions</a:t>
            </a:r>
          </a:p>
        </p:txBody>
      </p:sp>
      <p:sp>
        <p:nvSpPr>
          <p:cNvPr id="8" name="">
            <a:extLst xmlns:a="http://schemas.openxmlformats.org/drawingml/2006/main">
              <a:ext uri="{FF2B5EF4-FFF2-40B4-BE49-F238E27FC236}">
                <a16:creationId xmlns:a16="http://schemas.microsoft.com/office/drawing/2014/main" id="{85977D53-E8E6-4878-869F-0E17BEA04E06}"/>
              </a:ext>
            </a:extLst>
          </p:cNvPr>
          <p:cNvSpPr>
            <a:spLocks xmlns:a="http://schemas.openxmlformats.org/drawingml/2006/main" noGrp="1"/>
          </p:cNvSpPr>
          <p:nvPr/>
        </p:nvSpPr>
        <p:spPr>
          <a:xfrm xmlns:a="http://schemas.openxmlformats.org/drawingml/2006/main">
            <a:off x="809625" y="3667125"/>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173B5E"/>
                </a:solidFill>
                <a:latin typeface="Arial"/>
                <a:ea typeface="Arial"/>
                <a:cs typeface="Arial"/>
              </a:defRPr>
            </a:defPPr>
            <a:lvl1pPr>
              <a:defRPr sz="2250" b="1">
                <a:solidFill>
                  <a:srgbClr val="173B5E"/>
                </a:solidFill>
                <a:latin typeface="Arial"/>
                <a:ea typeface="Arial"/>
                <a:cs typeface="Arial"/>
              </a:defRPr>
            </a:lvl1pPr>
            <a:lvl2pPr>
              <a:defRPr sz="2250" b="1">
                <a:solidFill>
                  <a:srgbClr val="173B5E"/>
                </a:solidFill>
                <a:latin typeface="Arial"/>
                <a:ea typeface="Arial"/>
                <a:cs typeface="Arial"/>
              </a:defRPr>
            </a:lvl2pPr>
            <a:lvl3pPr>
              <a:defRPr sz="2250" b="1">
                <a:solidFill>
                  <a:srgbClr val="173B5E"/>
                </a:solidFill>
                <a:latin typeface="Arial"/>
                <a:ea typeface="Arial"/>
                <a:cs typeface="Arial"/>
              </a:defRPr>
            </a:lvl3pPr>
            <a:lvl4pPr>
              <a:defRPr sz="2250" b="1">
                <a:solidFill>
                  <a:srgbClr val="173B5E"/>
                </a:solidFill>
                <a:latin typeface="Arial"/>
                <a:ea typeface="Arial"/>
                <a:cs typeface="Arial"/>
              </a:defRPr>
            </a:lvl4pPr>
            <a:lvl5pPr>
              <a:defRPr sz="2250" b="1">
                <a:solidFill>
                  <a:srgbClr val="173B5E"/>
                </a:solidFill>
                <a:latin typeface="Arial"/>
                <a:ea typeface="Arial"/>
                <a:cs typeface="Arial"/>
              </a:defRPr>
            </a:lvl5pPr>
            <a:lvl6pPr>
              <a:defRPr sz="2250" b="1">
                <a:solidFill>
                  <a:srgbClr val="173B5E"/>
                </a:solidFill>
                <a:latin typeface="Arial"/>
                <a:ea typeface="Arial"/>
                <a:cs typeface="Arial"/>
              </a:defRPr>
            </a:lvl6pPr>
            <a:lvl7pPr>
              <a:defRPr sz="2250" b="1">
                <a:solidFill>
                  <a:srgbClr val="173B5E"/>
                </a:solidFill>
                <a:latin typeface="Arial"/>
                <a:ea typeface="Arial"/>
                <a:cs typeface="Arial"/>
              </a:defRPr>
            </a:lvl7pPr>
            <a:lvl8pPr>
              <a:defRPr sz="2250" b="1">
                <a:solidFill>
                  <a:srgbClr val="173B5E"/>
                </a:solidFill>
                <a:latin typeface="Arial"/>
                <a:ea typeface="Arial"/>
                <a:cs typeface="Arial"/>
              </a:defRPr>
            </a:lvl8pPr>
            <a:lvl9pPr>
              <a:defRPr sz="2250" b="1">
                <a:solidFill>
                  <a:srgbClr val="173B5E"/>
                </a:solidFill>
                <a:latin typeface="Arial"/>
                <a:ea typeface="Arial"/>
                <a:cs typeface="Arial"/>
              </a:defRPr>
            </a:lvl9pPr>
          </a:lstStyle>
          <a:p xmlns:a="http://schemas.openxmlformats.org/drawingml/2006/main">
            <a:pPr>
              <a:defRPr sz="2250" b="1">
                <a:solidFill>
                  <a:srgbClr val="173B5E"/>
                </a:solidFill>
                <a:latin typeface="Arial"/>
                <a:ea typeface="Arial"/>
                <a:cs typeface="Arial"/>
              </a:defRPr>
            </a:pPr>
            <a:r>
              <a:rPr sz="2250" b="1">
                <a:solidFill>
                  <a:srgbClr val="173B5E"/>
                </a:solidFill>
                <a:latin typeface="Arial"/>
                <a:ea typeface="Arial"/>
                <a:cs typeface="Arial"/>
              </a:rPr>
              <a:t>h_customer¹ = mean { h_product⁰ : product purchased by customer }</a:t>
            </a:r>
          </a:p>
        </p:txBody>
      </p:sp>
      <p:sp>
        <p:nvSpPr>
          <p:cNvPr id="9" name="">
            <a:extLst xmlns:a="http://schemas.openxmlformats.org/drawingml/2006/main">
              <a:ext uri="{FF2B5EF4-FFF2-40B4-BE49-F238E27FC236}">
                <a16:creationId xmlns:a16="http://schemas.microsoft.com/office/drawing/2014/main" id="{B910C2F6-E497-4639-A731-C89AFB2B2E4F}"/>
              </a:ext>
            </a:extLst>
          </p:cNvPr>
          <p:cNvSpPr>
            <a:spLocks xmlns:a="http://schemas.openxmlformats.org/drawingml/2006/main" noGrp="1"/>
          </p:cNvSpPr>
          <p:nvPr/>
        </p:nvSpPr>
        <p:spPr>
          <a:xfrm xmlns:a="http://schemas.openxmlformats.org/drawingml/2006/main">
            <a:off x="809625" y="46196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23374D"/>
                </a:solidFill>
                <a:latin typeface="Arial"/>
                <a:ea typeface="Arial"/>
                <a:cs typeface="Arial"/>
              </a:defRPr>
            </a:defPPr>
            <a:lvl1pPr>
              <a:defRPr sz="1950" b="0">
                <a:solidFill>
                  <a:srgbClr val="23374D"/>
                </a:solidFill>
                <a:latin typeface="Arial"/>
                <a:ea typeface="Arial"/>
                <a:cs typeface="Arial"/>
              </a:defRPr>
            </a:lvl1pPr>
            <a:lvl2pPr>
              <a:defRPr sz="1950" b="0">
                <a:solidFill>
                  <a:srgbClr val="23374D"/>
                </a:solidFill>
                <a:latin typeface="Arial"/>
                <a:ea typeface="Arial"/>
                <a:cs typeface="Arial"/>
              </a:defRPr>
            </a:lvl2pPr>
            <a:lvl3pPr>
              <a:defRPr sz="1950" b="0">
                <a:solidFill>
                  <a:srgbClr val="23374D"/>
                </a:solidFill>
                <a:latin typeface="Arial"/>
                <a:ea typeface="Arial"/>
                <a:cs typeface="Arial"/>
              </a:defRPr>
            </a:lvl3pPr>
            <a:lvl4pPr>
              <a:defRPr sz="1950" b="0">
                <a:solidFill>
                  <a:srgbClr val="23374D"/>
                </a:solidFill>
                <a:latin typeface="Arial"/>
                <a:ea typeface="Arial"/>
                <a:cs typeface="Arial"/>
              </a:defRPr>
            </a:lvl4pPr>
            <a:lvl5pPr>
              <a:defRPr sz="1950" b="0">
                <a:solidFill>
                  <a:srgbClr val="23374D"/>
                </a:solidFill>
                <a:latin typeface="Arial"/>
                <a:ea typeface="Arial"/>
                <a:cs typeface="Arial"/>
              </a:defRPr>
            </a:lvl5pPr>
            <a:lvl6pPr>
              <a:defRPr sz="1950" b="0">
                <a:solidFill>
                  <a:srgbClr val="23374D"/>
                </a:solidFill>
                <a:latin typeface="Arial"/>
                <a:ea typeface="Arial"/>
                <a:cs typeface="Arial"/>
              </a:defRPr>
            </a:lvl6pPr>
            <a:lvl7pPr>
              <a:defRPr sz="1950" b="0">
                <a:solidFill>
                  <a:srgbClr val="23374D"/>
                </a:solidFill>
                <a:latin typeface="Arial"/>
                <a:ea typeface="Arial"/>
                <a:cs typeface="Arial"/>
              </a:defRPr>
            </a:lvl7pPr>
            <a:lvl8pPr>
              <a:defRPr sz="1950" b="0">
                <a:solidFill>
                  <a:srgbClr val="23374D"/>
                </a:solidFill>
                <a:latin typeface="Arial"/>
                <a:ea typeface="Arial"/>
                <a:cs typeface="Arial"/>
              </a:defRPr>
            </a:lvl8pPr>
            <a:lvl9pPr>
              <a:defRPr sz="1950" b="0">
                <a:solidFill>
                  <a:srgbClr val="23374D"/>
                </a:solidFill>
                <a:latin typeface="Arial"/>
                <a:ea typeface="Arial"/>
                <a:cs typeface="Arial"/>
              </a:defRPr>
            </a:lvl9pPr>
          </a:lstStyle>
          <a:p xmlns:a="http://schemas.openxmlformats.org/drawingml/2006/main">
            <a:pPr>
              <a:defRPr sz="1950" b="0">
                <a:solidFill>
                  <a:srgbClr val="23374D"/>
                </a:solidFill>
                <a:latin typeface="Arial"/>
                <a:ea typeface="Arial"/>
                <a:cs typeface="Arial"/>
              </a:defRPr>
            </a:pPr>
            <a:r>
              <a:rPr sz="1950" b="0">
                <a:solidFill>
                  <a:srgbClr val="23374D"/>
                </a:solidFill>
                <a:latin typeface="Arial"/>
                <a:ea typeface="Arial"/>
                <a:cs typeface="Arial"/>
              </a:rPr>
              <a:t>Fixed weights · one aggregation layer · no training</a:t>
            </a:r>
          </a:p>
        </p:txBody>
      </p:sp>
      <p:sp>
        <p:nvSpPr>
          <p:cNvPr id="10" name="">
            <a:extLst xmlns:a="http://schemas.openxmlformats.org/drawingml/2006/main">
              <a:ext uri="{FF2B5EF4-FFF2-40B4-BE49-F238E27FC236}">
                <a16:creationId xmlns:a16="http://schemas.microsoft.com/office/drawing/2014/main" id="{04CB02C7-DE10-495A-9958-A61500C972EA}"/>
              </a:ext>
            </a:extLst>
          </p:cNvPr>
          <p:cNvSpPr>
            <a:spLocks xmlns:a="http://schemas.openxmlformats.org/drawingml/2006/main" noGrp="1"/>
          </p:cNvSpPr>
          <p:nvPr/>
        </p:nvSpPr>
        <p:spPr>
          <a:xfrm xmlns:a="http://schemas.openxmlformats.org/drawingml/2006/main">
            <a:off x="809625" y="53340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3374D"/>
                </a:solidFill>
                <a:latin typeface="Arial"/>
                <a:ea typeface="Arial"/>
                <a:cs typeface="Arial"/>
              </a:defRPr>
            </a:defPPr>
            <a:lvl1pPr>
              <a:defRPr sz="1800" b="0">
                <a:solidFill>
                  <a:srgbClr val="23374D"/>
                </a:solidFill>
                <a:latin typeface="Arial"/>
                <a:ea typeface="Arial"/>
                <a:cs typeface="Arial"/>
              </a:defRPr>
            </a:lvl1pPr>
            <a:lvl2pPr>
              <a:defRPr sz="1800" b="0">
                <a:solidFill>
                  <a:srgbClr val="23374D"/>
                </a:solidFill>
                <a:latin typeface="Arial"/>
                <a:ea typeface="Arial"/>
                <a:cs typeface="Arial"/>
              </a:defRPr>
            </a:lvl2pPr>
            <a:lvl3pPr>
              <a:defRPr sz="1800" b="0">
                <a:solidFill>
                  <a:srgbClr val="23374D"/>
                </a:solidFill>
                <a:latin typeface="Arial"/>
                <a:ea typeface="Arial"/>
                <a:cs typeface="Arial"/>
              </a:defRPr>
            </a:lvl3pPr>
            <a:lvl4pPr>
              <a:defRPr sz="1800" b="0">
                <a:solidFill>
                  <a:srgbClr val="23374D"/>
                </a:solidFill>
                <a:latin typeface="Arial"/>
                <a:ea typeface="Arial"/>
                <a:cs typeface="Arial"/>
              </a:defRPr>
            </a:lvl4pPr>
            <a:lvl5pPr>
              <a:defRPr sz="1800" b="0">
                <a:solidFill>
                  <a:srgbClr val="23374D"/>
                </a:solidFill>
                <a:latin typeface="Arial"/>
                <a:ea typeface="Arial"/>
                <a:cs typeface="Arial"/>
              </a:defRPr>
            </a:lvl5pPr>
            <a:lvl6pPr>
              <a:defRPr sz="1800" b="0">
                <a:solidFill>
                  <a:srgbClr val="23374D"/>
                </a:solidFill>
                <a:latin typeface="Arial"/>
                <a:ea typeface="Arial"/>
                <a:cs typeface="Arial"/>
              </a:defRPr>
            </a:lvl6pPr>
            <a:lvl7pPr>
              <a:defRPr sz="1800" b="0">
                <a:solidFill>
                  <a:srgbClr val="23374D"/>
                </a:solidFill>
                <a:latin typeface="Arial"/>
                <a:ea typeface="Arial"/>
                <a:cs typeface="Arial"/>
              </a:defRPr>
            </a:lvl7pPr>
            <a:lvl8pPr>
              <a:defRPr sz="1800" b="0">
                <a:solidFill>
                  <a:srgbClr val="23374D"/>
                </a:solidFill>
                <a:latin typeface="Arial"/>
                <a:ea typeface="Arial"/>
                <a:cs typeface="Arial"/>
              </a:defRPr>
            </a:lvl8pPr>
            <a:lvl9pPr>
              <a:defRPr sz="1800" b="0">
                <a:solidFill>
                  <a:srgbClr val="23374D"/>
                </a:solidFill>
                <a:latin typeface="Arial"/>
                <a:ea typeface="Arial"/>
                <a:cs typeface="Arial"/>
              </a:defRPr>
            </a:lvl9pPr>
          </a:lstStyle>
          <a:p xmlns:a="http://schemas.openxmlformats.org/drawingml/2006/main">
            <a:pPr>
              <a:defRPr sz="1800" b="0">
                <a:solidFill>
                  <a:srgbClr val="23374D"/>
                </a:solidFill>
                <a:latin typeface="Arial"/>
                <a:ea typeface="Arial"/>
                <a:cs typeface="Arial"/>
              </a:defRPr>
            </a:pPr>
            <a:r>
              <a:rPr sz="1800" b="0">
                <a:solidFill>
                  <a:srgbClr val="23374D"/>
                </a:solidFill>
                <a:latin typeface="Arial"/>
                <a:ea typeface="Arial"/>
                <a:cs typeface="Arial"/>
              </a:rPr>
              <a:t>The experiment uses the same customer–product paths and source rows already stored in Neo4j.</a:t>
            </a:r>
          </a:p>
        </p:txBody>
      </p:sp>
    </p:spTree>
    <p:extLst>
      <p:ext uri="{BB962C8B-B14F-4D97-AF65-F5344CB8AC3E}">
        <p14:creationId xmlns:p14="http://schemas.microsoft.com/office/powerpoint/2010/main" val="123180514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F7C114E-1B18-4F07-96F5-4E4705B8C328}"/>
              </a:ext>
            </a:extLst>
          </p:cNvPr>
          <p:cNvSpPr>
            <a:spLocks xmlns:a="http://schemas.openxmlformats.org/drawingml/2006/main" noGrp="1"/>
          </p:cNvSpPr>
          <p:nvPr/>
        </p:nvSpPr>
        <p:spPr>
          <a:xfrm xmlns:a="http://schemas.openxmlformats.org/drawingml/2006/main">
            <a:off x="523875" y="32385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173B5E"/>
                </a:solidFill>
                <a:latin typeface="Arial"/>
                <a:ea typeface="Arial"/>
                <a:cs typeface="Arial"/>
              </a:defRPr>
            </a:defPPr>
            <a:lvl1pPr>
              <a:defRPr sz="2700" b="1">
                <a:solidFill>
                  <a:srgbClr val="173B5E"/>
                </a:solidFill>
                <a:latin typeface="Arial"/>
                <a:ea typeface="Arial"/>
                <a:cs typeface="Arial"/>
              </a:defRPr>
            </a:lvl1pPr>
            <a:lvl2pPr>
              <a:defRPr sz="2700" b="1">
                <a:solidFill>
                  <a:srgbClr val="173B5E"/>
                </a:solidFill>
                <a:latin typeface="Arial"/>
                <a:ea typeface="Arial"/>
                <a:cs typeface="Arial"/>
              </a:defRPr>
            </a:lvl2pPr>
            <a:lvl3pPr>
              <a:defRPr sz="2700" b="1">
                <a:solidFill>
                  <a:srgbClr val="173B5E"/>
                </a:solidFill>
                <a:latin typeface="Arial"/>
                <a:ea typeface="Arial"/>
                <a:cs typeface="Arial"/>
              </a:defRPr>
            </a:lvl3pPr>
            <a:lvl4pPr>
              <a:defRPr sz="2700" b="1">
                <a:solidFill>
                  <a:srgbClr val="173B5E"/>
                </a:solidFill>
                <a:latin typeface="Arial"/>
                <a:ea typeface="Arial"/>
                <a:cs typeface="Arial"/>
              </a:defRPr>
            </a:lvl4pPr>
            <a:lvl5pPr>
              <a:defRPr sz="2700" b="1">
                <a:solidFill>
                  <a:srgbClr val="173B5E"/>
                </a:solidFill>
                <a:latin typeface="Arial"/>
                <a:ea typeface="Arial"/>
                <a:cs typeface="Arial"/>
              </a:defRPr>
            </a:lvl5pPr>
            <a:lvl6pPr>
              <a:defRPr sz="2700" b="1">
                <a:solidFill>
                  <a:srgbClr val="173B5E"/>
                </a:solidFill>
                <a:latin typeface="Arial"/>
                <a:ea typeface="Arial"/>
                <a:cs typeface="Arial"/>
              </a:defRPr>
            </a:lvl6pPr>
            <a:lvl7pPr>
              <a:defRPr sz="2700" b="1">
                <a:solidFill>
                  <a:srgbClr val="173B5E"/>
                </a:solidFill>
                <a:latin typeface="Arial"/>
                <a:ea typeface="Arial"/>
                <a:cs typeface="Arial"/>
              </a:defRPr>
            </a:lvl7pPr>
            <a:lvl8pPr>
              <a:defRPr sz="2700" b="1">
                <a:solidFill>
                  <a:srgbClr val="173B5E"/>
                </a:solidFill>
                <a:latin typeface="Arial"/>
                <a:ea typeface="Arial"/>
                <a:cs typeface="Arial"/>
              </a:defRPr>
            </a:lvl8pPr>
            <a:lvl9pPr>
              <a:defRPr sz="2700" b="1">
                <a:solidFill>
                  <a:srgbClr val="173B5E"/>
                </a:solidFill>
                <a:latin typeface="Arial"/>
                <a:ea typeface="Arial"/>
                <a:cs typeface="Arial"/>
              </a:defRPr>
            </a:lvl9pPr>
          </a:lstStyle>
          <a:p xmlns:a="http://schemas.openxmlformats.org/drawingml/2006/main">
            <a:pPr>
              <a:defRPr sz="2700" b="1">
                <a:solidFill>
                  <a:srgbClr val="173B5E"/>
                </a:solidFill>
                <a:latin typeface="Arial"/>
                <a:ea typeface="Arial"/>
                <a:cs typeface="Arial"/>
              </a:defRPr>
            </a:pPr>
            <a:r>
              <a:rPr sz="2700" b="1">
                <a:solidFill>
                  <a:srgbClr val="173B5E"/>
                </a:solidFill>
                <a:latin typeface="Arial"/>
                <a:ea typeface="Arial"/>
                <a:cs typeface="Arial"/>
              </a:rPr>
              <a:t>Message passing on a real purchase</a:t>
            </a:r>
          </a:p>
        </p:txBody>
      </p:sp>
      <p:sp>
        <p:nvSpPr>
          <p:cNvPr id="2" name="">
            <a:extLst xmlns:a="http://schemas.openxmlformats.org/drawingml/2006/main">
              <a:ext uri="{FF2B5EF4-FFF2-40B4-BE49-F238E27FC236}">
                <a16:creationId xmlns:a16="http://schemas.microsoft.com/office/drawing/2014/main" id="{7AA22623-5C2B-49E4-BE2B-31338C0E64BD}"/>
              </a:ext>
            </a:extLst>
          </p:cNvPr>
          <p:cNvSpPr>
            <a:spLocks xmlns:a="http://schemas.openxmlformats.org/drawingml/2006/main" noGrp="1"/>
          </p:cNvSpPr>
          <p:nvPr/>
        </p:nvSpPr>
        <p:spPr>
          <a:xfrm xmlns:a="http://schemas.openxmlformats.org/drawingml/2006/main">
            <a:off x="523875" y="6505575"/>
            <a:ext cx="11144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566E82"/>
                </a:solidFill>
                <a:latin typeface="Arial"/>
                <a:ea typeface="Arial"/>
                <a:cs typeface="Arial"/>
              </a:defRPr>
            </a:defPPr>
            <a:lvl1pPr>
              <a:defRPr sz="1050" b="0">
                <a:solidFill>
                  <a:srgbClr val="566E82"/>
                </a:solidFill>
                <a:latin typeface="Arial"/>
                <a:ea typeface="Arial"/>
                <a:cs typeface="Arial"/>
              </a:defRPr>
            </a:lvl1pPr>
            <a:lvl2pPr>
              <a:defRPr sz="1050" b="0">
                <a:solidFill>
                  <a:srgbClr val="566E82"/>
                </a:solidFill>
                <a:latin typeface="Arial"/>
                <a:ea typeface="Arial"/>
                <a:cs typeface="Arial"/>
              </a:defRPr>
            </a:lvl2pPr>
            <a:lvl3pPr>
              <a:defRPr sz="1050" b="0">
                <a:solidFill>
                  <a:srgbClr val="566E82"/>
                </a:solidFill>
                <a:latin typeface="Arial"/>
                <a:ea typeface="Arial"/>
                <a:cs typeface="Arial"/>
              </a:defRPr>
            </a:lvl3pPr>
            <a:lvl4pPr>
              <a:defRPr sz="1050" b="0">
                <a:solidFill>
                  <a:srgbClr val="566E82"/>
                </a:solidFill>
                <a:latin typeface="Arial"/>
                <a:ea typeface="Arial"/>
                <a:cs typeface="Arial"/>
              </a:defRPr>
            </a:lvl4pPr>
            <a:lvl5pPr>
              <a:defRPr sz="1050" b="0">
                <a:solidFill>
                  <a:srgbClr val="566E82"/>
                </a:solidFill>
                <a:latin typeface="Arial"/>
                <a:ea typeface="Arial"/>
                <a:cs typeface="Arial"/>
              </a:defRPr>
            </a:lvl5pPr>
            <a:lvl6pPr>
              <a:defRPr sz="1050" b="0">
                <a:solidFill>
                  <a:srgbClr val="566E82"/>
                </a:solidFill>
                <a:latin typeface="Arial"/>
                <a:ea typeface="Arial"/>
                <a:cs typeface="Arial"/>
              </a:defRPr>
            </a:lvl6pPr>
            <a:lvl7pPr>
              <a:defRPr sz="1050" b="0">
                <a:solidFill>
                  <a:srgbClr val="566E82"/>
                </a:solidFill>
                <a:latin typeface="Arial"/>
                <a:ea typeface="Arial"/>
                <a:cs typeface="Arial"/>
              </a:defRPr>
            </a:lvl7pPr>
            <a:lvl8pPr>
              <a:defRPr sz="1050" b="0">
                <a:solidFill>
                  <a:srgbClr val="566E82"/>
                </a:solidFill>
                <a:latin typeface="Arial"/>
                <a:ea typeface="Arial"/>
                <a:cs typeface="Arial"/>
              </a:defRPr>
            </a:lvl8pPr>
            <a:lvl9pPr>
              <a:defRPr sz="1050" b="0">
                <a:solidFill>
                  <a:srgbClr val="566E82"/>
                </a:solidFill>
                <a:latin typeface="Arial"/>
                <a:ea typeface="Arial"/>
                <a:cs typeface="Arial"/>
              </a:defRPr>
            </a:lvl9pPr>
          </a:lstStyle>
          <a:p xmlns:a="http://schemas.openxmlformats.org/drawingml/2006/main">
            <a:pPr>
              <a:defRPr sz="1050" b="0">
                <a:solidFill>
                  <a:srgbClr val="566E82"/>
                </a:solidFill>
                <a:latin typeface="Arial"/>
                <a:ea typeface="Arial"/>
                <a:cs typeface="Arial"/>
              </a:defRPr>
            </a:pPr>
            <a:r>
              <a:rPr sz="1050" b="0">
                <a:solidFill>
                  <a:srgbClr val="566E82"/>
                </a:solidFill>
                <a:latin typeface="Arial"/>
                <a:ea typeface="Arial"/>
                <a:cs typeface="Arial"/>
              </a:rPr>
              <a:t>Retail360  |  CS 5588 Challenge 3                                         4/10</a:t>
            </a:r>
          </a:p>
        </p:txBody>
      </p:sp>
      <p:sp>
        <p:nvSpPr>
          <p:cNvPr id="3" name="">
            <a:extLst xmlns:a="http://schemas.openxmlformats.org/drawingml/2006/main">
              <a:ext uri="{FF2B5EF4-FFF2-40B4-BE49-F238E27FC236}">
                <a16:creationId xmlns:a16="http://schemas.microsoft.com/office/drawing/2014/main" id="{0F7C769F-AD1F-430D-9AC0-C282EC44C9D4}"/>
              </a:ext>
            </a:extLst>
          </p:cNvPr>
          <p:cNvSpPr>
            <a:spLocks xmlns:a="http://schemas.openxmlformats.org/drawingml/2006/main" noGrp="1"/>
          </p:cNvSpPr>
          <p:nvPr/>
        </p:nvSpPr>
        <p:spPr>
          <a:xfrm xmlns:a="http://schemas.openxmlformats.org/drawingml/2006/main">
            <a:off x="714375" y="138112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173B5E"/>
                </a:solidFill>
                <a:latin typeface="Arial"/>
                <a:ea typeface="Arial"/>
                <a:cs typeface="Arial"/>
              </a:defRPr>
            </a:defPPr>
            <a:lvl1pPr>
              <a:defRPr sz="2250" b="1">
                <a:solidFill>
                  <a:srgbClr val="173B5E"/>
                </a:solidFill>
                <a:latin typeface="Arial"/>
                <a:ea typeface="Arial"/>
                <a:cs typeface="Arial"/>
              </a:defRPr>
            </a:lvl1pPr>
            <a:lvl2pPr>
              <a:defRPr sz="2250" b="1">
                <a:solidFill>
                  <a:srgbClr val="173B5E"/>
                </a:solidFill>
                <a:latin typeface="Arial"/>
                <a:ea typeface="Arial"/>
                <a:cs typeface="Arial"/>
              </a:defRPr>
            </a:lvl2pPr>
            <a:lvl3pPr>
              <a:defRPr sz="2250" b="1">
                <a:solidFill>
                  <a:srgbClr val="173B5E"/>
                </a:solidFill>
                <a:latin typeface="Arial"/>
                <a:ea typeface="Arial"/>
                <a:cs typeface="Arial"/>
              </a:defRPr>
            </a:lvl3pPr>
            <a:lvl4pPr>
              <a:defRPr sz="2250" b="1">
                <a:solidFill>
                  <a:srgbClr val="173B5E"/>
                </a:solidFill>
                <a:latin typeface="Arial"/>
                <a:ea typeface="Arial"/>
                <a:cs typeface="Arial"/>
              </a:defRPr>
            </a:lvl4pPr>
            <a:lvl5pPr>
              <a:defRPr sz="2250" b="1">
                <a:solidFill>
                  <a:srgbClr val="173B5E"/>
                </a:solidFill>
                <a:latin typeface="Arial"/>
                <a:ea typeface="Arial"/>
                <a:cs typeface="Arial"/>
              </a:defRPr>
            </a:lvl5pPr>
            <a:lvl6pPr>
              <a:defRPr sz="2250" b="1">
                <a:solidFill>
                  <a:srgbClr val="173B5E"/>
                </a:solidFill>
                <a:latin typeface="Arial"/>
                <a:ea typeface="Arial"/>
                <a:cs typeface="Arial"/>
              </a:defRPr>
            </a:lvl6pPr>
            <a:lvl7pPr>
              <a:defRPr sz="2250" b="1">
                <a:solidFill>
                  <a:srgbClr val="173B5E"/>
                </a:solidFill>
                <a:latin typeface="Arial"/>
                <a:ea typeface="Arial"/>
                <a:cs typeface="Arial"/>
              </a:defRPr>
            </a:lvl7pPr>
            <a:lvl8pPr>
              <a:defRPr sz="2250" b="1">
                <a:solidFill>
                  <a:srgbClr val="173B5E"/>
                </a:solidFill>
                <a:latin typeface="Arial"/>
                <a:ea typeface="Arial"/>
                <a:cs typeface="Arial"/>
              </a:defRPr>
            </a:lvl8pPr>
            <a:lvl9pPr>
              <a:defRPr sz="2250" b="1">
                <a:solidFill>
                  <a:srgbClr val="173B5E"/>
                </a:solidFill>
                <a:latin typeface="Arial"/>
                <a:ea typeface="Arial"/>
                <a:cs typeface="Arial"/>
              </a:defRPr>
            </a:lvl9pPr>
          </a:lstStyle>
          <a:p xmlns:a="http://schemas.openxmlformats.org/drawingml/2006/main">
            <a:pPr>
              <a:defRPr sz="2250" b="1">
                <a:solidFill>
                  <a:srgbClr val="173B5E"/>
                </a:solidFill>
                <a:latin typeface="Arial"/>
                <a:ea typeface="Arial"/>
                <a:cs typeface="Arial"/>
              </a:defRPr>
            </a:pPr>
            <a:r>
              <a:rPr sz="2250" b="1">
                <a:solidFill>
                  <a:srgbClr val="173B5E"/>
                </a:solidFill>
                <a:latin typeface="Arial"/>
                <a:ea typeface="Arial"/>
                <a:cs typeface="Arial"/>
              </a:rPr>
              <a:t>Product 21791 is the only shared item</a:t>
            </a:r>
          </a:p>
        </p:txBody>
      </p:sp>
      <p:sp>
        <p:nvSpPr>
          <p:cNvPr id="4" name="">
            <a:extLst xmlns:a="http://schemas.openxmlformats.org/drawingml/2006/main">
              <a:ext uri="{FF2B5EF4-FFF2-40B4-BE49-F238E27FC236}">
                <a16:creationId xmlns:a16="http://schemas.microsoft.com/office/drawing/2014/main" id="{AA7977BB-FCF0-440E-8FD8-6EB36AFE251C}"/>
              </a:ext>
            </a:extLst>
          </p:cNvPr>
          <p:cNvSpPr>
            <a:spLocks xmlns:a="http://schemas.openxmlformats.org/drawingml/2006/main" noGrp="1"/>
          </p:cNvSpPr>
          <p:nvPr/>
        </p:nvSpPr>
        <p:spPr>
          <a:xfrm xmlns:a="http://schemas.openxmlformats.org/drawingml/2006/main">
            <a:off x="714375" y="2333625"/>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173B5E"/>
                </a:solidFill>
                <a:latin typeface="Arial"/>
                <a:ea typeface="Arial"/>
                <a:cs typeface="Arial"/>
              </a:defRPr>
            </a:defPPr>
            <a:lvl1pPr>
              <a:defRPr sz="1950" b="1">
                <a:solidFill>
                  <a:srgbClr val="173B5E"/>
                </a:solidFill>
                <a:latin typeface="Arial"/>
                <a:ea typeface="Arial"/>
                <a:cs typeface="Arial"/>
              </a:defRPr>
            </a:lvl1pPr>
            <a:lvl2pPr>
              <a:defRPr sz="1950" b="1">
                <a:solidFill>
                  <a:srgbClr val="173B5E"/>
                </a:solidFill>
                <a:latin typeface="Arial"/>
                <a:ea typeface="Arial"/>
                <a:cs typeface="Arial"/>
              </a:defRPr>
            </a:lvl2pPr>
            <a:lvl3pPr>
              <a:defRPr sz="1950" b="1">
                <a:solidFill>
                  <a:srgbClr val="173B5E"/>
                </a:solidFill>
                <a:latin typeface="Arial"/>
                <a:ea typeface="Arial"/>
                <a:cs typeface="Arial"/>
              </a:defRPr>
            </a:lvl3pPr>
            <a:lvl4pPr>
              <a:defRPr sz="1950" b="1">
                <a:solidFill>
                  <a:srgbClr val="173B5E"/>
                </a:solidFill>
                <a:latin typeface="Arial"/>
                <a:ea typeface="Arial"/>
                <a:cs typeface="Arial"/>
              </a:defRPr>
            </a:lvl4pPr>
            <a:lvl5pPr>
              <a:defRPr sz="1950" b="1">
                <a:solidFill>
                  <a:srgbClr val="173B5E"/>
                </a:solidFill>
                <a:latin typeface="Arial"/>
                <a:ea typeface="Arial"/>
                <a:cs typeface="Arial"/>
              </a:defRPr>
            </a:lvl5pPr>
            <a:lvl6pPr>
              <a:defRPr sz="1950" b="1">
                <a:solidFill>
                  <a:srgbClr val="173B5E"/>
                </a:solidFill>
                <a:latin typeface="Arial"/>
                <a:ea typeface="Arial"/>
                <a:cs typeface="Arial"/>
              </a:defRPr>
            </a:lvl6pPr>
            <a:lvl7pPr>
              <a:defRPr sz="1950" b="1">
                <a:solidFill>
                  <a:srgbClr val="173B5E"/>
                </a:solidFill>
                <a:latin typeface="Arial"/>
                <a:ea typeface="Arial"/>
                <a:cs typeface="Arial"/>
              </a:defRPr>
            </a:lvl7pPr>
            <a:lvl8pPr>
              <a:defRPr sz="1950" b="1">
                <a:solidFill>
                  <a:srgbClr val="173B5E"/>
                </a:solidFill>
                <a:latin typeface="Arial"/>
                <a:ea typeface="Arial"/>
                <a:cs typeface="Arial"/>
              </a:defRPr>
            </a:lvl8pPr>
            <a:lvl9pPr>
              <a:defRPr sz="1950" b="1">
                <a:solidFill>
                  <a:srgbClr val="173B5E"/>
                </a:solidFill>
                <a:latin typeface="Arial"/>
                <a:ea typeface="Arial"/>
                <a:cs typeface="Arial"/>
              </a:defRPr>
            </a:lvl9pPr>
          </a:lstStyle>
          <a:p xmlns:a="http://schemas.openxmlformats.org/drawingml/2006/main">
            <a:pPr>
              <a:defRPr sz="1950" b="1">
                <a:solidFill>
                  <a:srgbClr val="173B5E"/>
                </a:solidFill>
                <a:latin typeface="Arial"/>
                <a:ea typeface="Arial"/>
                <a:cs typeface="Arial"/>
              </a:defRPr>
            </a:pPr>
            <a:r>
              <a:rPr sz="1950" b="1">
                <a:solidFill>
                  <a:srgbClr val="173B5E"/>
                </a:solidFill>
                <a:latin typeface="Arial"/>
                <a:ea typeface="Arial"/>
                <a:cs typeface="Arial"/>
              </a:rPr>
              <a:t>Customer 12347</a:t>
            </a:r>
          </a:p>
        </p:txBody>
      </p:sp>
      <p:sp>
        <p:nvSpPr>
          <p:cNvPr id="5" name="">
            <a:extLst xmlns:a="http://schemas.openxmlformats.org/drawingml/2006/main">
              <a:ext uri="{FF2B5EF4-FFF2-40B4-BE49-F238E27FC236}">
                <a16:creationId xmlns:a16="http://schemas.microsoft.com/office/drawing/2014/main" id="{F786CD03-9B99-485A-A128-A53AD93F224D}"/>
              </a:ext>
            </a:extLst>
          </p:cNvPr>
          <p:cNvSpPr>
            <a:spLocks xmlns:a="http://schemas.openxmlformats.org/drawingml/2006/main" noGrp="1"/>
          </p:cNvSpPr>
          <p:nvPr/>
        </p:nvSpPr>
        <p:spPr>
          <a:xfrm xmlns:a="http://schemas.openxmlformats.org/drawingml/2006/main">
            <a:off x="714375" y="2857500"/>
            <a:ext cx="4476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3374D"/>
                </a:solidFill>
                <a:latin typeface="Arial"/>
                <a:ea typeface="Arial"/>
                <a:cs typeface="Arial"/>
              </a:defRPr>
            </a:defPPr>
            <a:lvl1pPr>
              <a:defRPr sz="1875" b="0">
                <a:solidFill>
                  <a:srgbClr val="23374D"/>
                </a:solidFill>
                <a:latin typeface="Arial"/>
                <a:ea typeface="Arial"/>
                <a:cs typeface="Arial"/>
              </a:defRPr>
            </a:lvl1pPr>
            <a:lvl2pPr>
              <a:defRPr sz="1875" b="0">
                <a:solidFill>
                  <a:srgbClr val="23374D"/>
                </a:solidFill>
                <a:latin typeface="Arial"/>
                <a:ea typeface="Arial"/>
                <a:cs typeface="Arial"/>
              </a:defRPr>
            </a:lvl2pPr>
            <a:lvl3pPr>
              <a:defRPr sz="1875" b="0">
                <a:solidFill>
                  <a:srgbClr val="23374D"/>
                </a:solidFill>
                <a:latin typeface="Arial"/>
                <a:ea typeface="Arial"/>
                <a:cs typeface="Arial"/>
              </a:defRPr>
            </a:lvl3pPr>
            <a:lvl4pPr>
              <a:defRPr sz="1875" b="0">
                <a:solidFill>
                  <a:srgbClr val="23374D"/>
                </a:solidFill>
                <a:latin typeface="Arial"/>
                <a:ea typeface="Arial"/>
                <a:cs typeface="Arial"/>
              </a:defRPr>
            </a:lvl4pPr>
            <a:lvl5pPr>
              <a:defRPr sz="1875" b="0">
                <a:solidFill>
                  <a:srgbClr val="23374D"/>
                </a:solidFill>
                <a:latin typeface="Arial"/>
                <a:ea typeface="Arial"/>
                <a:cs typeface="Arial"/>
              </a:defRPr>
            </a:lvl5pPr>
            <a:lvl6pPr>
              <a:defRPr sz="1875" b="0">
                <a:solidFill>
                  <a:srgbClr val="23374D"/>
                </a:solidFill>
                <a:latin typeface="Arial"/>
                <a:ea typeface="Arial"/>
                <a:cs typeface="Arial"/>
              </a:defRPr>
            </a:lvl6pPr>
            <a:lvl7pPr>
              <a:defRPr sz="1875" b="0">
                <a:solidFill>
                  <a:srgbClr val="23374D"/>
                </a:solidFill>
                <a:latin typeface="Arial"/>
                <a:ea typeface="Arial"/>
                <a:cs typeface="Arial"/>
              </a:defRPr>
            </a:lvl7pPr>
            <a:lvl8pPr>
              <a:defRPr sz="1875" b="0">
                <a:solidFill>
                  <a:srgbClr val="23374D"/>
                </a:solidFill>
                <a:latin typeface="Arial"/>
                <a:ea typeface="Arial"/>
                <a:cs typeface="Arial"/>
              </a:defRPr>
            </a:lvl8pPr>
            <a:lvl9pPr>
              <a:defRPr sz="1875" b="0">
                <a:solidFill>
                  <a:srgbClr val="23374D"/>
                </a:solidFill>
                <a:latin typeface="Arial"/>
                <a:ea typeface="Arial"/>
                <a:cs typeface="Arial"/>
              </a:defRPr>
            </a:lvl9pPr>
          </a:lstStyle>
          <a:p xmlns:a="http://schemas.openxmlformats.org/drawingml/2006/main">
            <a:pPr>
              <a:defRPr sz="1875" b="0">
                <a:solidFill>
                  <a:srgbClr val="23374D"/>
                </a:solidFill>
                <a:latin typeface="Arial"/>
                <a:ea typeface="Arial"/>
                <a:cs typeface="Arial"/>
              </a:defRPr>
            </a:pPr>
            <a:r>
              <a:rPr sz="1875" b="0">
                <a:solidFill>
                  <a:srgbClr val="23374D"/>
                </a:solidFill>
                <a:latin typeface="Arial"/>
                <a:ea typeface="Arial"/>
                <a:cs typeface="Arial"/>
              </a:rPr>
              <a:t>50 distinct products → product 21791 contributes 1/50 = 0.020 to its matching coordinate.</a:t>
            </a:r>
          </a:p>
        </p:txBody>
      </p:sp>
      <p:sp>
        <p:nvSpPr>
          <p:cNvPr id="6" name="">
            <a:extLst xmlns:a="http://schemas.openxmlformats.org/drawingml/2006/main">
              <a:ext uri="{FF2B5EF4-FFF2-40B4-BE49-F238E27FC236}">
                <a16:creationId xmlns:a16="http://schemas.microsoft.com/office/drawing/2014/main" id="{FE916915-ACED-4C26-96DF-22E8972CEEB0}"/>
              </a:ext>
            </a:extLst>
          </p:cNvPr>
          <p:cNvSpPr>
            <a:spLocks xmlns:a="http://schemas.openxmlformats.org/drawingml/2006/main" noGrp="1"/>
          </p:cNvSpPr>
          <p:nvPr/>
        </p:nvSpPr>
        <p:spPr>
          <a:xfrm xmlns:a="http://schemas.openxmlformats.org/drawingml/2006/main">
            <a:off x="6429375" y="2333625"/>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173B5E"/>
                </a:solidFill>
                <a:latin typeface="Arial"/>
                <a:ea typeface="Arial"/>
                <a:cs typeface="Arial"/>
              </a:defRPr>
            </a:defPPr>
            <a:lvl1pPr>
              <a:defRPr sz="1950" b="1">
                <a:solidFill>
                  <a:srgbClr val="173B5E"/>
                </a:solidFill>
                <a:latin typeface="Arial"/>
                <a:ea typeface="Arial"/>
                <a:cs typeface="Arial"/>
              </a:defRPr>
            </a:lvl1pPr>
            <a:lvl2pPr>
              <a:defRPr sz="1950" b="1">
                <a:solidFill>
                  <a:srgbClr val="173B5E"/>
                </a:solidFill>
                <a:latin typeface="Arial"/>
                <a:ea typeface="Arial"/>
                <a:cs typeface="Arial"/>
              </a:defRPr>
            </a:lvl2pPr>
            <a:lvl3pPr>
              <a:defRPr sz="1950" b="1">
                <a:solidFill>
                  <a:srgbClr val="173B5E"/>
                </a:solidFill>
                <a:latin typeface="Arial"/>
                <a:ea typeface="Arial"/>
                <a:cs typeface="Arial"/>
              </a:defRPr>
            </a:lvl3pPr>
            <a:lvl4pPr>
              <a:defRPr sz="1950" b="1">
                <a:solidFill>
                  <a:srgbClr val="173B5E"/>
                </a:solidFill>
                <a:latin typeface="Arial"/>
                <a:ea typeface="Arial"/>
                <a:cs typeface="Arial"/>
              </a:defRPr>
            </a:lvl4pPr>
            <a:lvl5pPr>
              <a:defRPr sz="1950" b="1">
                <a:solidFill>
                  <a:srgbClr val="173B5E"/>
                </a:solidFill>
                <a:latin typeface="Arial"/>
                <a:ea typeface="Arial"/>
                <a:cs typeface="Arial"/>
              </a:defRPr>
            </a:lvl5pPr>
            <a:lvl6pPr>
              <a:defRPr sz="1950" b="1">
                <a:solidFill>
                  <a:srgbClr val="173B5E"/>
                </a:solidFill>
                <a:latin typeface="Arial"/>
                <a:ea typeface="Arial"/>
                <a:cs typeface="Arial"/>
              </a:defRPr>
            </a:lvl6pPr>
            <a:lvl7pPr>
              <a:defRPr sz="1950" b="1">
                <a:solidFill>
                  <a:srgbClr val="173B5E"/>
                </a:solidFill>
                <a:latin typeface="Arial"/>
                <a:ea typeface="Arial"/>
                <a:cs typeface="Arial"/>
              </a:defRPr>
            </a:lvl7pPr>
            <a:lvl8pPr>
              <a:defRPr sz="1950" b="1">
                <a:solidFill>
                  <a:srgbClr val="173B5E"/>
                </a:solidFill>
                <a:latin typeface="Arial"/>
                <a:ea typeface="Arial"/>
                <a:cs typeface="Arial"/>
              </a:defRPr>
            </a:lvl8pPr>
            <a:lvl9pPr>
              <a:defRPr sz="1950" b="1">
                <a:solidFill>
                  <a:srgbClr val="173B5E"/>
                </a:solidFill>
                <a:latin typeface="Arial"/>
                <a:ea typeface="Arial"/>
                <a:cs typeface="Arial"/>
              </a:defRPr>
            </a:lvl9pPr>
          </a:lstStyle>
          <a:p xmlns:a="http://schemas.openxmlformats.org/drawingml/2006/main">
            <a:pPr>
              <a:defRPr sz="1950" b="1">
                <a:solidFill>
                  <a:srgbClr val="173B5E"/>
                </a:solidFill>
                <a:latin typeface="Arial"/>
                <a:ea typeface="Arial"/>
                <a:cs typeface="Arial"/>
              </a:defRPr>
            </a:pPr>
            <a:r>
              <a:rPr sz="1950" b="1">
                <a:solidFill>
                  <a:srgbClr val="173B5E"/>
                </a:solidFill>
                <a:latin typeface="Arial"/>
                <a:ea typeface="Arial"/>
                <a:cs typeface="Arial"/>
              </a:rPr>
              <a:t>Customer 13085</a:t>
            </a:r>
          </a:p>
        </p:txBody>
      </p:sp>
      <p:sp>
        <p:nvSpPr>
          <p:cNvPr id="7" name="">
            <a:extLst xmlns:a="http://schemas.openxmlformats.org/drawingml/2006/main">
              <a:ext uri="{FF2B5EF4-FFF2-40B4-BE49-F238E27FC236}">
                <a16:creationId xmlns:a16="http://schemas.microsoft.com/office/drawing/2014/main" id="{7205C2E4-8A16-4321-A509-76E5548B8601}"/>
              </a:ext>
            </a:extLst>
          </p:cNvPr>
          <p:cNvSpPr>
            <a:spLocks xmlns:a="http://schemas.openxmlformats.org/drawingml/2006/main" noGrp="1"/>
          </p:cNvSpPr>
          <p:nvPr/>
        </p:nvSpPr>
        <p:spPr>
          <a:xfrm xmlns:a="http://schemas.openxmlformats.org/drawingml/2006/main">
            <a:off x="6429375" y="2857500"/>
            <a:ext cx="4476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3374D"/>
                </a:solidFill>
                <a:latin typeface="Arial"/>
                <a:ea typeface="Arial"/>
                <a:cs typeface="Arial"/>
              </a:defRPr>
            </a:defPPr>
            <a:lvl1pPr>
              <a:defRPr sz="1875" b="0">
                <a:solidFill>
                  <a:srgbClr val="23374D"/>
                </a:solidFill>
                <a:latin typeface="Arial"/>
                <a:ea typeface="Arial"/>
                <a:cs typeface="Arial"/>
              </a:defRPr>
            </a:lvl1pPr>
            <a:lvl2pPr>
              <a:defRPr sz="1875" b="0">
                <a:solidFill>
                  <a:srgbClr val="23374D"/>
                </a:solidFill>
                <a:latin typeface="Arial"/>
                <a:ea typeface="Arial"/>
                <a:cs typeface="Arial"/>
              </a:defRPr>
            </a:lvl2pPr>
            <a:lvl3pPr>
              <a:defRPr sz="1875" b="0">
                <a:solidFill>
                  <a:srgbClr val="23374D"/>
                </a:solidFill>
                <a:latin typeface="Arial"/>
                <a:ea typeface="Arial"/>
                <a:cs typeface="Arial"/>
              </a:defRPr>
            </a:lvl3pPr>
            <a:lvl4pPr>
              <a:defRPr sz="1875" b="0">
                <a:solidFill>
                  <a:srgbClr val="23374D"/>
                </a:solidFill>
                <a:latin typeface="Arial"/>
                <a:ea typeface="Arial"/>
                <a:cs typeface="Arial"/>
              </a:defRPr>
            </a:lvl4pPr>
            <a:lvl5pPr>
              <a:defRPr sz="1875" b="0">
                <a:solidFill>
                  <a:srgbClr val="23374D"/>
                </a:solidFill>
                <a:latin typeface="Arial"/>
                <a:ea typeface="Arial"/>
                <a:cs typeface="Arial"/>
              </a:defRPr>
            </a:lvl5pPr>
            <a:lvl6pPr>
              <a:defRPr sz="1875" b="0">
                <a:solidFill>
                  <a:srgbClr val="23374D"/>
                </a:solidFill>
                <a:latin typeface="Arial"/>
                <a:ea typeface="Arial"/>
                <a:cs typeface="Arial"/>
              </a:defRPr>
            </a:lvl6pPr>
            <a:lvl7pPr>
              <a:defRPr sz="1875" b="0">
                <a:solidFill>
                  <a:srgbClr val="23374D"/>
                </a:solidFill>
                <a:latin typeface="Arial"/>
                <a:ea typeface="Arial"/>
                <a:cs typeface="Arial"/>
              </a:defRPr>
            </a:lvl7pPr>
            <a:lvl8pPr>
              <a:defRPr sz="1875" b="0">
                <a:solidFill>
                  <a:srgbClr val="23374D"/>
                </a:solidFill>
                <a:latin typeface="Arial"/>
                <a:ea typeface="Arial"/>
                <a:cs typeface="Arial"/>
              </a:defRPr>
            </a:lvl8pPr>
            <a:lvl9pPr>
              <a:defRPr sz="1875" b="0">
                <a:solidFill>
                  <a:srgbClr val="23374D"/>
                </a:solidFill>
                <a:latin typeface="Arial"/>
                <a:ea typeface="Arial"/>
                <a:cs typeface="Arial"/>
              </a:defRPr>
            </a:lvl9pPr>
          </a:lstStyle>
          <a:p xmlns:a="http://schemas.openxmlformats.org/drawingml/2006/main">
            <a:pPr>
              <a:defRPr sz="1875" b="0">
                <a:solidFill>
                  <a:srgbClr val="23374D"/>
                </a:solidFill>
                <a:latin typeface="Arial"/>
                <a:ea typeface="Arial"/>
                <a:cs typeface="Arial"/>
              </a:defRPr>
            </a:pPr>
            <a:r>
              <a:rPr sz="1875" b="0">
                <a:solidFill>
                  <a:srgbClr val="23374D"/>
                </a:solidFill>
                <a:latin typeface="Arial"/>
                <a:ea typeface="Arial"/>
                <a:cs typeface="Arial"/>
              </a:rPr>
              <a:t>9 distinct products → product 21791 contributes 1/9 ≈ 0.111 to its matching coordinate.</a:t>
            </a:r>
          </a:p>
        </p:txBody>
      </p:sp>
      <p:sp>
        <p:nvSpPr>
          <p:cNvPr id="8" name="">
            <a:extLst xmlns:a="http://schemas.openxmlformats.org/drawingml/2006/main">
              <a:ext uri="{FF2B5EF4-FFF2-40B4-BE49-F238E27FC236}">
                <a16:creationId xmlns:a16="http://schemas.microsoft.com/office/drawing/2014/main" id="{BBAAF93A-A25B-4502-9BD3-F7A0D5F93644}"/>
              </a:ext>
            </a:extLst>
          </p:cNvPr>
          <p:cNvSpPr>
            <a:spLocks xmlns:a="http://schemas.openxmlformats.org/drawingml/2006/main" noGrp="1"/>
          </p:cNvSpPr>
          <p:nvPr/>
        </p:nvSpPr>
        <p:spPr>
          <a:xfrm xmlns:a="http://schemas.openxmlformats.org/drawingml/2006/main">
            <a:off x="714375" y="514350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3374D"/>
                </a:solidFill>
                <a:latin typeface="Arial"/>
                <a:ea typeface="Arial"/>
                <a:cs typeface="Arial"/>
              </a:defRPr>
            </a:defPPr>
            <a:lvl1pPr>
              <a:defRPr sz="1800" b="0">
                <a:solidFill>
                  <a:srgbClr val="23374D"/>
                </a:solidFill>
                <a:latin typeface="Arial"/>
                <a:ea typeface="Arial"/>
                <a:cs typeface="Arial"/>
              </a:defRPr>
            </a:lvl1pPr>
            <a:lvl2pPr>
              <a:defRPr sz="1800" b="0">
                <a:solidFill>
                  <a:srgbClr val="23374D"/>
                </a:solidFill>
                <a:latin typeface="Arial"/>
                <a:ea typeface="Arial"/>
                <a:cs typeface="Arial"/>
              </a:defRPr>
            </a:lvl2pPr>
            <a:lvl3pPr>
              <a:defRPr sz="1800" b="0">
                <a:solidFill>
                  <a:srgbClr val="23374D"/>
                </a:solidFill>
                <a:latin typeface="Arial"/>
                <a:ea typeface="Arial"/>
                <a:cs typeface="Arial"/>
              </a:defRPr>
            </a:lvl3pPr>
            <a:lvl4pPr>
              <a:defRPr sz="1800" b="0">
                <a:solidFill>
                  <a:srgbClr val="23374D"/>
                </a:solidFill>
                <a:latin typeface="Arial"/>
                <a:ea typeface="Arial"/>
                <a:cs typeface="Arial"/>
              </a:defRPr>
            </a:lvl4pPr>
            <a:lvl5pPr>
              <a:defRPr sz="1800" b="0">
                <a:solidFill>
                  <a:srgbClr val="23374D"/>
                </a:solidFill>
                <a:latin typeface="Arial"/>
                <a:ea typeface="Arial"/>
                <a:cs typeface="Arial"/>
              </a:defRPr>
            </a:lvl5pPr>
            <a:lvl6pPr>
              <a:defRPr sz="1800" b="0">
                <a:solidFill>
                  <a:srgbClr val="23374D"/>
                </a:solidFill>
                <a:latin typeface="Arial"/>
                <a:ea typeface="Arial"/>
                <a:cs typeface="Arial"/>
              </a:defRPr>
            </a:lvl6pPr>
            <a:lvl7pPr>
              <a:defRPr sz="1800" b="0">
                <a:solidFill>
                  <a:srgbClr val="23374D"/>
                </a:solidFill>
                <a:latin typeface="Arial"/>
                <a:ea typeface="Arial"/>
                <a:cs typeface="Arial"/>
              </a:defRPr>
            </a:lvl7pPr>
            <a:lvl8pPr>
              <a:defRPr sz="1800" b="0">
                <a:solidFill>
                  <a:srgbClr val="23374D"/>
                </a:solidFill>
                <a:latin typeface="Arial"/>
                <a:ea typeface="Arial"/>
                <a:cs typeface="Arial"/>
              </a:defRPr>
            </a:lvl8pPr>
            <a:lvl9pPr>
              <a:defRPr sz="1800" b="0">
                <a:solidFill>
                  <a:srgbClr val="23374D"/>
                </a:solidFill>
                <a:latin typeface="Arial"/>
                <a:ea typeface="Arial"/>
                <a:cs typeface="Arial"/>
              </a:defRPr>
            </a:lvl9pPr>
          </a:lstStyle>
          <a:p xmlns:a="http://schemas.openxmlformats.org/drawingml/2006/main">
            <a:pPr>
              <a:defRPr sz="1800" b="0">
                <a:solidFill>
                  <a:srgbClr val="23374D"/>
                </a:solidFill>
                <a:latin typeface="Arial"/>
                <a:ea typeface="Arial"/>
                <a:cs typeface="Arial"/>
              </a:defRPr>
            </a:pPr>
            <a:r>
              <a:rPr sz="1800" b="0">
                <a:solidFill>
                  <a:srgbClr val="23374D"/>
                </a:solidFill>
                <a:latin typeface="Arial"/>
                <a:ea typeface="Arial"/>
                <a:cs typeface="Arial"/>
              </a:rPr>
              <a:t>Their customer vectors overlap at one product coordinate. Each contribution is traceable to original invoices.</a:t>
            </a:r>
          </a:p>
        </p:txBody>
      </p:sp>
    </p:spTree>
    <p:extLst>
      <p:ext uri="{BB962C8B-B14F-4D97-AF65-F5344CB8AC3E}">
        <p14:creationId xmlns:p14="http://schemas.microsoft.com/office/powerpoint/2010/main" val="41634030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B2C49CA-C054-4502-856F-2D13109D0128}"/>
              </a:ext>
            </a:extLst>
          </p:cNvPr>
          <p:cNvSpPr>
            <a:spLocks xmlns:a="http://schemas.openxmlformats.org/drawingml/2006/main" noGrp="1"/>
          </p:cNvSpPr>
          <p:nvPr/>
        </p:nvSpPr>
        <p:spPr>
          <a:xfrm xmlns:a="http://schemas.openxmlformats.org/drawingml/2006/main">
            <a:off x="523875" y="32385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173B5E"/>
                </a:solidFill>
                <a:latin typeface="Arial"/>
                <a:ea typeface="Arial"/>
                <a:cs typeface="Arial"/>
              </a:defRPr>
            </a:defPPr>
            <a:lvl1pPr>
              <a:defRPr sz="2700" b="1">
                <a:solidFill>
                  <a:srgbClr val="173B5E"/>
                </a:solidFill>
                <a:latin typeface="Arial"/>
                <a:ea typeface="Arial"/>
                <a:cs typeface="Arial"/>
              </a:defRPr>
            </a:lvl1pPr>
            <a:lvl2pPr>
              <a:defRPr sz="2700" b="1">
                <a:solidFill>
                  <a:srgbClr val="173B5E"/>
                </a:solidFill>
                <a:latin typeface="Arial"/>
                <a:ea typeface="Arial"/>
                <a:cs typeface="Arial"/>
              </a:defRPr>
            </a:lvl2pPr>
            <a:lvl3pPr>
              <a:defRPr sz="2700" b="1">
                <a:solidFill>
                  <a:srgbClr val="173B5E"/>
                </a:solidFill>
                <a:latin typeface="Arial"/>
                <a:ea typeface="Arial"/>
                <a:cs typeface="Arial"/>
              </a:defRPr>
            </a:lvl3pPr>
            <a:lvl4pPr>
              <a:defRPr sz="2700" b="1">
                <a:solidFill>
                  <a:srgbClr val="173B5E"/>
                </a:solidFill>
                <a:latin typeface="Arial"/>
                <a:ea typeface="Arial"/>
                <a:cs typeface="Arial"/>
              </a:defRPr>
            </a:lvl4pPr>
            <a:lvl5pPr>
              <a:defRPr sz="2700" b="1">
                <a:solidFill>
                  <a:srgbClr val="173B5E"/>
                </a:solidFill>
                <a:latin typeface="Arial"/>
                <a:ea typeface="Arial"/>
                <a:cs typeface="Arial"/>
              </a:defRPr>
            </a:lvl5pPr>
            <a:lvl6pPr>
              <a:defRPr sz="2700" b="1">
                <a:solidFill>
                  <a:srgbClr val="173B5E"/>
                </a:solidFill>
                <a:latin typeface="Arial"/>
                <a:ea typeface="Arial"/>
                <a:cs typeface="Arial"/>
              </a:defRPr>
            </a:lvl6pPr>
            <a:lvl7pPr>
              <a:defRPr sz="2700" b="1">
                <a:solidFill>
                  <a:srgbClr val="173B5E"/>
                </a:solidFill>
                <a:latin typeface="Arial"/>
                <a:ea typeface="Arial"/>
                <a:cs typeface="Arial"/>
              </a:defRPr>
            </a:lvl7pPr>
            <a:lvl8pPr>
              <a:defRPr sz="2700" b="1">
                <a:solidFill>
                  <a:srgbClr val="173B5E"/>
                </a:solidFill>
                <a:latin typeface="Arial"/>
                <a:ea typeface="Arial"/>
                <a:cs typeface="Arial"/>
              </a:defRPr>
            </a:lvl8pPr>
            <a:lvl9pPr>
              <a:defRPr sz="2700" b="1">
                <a:solidFill>
                  <a:srgbClr val="173B5E"/>
                </a:solidFill>
                <a:latin typeface="Arial"/>
                <a:ea typeface="Arial"/>
                <a:cs typeface="Arial"/>
              </a:defRPr>
            </a:lvl9pPr>
          </a:lstStyle>
          <a:p xmlns:a="http://schemas.openxmlformats.org/drawingml/2006/main">
            <a:pPr>
              <a:defRPr sz="2700" b="1">
                <a:solidFill>
                  <a:srgbClr val="173B5E"/>
                </a:solidFill>
                <a:latin typeface="Arial"/>
                <a:ea typeface="Arial"/>
                <a:cs typeface="Arial"/>
              </a:defRPr>
            </a:pPr>
            <a:r>
              <a:rPr sz="2700" b="1">
                <a:solidFill>
                  <a:srgbClr val="173B5E"/>
                </a:solidFill>
                <a:latin typeface="Arial"/>
                <a:ea typeface="Arial"/>
                <a:cs typeface="Arial"/>
              </a:rPr>
              <a:t>Hands-on result from the existing KG</a:t>
            </a:r>
          </a:p>
        </p:txBody>
      </p:sp>
      <p:sp>
        <p:nvSpPr>
          <p:cNvPr id="2" name="">
            <a:extLst xmlns:a="http://schemas.openxmlformats.org/drawingml/2006/main">
              <a:ext uri="{FF2B5EF4-FFF2-40B4-BE49-F238E27FC236}">
                <a16:creationId xmlns:a16="http://schemas.microsoft.com/office/drawing/2014/main" id="{E2C390CC-FA9D-44CE-A87D-BD71C0E41BD9}"/>
              </a:ext>
            </a:extLst>
          </p:cNvPr>
          <p:cNvSpPr>
            <a:spLocks xmlns:a="http://schemas.openxmlformats.org/drawingml/2006/main" noGrp="1"/>
          </p:cNvSpPr>
          <p:nvPr/>
        </p:nvSpPr>
        <p:spPr>
          <a:xfrm xmlns:a="http://schemas.openxmlformats.org/drawingml/2006/main">
            <a:off x="523875" y="6505575"/>
            <a:ext cx="11144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566E82"/>
                </a:solidFill>
                <a:latin typeface="Arial"/>
                <a:ea typeface="Arial"/>
                <a:cs typeface="Arial"/>
              </a:defRPr>
            </a:defPPr>
            <a:lvl1pPr>
              <a:defRPr sz="1050" b="0">
                <a:solidFill>
                  <a:srgbClr val="566E82"/>
                </a:solidFill>
                <a:latin typeface="Arial"/>
                <a:ea typeface="Arial"/>
                <a:cs typeface="Arial"/>
              </a:defRPr>
            </a:lvl1pPr>
            <a:lvl2pPr>
              <a:defRPr sz="1050" b="0">
                <a:solidFill>
                  <a:srgbClr val="566E82"/>
                </a:solidFill>
                <a:latin typeface="Arial"/>
                <a:ea typeface="Arial"/>
                <a:cs typeface="Arial"/>
              </a:defRPr>
            </a:lvl2pPr>
            <a:lvl3pPr>
              <a:defRPr sz="1050" b="0">
                <a:solidFill>
                  <a:srgbClr val="566E82"/>
                </a:solidFill>
                <a:latin typeface="Arial"/>
                <a:ea typeface="Arial"/>
                <a:cs typeface="Arial"/>
              </a:defRPr>
            </a:lvl3pPr>
            <a:lvl4pPr>
              <a:defRPr sz="1050" b="0">
                <a:solidFill>
                  <a:srgbClr val="566E82"/>
                </a:solidFill>
                <a:latin typeface="Arial"/>
                <a:ea typeface="Arial"/>
                <a:cs typeface="Arial"/>
              </a:defRPr>
            </a:lvl4pPr>
            <a:lvl5pPr>
              <a:defRPr sz="1050" b="0">
                <a:solidFill>
                  <a:srgbClr val="566E82"/>
                </a:solidFill>
                <a:latin typeface="Arial"/>
                <a:ea typeface="Arial"/>
                <a:cs typeface="Arial"/>
              </a:defRPr>
            </a:lvl5pPr>
            <a:lvl6pPr>
              <a:defRPr sz="1050" b="0">
                <a:solidFill>
                  <a:srgbClr val="566E82"/>
                </a:solidFill>
                <a:latin typeface="Arial"/>
                <a:ea typeface="Arial"/>
                <a:cs typeface="Arial"/>
              </a:defRPr>
            </a:lvl6pPr>
            <a:lvl7pPr>
              <a:defRPr sz="1050" b="0">
                <a:solidFill>
                  <a:srgbClr val="566E82"/>
                </a:solidFill>
                <a:latin typeface="Arial"/>
                <a:ea typeface="Arial"/>
                <a:cs typeface="Arial"/>
              </a:defRPr>
            </a:lvl7pPr>
            <a:lvl8pPr>
              <a:defRPr sz="1050" b="0">
                <a:solidFill>
                  <a:srgbClr val="566E82"/>
                </a:solidFill>
                <a:latin typeface="Arial"/>
                <a:ea typeface="Arial"/>
                <a:cs typeface="Arial"/>
              </a:defRPr>
            </a:lvl8pPr>
            <a:lvl9pPr>
              <a:defRPr sz="1050" b="0">
                <a:solidFill>
                  <a:srgbClr val="566E82"/>
                </a:solidFill>
                <a:latin typeface="Arial"/>
                <a:ea typeface="Arial"/>
                <a:cs typeface="Arial"/>
              </a:defRPr>
            </a:lvl9pPr>
          </a:lstStyle>
          <a:p xmlns:a="http://schemas.openxmlformats.org/drawingml/2006/main">
            <a:pPr>
              <a:defRPr sz="1050" b="0">
                <a:solidFill>
                  <a:srgbClr val="566E82"/>
                </a:solidFill>
                <a:latin typeface="Arial"/>
                <a:ea typeface="Arial"/>
                <a:cs typeface="Arial"/>
              </a:defRPr>
            </a:pPr>
            <a:r>
              <a:rPr sz="1050" b="0">
                <a:solidFill>
                  <a:srgbClr val="566E82"/>
                </a:solidFill>
                <a:latin typeface="Arial"/>
                <a:ea typeface="Arial"/>
                <a:cs typeface="Arial"/>
              </a:rPr>
              <a:t>Retail360  |  CS 5588 Challenge 3                                         5/10</a:t>
            </a:r>
          </a:p>
        </p:txBody>
      </p:sp>
      <p:pic>
        <p:nvPicPr>
          <p:cNvPr id="3" name="">
            <a:extLst xmlns:a="http://schemas.openxmlformats.org/drawingml/2006/main">
              <a:ext uri="{FF2B5EF4-FFF2-40B4-BE49-F238E27FC236}">
                <a16:creationId xmlns:a16="http://schemas.microsoft.com/office/drawing/2014/main" id="{81D50A9F-27A5-49D9-B8E5-66B8E4F24591}"/>
              </a:ext>
            </a:extLst>
          </p:cNvPr>
          <p:cNvPicPr>
            <a:picLocks xmlns:a="http://schemas.openxmlformats.org/drawingml/2006/main" noChangeAspect="1"/>
          </p:cNvPicPr>
          <p:nvPr/>
        </p:nvPicPr>
        <p:blipFill>
          <a:blip xmlns:r="http://schemas.openxmlformats.org/officeDocument/2006/relationships" xmlns:a="http://schemas.openxmlformats.org/drawingml/2006/main" r:embed="Rd784571a898444f8"/>
          <a:stretch xmlns:a="http://schemas.openxmlformats.org/drawingml/2006/main"/>
        </p:blipFill>
        <p:spPr>
          <a:xfrm xmlns:a="http://schemas.openxmlformats.org/drawingml/2006/main">
            <a:off x="2520950" y="1104900"/>
            <a:ext cx="7112000" cy="5000625"/>
          </a:xfrm>
          <a:prstGeom xmlns:a="http://schemas.openxmlformats.org/drawingml/2006/main" prst="rect">
            <a:avLst/>
          </a:prstGeom>
        </p:spPr>
      </p:pic>
    </p:spTree>
    <p:extLst>
      <p:ext uri="{BB962C8B-B14F-4D97-AF65-F5344CB8AC3E}">
        <p14:creationId xmlns:p14="http://schemas.microsoft.com/office/powerpoint/2010/main" val="4499088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C82AC50D-7A29-47E9-B557-4A7723E5C5C3}"/>
              </a:ext>
            </a:extLst>
          </p:cNvPr>
          <p:cNvCxnSpPr>
            <a:stCxn xmlns:a="http://schemas.openxmlformats.org/drawingml/2006/main" id="6" idx="3"/>
            <a:endCxn xmlns:a="http://schemas.openxmlformats.org/drawingml/2006/main" id="7" idx="1"/>
          </p:cNvCxnSpPr>
          <p:nvPr/>
        </p:nvCxnSpPr>
        <p:spPr>
          <a:xfrm xmlns:a="http://schemas.openxmlformats.org/drawingml/2006/main">
            <a:off x="9334500" y="2571750"/>
            <a:ext cx="438150" cy="0"/>
          </a:xfrm>
          <a:prstGeom xmlns:a="http://schemas.openxmlformats.org/drawingml/2006/main" prst="straightConnector1">
            <a:avLst/>
          </a:prstGeom>
          <a:ln xmlns:a="http://schemas.openxmlformats.org/drawingml/2006/main" w="19050">
            <a:solidFill>
              <a:srgbClr val="6082A0"/>
            </a:solidFill>
            <a:tailEnd type="arrow" w="med" len="med"/>
          </a:ln>
        </p:spPr>
      </p:cxnSp>
      <p:cxnSp>
        <p:nvCxnSpPr>
          <p:cNvPr id="10" name="">
            <a:extLst xmlns:a="http://schemas.openxmlformats.org/drawingml/2006/main">
              <a:ext uri="{FF2B5EF4-FFF2-40B4-BE49-F238E27FC236}">
                <a16:creationId xmlns:a16="http://schemas.microsoft.com/office/drawing/2014/main" id="{A5D28203-7E59-401C-89E6-8B32CA5F8894}"/>
              </a:ext>
            </a:extLst>
          </p:cNvPr>
          <p:cNvCxnSpPr>
            <a:stCxn xmlns:a="http://schemas.openxmlformats.org/drawingml/2006/main" id="5" idx="3"/>
            <a:endCxn xmlns:a="http://schemas.openxmlformats.org/drawingml/2006/main" id="6" idx="1"/>
          </p:cNvCxnSpPr>
          <p:nvPr/>
        </p:nvCxnSpPr>
        <p:spPr>
          <a:xfrm xmlns:a="http://schemas.openxmlformats.org/drawingml/2006/main">
            <a:off x="6991350" y="2571750"/>
            <a:ext cx="438150" cy="0"/>
          </a:xfrm>
          <a:prstGeom xmlns:a="http://schemas.openxmlformats.org/drawingml/2006/main" prst="straightConnector1">
            <a:avLst/>
          </a:prstGeom>
          <a:ln xmlns:a="http://schemas.openxmlformats.org/drawingml/2006/main" w="19050">
            <a:solidFill>
              <a:srgbClr val="6082A0"/>
            </a:solidFill>
            <a:tailEnd type="arrow" w="med" len="med"/>
          </a:ln>
        </p:spPr>
      </p:cxnSp>
      <p:cxnSp>
        <p:nvCxnSpPr>
          <p:cNvPr id="9" name="">
            <a:extLst xmlns:a="http://schemas.openxmlformats.org/drawingml/2006/main">
              <a:ext uri="{FF2B5EF4-FFF2-40B4-BE49-F238E27FC236}">
                <a16:creationId xmlns:a16="http://schemas.microsoft.com/office/drawing/2014/main" id="{3018793A-E5D1-41C6-97CB-8DD339AE441E}"/>
              </a:ext>
            </a:extLst>
          </p:cNvPr>
          <p:cNvCxnSpPr>
            <a:stCxn xmlns:a="http://schemas.openxmlformats.org/drawingml/2006/main" id="4" idx="3"/>
            <a:endCxn xmlns:a="http://schemas.openxmlformats.org/drawingml/2006/main" id="5" idx="1"/>
          </p:cNvCxnSpPr>
          <p:nvPr/>
        </p:nvCxnSpPr>
        <p:spPr>
          <a:xfrm xmlns:a="http://schemas.openxmlformats.org/drawingml/2006/main">
            <a:off x="4648200" y="2571750"/>
            <a:ext cx="438150" cy="0"/>
          </a:xfrm>
          <a:prstGeom xmlns:a="http://schemas.openxmlformats.org/drawingml/2006/main" prst="straightConnector1">
            <a:avLst/>
          </a:prstGeom>
          <a:ln xmlns:a="http://schemas.openxmlformats.org/drawingml/2006/main" w="19050">
            <a:solidFill>
              <a:srgbClr val="6082A0"/>
            </a:solidFill>
            <a:tailEnd type="arrow" w="med" len="med"/>
          </a:ln>
        </p:spPr>
      </p:cxnSp>
      <p:cxnSp>
        <p:nvCxnSpPr>
          <p:cNvPr id="8" name="">
            <a:extLst xmlns:a="http://schemas.openxmlformats.org/drawingml/2006/main">
              <a:ext uri="{FF2B5EF4-FFF2-40B4-BE49-F238E27FC236}">
                <a16:creationId xmlns:a16="http://schemas.microsoft.com/office/drawing/2014/main" id="{BF034E6E-2483-4031-B4B2-2B216C86812D}"/>
              </a:ext>
            </a:extLst>
          </p:cNvPr>
          <p:cNvCxnSpPr>
            <a:stCxn xmlns:a="http://schemas.openxmlformats.org/drawingml/2006/main" id="3" idx="3"/>
            <a:endCxn xmlns:a="http://schemas.openxmlformats.org/drawingml/2006/main" id="4" idx="1"/>
          </p:cNvCxnSpPr>
          <p:nvPr/>
        </p:nvCxnSpPr>
        <p:spPr>
          <a:xfrm xmlns:a="http://schemas.openxmlformats.org/drawingml/2006/main">
            <a:off x="2305050" y="2571750"/>
            <a:ext cx="438150" cy="0"/>
          </a:xfrm>
          <a:prstGeom xmlns:a="http://schemas.openxmlformats.org/drawingml/2006/main" prst="straightConnector1">
            <a:avLst/>
          </a:prstGeom>
          <a:ln xmlns:a="http://schemas.openxmlformats.org/drawingml/2006/main" w="19050">
            <a:solidFill>
              <a:srgbClr val="6082A0"/>
            </a:solidFill>
            <a:tailEnd type="arrow" w="med" len="med"/>
          </a:ln>
        </p:spPr>
      </p:cxnSp>
      <p:sp>
        <p:nvSpPr>
          <p:cNvPr id="16" name="">
            <a:extLst xmlns:a="http://schemas.openxmlformats.org/drawingml/2006/main">
              <a:ext uri="{FF2B5EF4-FFF2-40B4-BE49-F238E27FC236}">
                <a16:creationId xmlns:a16="http://schemas.microsoft.com/office/drawing/2014/main" id="{4A037BF7-4D11-46CA-B67C-E9EBF4F506DB}"/>
              </a:ext>
            </a:extLst>
          </p:cNvPr>
          <p:cNvSpPr>
            <a:spLocks xmlns:a="http://schemas.openxmlformats.org/drawingml/2006/main" noGrp="1"/>
          </p:cNvSpPr>
          <p:nvPr/>
        </p:nvSpPr>
        <p:spPr>
          <a:xfrm xmlns:a="http://schemas.openxmlformats.org/drawingml/2006/main">
            <a:off x="523875" y="32385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173B5E"/>
                </a:solidFill>
                <a:latin typeface="Arial"/>
                <a:ea typeface="Arial"/>
                <a:cs typeface="Arial"/>
              </a:defRPr>
            </a:defPPr>
            <a:lvl1pPr>
              <a:defRPr sz="2700" b="1">
                <a:solidFill>
                  <a:srgbClr val="173B5E"/>
                </a:solidFill>
                <a:latin typeface="Arial"/>
                <a:ea typeface="Arial"/>
                <a:cs typeface="Arial"/>
              </a:defRPr>
            </a:lvl1pPr>
            <a:lvl2pPr>
              <a:defRPr sz="2700" b="1">
                <a:solidFill>
                  <a:srgbClr val="173B5E"/>
                </a:solidFill>
                <a:latin typeface="Arial"/>
                <a:ea typeface="Arial"/>
                <a:cs typeface="Arial"/>
              </a:defRPr>
            </a:lvl2pPr>
            <a:lvl3pPr>
              <a:defRPr sz="2700" b="1">
                <a:solidFill>
                  <a:srgbClr val="173B5E"/>
                </a:solidFill>
                <a:latin typeface="Arial"/>
                <a:ea typeface="Arial"/>
                <a:cs typeface="Arial"/>
              </a:defRPr>
            </a:lvl3pPr>
            <a:lvl4pPr>
              <a:defRPr sz="2700" b="1">
                <a:solidFill>
                  <a:srgbClr val="173B5E"/>
                </a:solidFill>
                <a:latin typeface="Arial"/>
                <a:ea typeface="Arial"/>
                <a:cs typeface="Arial"/>
              </a:defRPr>
            </a:lvl4pPr>
            <a:lvl5pPr>
              <a:defRPr sz="2700" b="1">
                <a:solidFill>
                  <a:srgbClr val="173B5E"/>
                </a:solidFill>
                <a:latin typeface="Arial"/>
                <a:ea typeface="Arial"/>
                <a:cs typeface="Arial"/>
              </a:defRPr>
            </a:lvl5pPr>
            <a:lvl6pPr>
              <a:defRPr sz="2700" b="1">
                <a:solidFill>
                  <a:srgbClr val="173B5E"/>
                </a:solidFill>
                <a:latin typeface="Arial"/>
                <a:ea typeface="Arial"/>
                <a:cs typeface="Arial"/>
              </a:defRPr>
            </a:lvl6pPr>
            <a:lvl7pPr>
              <a:defRPr sz="2700" b="1">
                <a:solidFill>
                  <a:srgbClr val="173B5E"/>
                </a:solidFill>
                <a:latin typeface="Arial"/>
                <a:ea typeface="Arial"/>
                <a:cs typeface="Arial"/>
              </a:defRPr>
            </a:lvl7pPr>
            <a:lvl8pPr>
              <a:defRPr sz="2700" b="1">
                <a:solidFill>
                  <a:srgbClr val="173B5E"/>
                </a:solidFill>
                <a:latin typeface="Arial"/>
                <a:ea typeface="Arial"/>
                <a:cs typeface="Arial"/>
              </a:defRPr>
            </a:lvl8pPr>
            <a:lvl9pPr>
              <a:defRPr sz="2700" b="1">
                <a:solidFill>
                  <a:srgbClr val="173B5E"/>
                </a:solidFill>
                <a:latin typeface="Arial"/>
                <a:ea typeface="Arial"/>
                <a:cs typeface="Arial"/>
              </a:defRPr>
            </a:lvl9pPr>
          </a:lstStyle>
          <a:p xmlns:a="http://schemas.openxmlformats.org/drawingml/2006/main">
            <a:pPr>
              <a:defRPr sz="2700" b="1">
                <a:solidFill>
                  <a:srgbClr val="173B5E"/>
                </a:solidFill>
                <a:latin typeface="Arial"/>
                <a:ea typeface="Arial"/>
                <a:cs typeface="Arial"/>
              </a:defRPr>
            </a:pPr>
            <a:r>
              <a:rPr sz="2700" b="1">
                <a:solidFill>
                  <a:srgbClr val="173B5E"/>
                </a:solidFill>
                <a:latin typeface="Arial"/>
                <a:ea typeface="Arial"/>
                <a:cs typeface="Arial"/>
              </a:rPr>
              <a:t>How embeddings would enter GraphRAG</a:t>
            </a:r>
          </a:p>
        </p:txBody>
      </p:sp>
      <p:sp>
        <p:nvSpPr>
          <p:cNvPr id="2" name="">
            <a:extLst xmlns:a="http://schemas.openxmlformats.org/drawingml/2006/main">
              <a:ext uri="{FF2B5EF4-FFF2-40B4-BE49-F238E27FC236}">
                <a16:creationId xmlns:a16="http://schemas.microsoft.com/office/drawing/2014/main" id="{3EC70816-E5E0-44A8-8867-38E2BCA9B767}"/>
              </a:ext>
            </a:extLst>
          </p:cNvPr>
          <p:cNvSpPr>
            <a:spLocks xmlns:a="http://schemas.openxmlformats.org/drawingml/2006/main" noGrp="1"/>
          </p:cNvSpPr>
          <p:nvPr/>
        </p:nvSpPr>
        <p:spPr>
          <a:xfrm xmlns:a="http://schemas.openxmlformats.org/drawingml/2006/main">
            <a:off x="523875" y="6505575"/>
            <a:ext cx="11144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566E82"/>
                </a:solidFill>
                <a:latin typeface="Arial"/>
                <a:ea typeface="Arial"/>
                <a:cs typeface="Arial"/>
              </a:defRPr>
            </a:defPPr>
            <a:lvl1pPr>
              <a:defRPr sz="1050" b="0">
                <a:solidFill>
                  <a:srgbClr val="566E82"/>
                </a:solidFill>
                <a:latin typeface="Arial"/>
                <a:ea typeface="Arial"/>
                <a:cs typeface="Arial"/>
              </a:defRPr>
            </a:lvl1pPr>
            <a:lvl2pPr>
              <a:defRPr sz="1050" b="0">
                <a:solidFill>
                  <a:srgbClr val="566E82"/>
                </a:solidFill>
                <a:latin typeface="Arial"/>
                <a:ea typeface="Arial"/>
                <a:cs typeface="Arial"/>
              </a:defRPr>
            </a:lvl2pPr>
            <a:lvl3pPr>
              <a:defRPr sz="1050" b="0">
                <a:solidFill>
                  <a:srgbClr val="566E82"/>
                </a:solidFill>
                <a:latin typeface="Arial"/>
                <a:ea typeface="Arial"/>
                <a:cs typeface="Arial"/>
              </a:defRPr>
            </a:lvl3pPr>
            <a:lvl4pPr>
              <a:defRPr sz="1050" b="0">
                <a:solidFill>
                  <a:srgbClr val="566E82"/>
                </a:solidFill>
                <a:latin typeface="Arial"/>
                <a:ea typeface="Arial"/>
                <a:cs typeface="Arial"/>
              </a:defRPr>
            </a:lvl4pPr>
            <a:lvl5pPr>
              <a:defRPr sz="1050" b="0">
                <a:solidFill>
                  <a:srgbClr val="566E82"/>
                </a:solidFill>
                <a:latin typeface="Arial"/>
                <a:ea typeface="Arial"/>
                <a:cs typeface="Arial"/>
              </a:defRPr>
            </a:lvl5pPr>
            <a:lvl6pPr>
              <a:defRPr sz="1050" b="0">
                <a:solidFill>
                  <a:srgbClr val="566E82"/>
                </a:solidFill>
                <a:latin typeface="Arial"/>
                <a:ea typeface="Arial"/>
                <a:cs typeface="Arial"/>
              </a:defRPr>
            </a:lvl6pPr>
            <a:lvl7pPr>
              <a:defRPr sz="1050" b="0">
                <a:solidFill>
                  <a:srgbClr val="566E82"/>
                </a:solidFill>
                <a:latin typeface="Arial"/>
                <a:ea typeface="Arial"/>
                <a:cs typeface="Arial"/>
              </a:defRPr>
            </a:lvl7pPr>
            <a:lvl8pPr>
              <a:defRPr sz="1050" b="0">
                <a:solidFill>
                  <a:srgbClr val="566E82"/>
                </a:solidFill>
                <a:latin typeface="Arial"/>
                <a:ea typeface="Arial"/>
                <a:cs typeface="Arial"/>
              </a:defRPr>
            </a:lvl8pPr>
            <a:lvl9pPr>
              <a:defRPr sz="1050" b="0">
                <a:solidFill>
                  <a:srgbClr val="566E82"/>
                </a:solidFill>
                <a:latin typeface="Arial"/>
                <a:ea typeface="Arial"/>
                <a:cs typeface="Arial"/>
              </a:defRPr>
            </a:lvl9pPr>
          </a:lstStyle>
          <a:p xmlns:a="http://schemas.openxmlformats.org/drawingml/2006/main">
            <a:pPr>
              <a:defRPr sz="1050" b="0">
                <a:solidFill>
                  <a:srgbClr val="566E82"/>
                </a:solidFill>
                <a:latin typeface="Arial"/>
                <a:ea typeface="Arial"/>
                <a:cs typeface="Arial"/>
              </a:defRPr>
            </a:pPr>
            <a:r>
              <a:rPr sz="1050" b="0">
                <a:solidFill>
                  <a:srgbClr val="566E82"/>
                </a:solidFill>
                <a:latin typeface="Arial"/>
                <a:ea typeface="Arial"/>
                <a:cs typeface="Arial"/>
              </a:rPr>
              <a:t>Retail360  |  CS 5588 Challenge 3                                         6/10</a:t>
            </a:r>
          </a:p>
        </p:txBody>
      </p:sp>
      <p:sp>
        <p:nvSpPr>
          <p:cNvPr id="3" name="">
            <a:extLst xmlns:a="http://schemas.openxmlformats.org/drawingml/2006/main">
              <a:ext uri="{FF2B5EF4-FFF2-40B4-BE49-F238E27FC236}">
                <a16:creationId xmlns:a16="http://schemas.microsoft.com/office/drawing/2014/main" id="{FA8254C8-6126-40D5-8DD4-6DD3BA4D71F5}"/>
              </a:ext>
            </a:extLst>
          </p:cNvPr>
          <p:cNvSpPr>
            <a:spLocks xmlns:a="http://schemas.openxmlformats.org/drawingml/2006/main" noGrp="1"/>
          </p:cNvSpPr>
          <p:nvPr/>
        </p:nvSpPr>
        <p:spPr>
          <a:xfrm xmlns:a="http://schemas.openxmlformats.org/drawingml/2006/main">
            <a:off x="400050" y="2095500"/>
            <a:ext cx="1905000" cy="952500"/>
          </a:xfrm>
          <a:prstGeom xmlns:a="http://schemas.openxmlformats.org/drawingml/2006/main" prst="rect">
            <a:avLst/>
          </a:prstGeom>
          <a:solidFill xmlns:a="http://schemas.openxmlformats.org/drawingml/2006/main">
            <a:srgbClr val="E7F1F6"/>
          </a:solidFill>
          <a:ln xmlns:a="http://schemas.openxmlformats.org/drawingml/2006/main" w="9525">
            <a:solidFill>
              <a:srgbClr val="A7BDCC"/>
            </a:solidFill>
          </a:ln>
        </p:spPr>
        <p:txBody>
          <a:bodyPr xmlns:a="http://schemas.openxmlformats.org/drawingml/2006/main" anchor="ctr"/>
          <a:lstStyle xmlns:a="http://schemas.openxmlformats.org/drawingml/2006/main">
            <a:defPPr algn="ctr">
              <a:defRPr sz="1725">
                <a:solidFill>
                  <a:srgbClr val="23374D"/>
                </a:solidFill>
                <a:latin typeface="Arial"/>
                <a:ea typeface="Arial"/>
                <a:cs typeface="Arial"/>
              </a:defRPr>
            </a:defPPr>
            <a:lvl1pPr algn="ctr">
              <a:defRPr sz="1725">
                <a:solidFill>
                  <a:srgbClr val="23374D"/>
                </a:solidFill>
                <a:latin typeface="Arial"/>
                <a:ea typeface="Arial"/>
                <a:cs typeface="Arial"/>
              </a:defRPr>
            </a:lvl1pPr>
            <a:lvl2pPr algn="ctr">
              <a:defRPr sz="1725">
                <a:solidFill>
                  <a:srgbClr val="23374D"/>
                </a:solidFill>
                <a:latin typeface="Arial"/>
                <a:ea typeface="Arial"/>
                <a:cs typeface="Arial"/>
              </a:defRPr>
            </a:lvl2pPr>
            <a:lvl3pPr algn="ctr">
              <a:defRPr sz="1725">
                <a:solidFill>
                  <a:srgbClr val="23374D"/>
                </a:solidFill>
                <a:latin typeface="Arial"/>
                <a:ea typeface="Arial"/>
                <a:cs typeface="Arial"/>
              </a:defRPr>
            </a:lvl3pPr>
            <a:lvl4pPr algn="ctr">
              <a:defRPr sz="1725">
                <a:solidFill>
                  <a:srgbClr val="23374D"/>
                </a:solidFill>
                <a:latin typeface="Arial"/>
                <a:ea typeface="Arial"/>
                <a:cs typeface="Arial"/>
              </a:defRPr>
            </a:lvl4pPr>
            <a:lvl5pPr algn="ctr">
              <a:defRPr sz="1725">
                <a:solidFill>
                  <a:srgbClr val="23374D"/>
                </a:solidFill>
                <a:latin typeface="Arial"/>
                <a:ea typeface="Arial"/>
                <a:cs typeface="Arial"/>
              </a:defRPr>
            </a:lvl5pPr>
            <a:lvl6pPr algn="ctr">
              <a:defRPr sz="1725">
                <a:solidFill>
                  <a:srgbClr val="23374D"/>
                </a:solidFill>
                <a:latin typeface="Arial"/>
                <a:ea typeface="Arial"/>
                <a:cs typeface="Arial"/>
              </a:defRPr>
            </a:lvl6pPr>
            <a:lvl7pPr algn="ctr">
              <a:defRPr sz="1725">
                <a:solidFill>
                  <a:srgbClr val="23374D"/>
                </a:solidFill>
                <a:latin typeface="Arial"/>
                <a:ea typeface="Arial"/>
                <a:cs typeface="Arial"/>
              </a:defRPr>
            </a:lvl7pPr>
            <a:lvl8pPr algn="ctr">
              <a:defRPr sz="1725">
                <a:solidFill>
                  <a:srgbClr val="23374D"/>
                </a:solidFill>
                <a:latin typeface="Arial"/>
                <a:ea typeface="Arial"/>
                <a:cs typeface="Arial"/>
              </a:defRPr>
            </a:lvl8pPr>
            <a:lvl9pPr algn="ctr">
              <a:defRPr sz="1725">
                <a:solidFill>
                  <a:srgbClr val="23374D"/>
                </a:solidFill>
                <a:latin typeface="Arial"/>
                <a:ea typeface="Arial"/>
                <a:cs typeface="Arial"/>
              </a:defRPr>
            </a:lvl9pPr>
          </a:lstStyle>
          <a:p xmlns:a="http://schemas.openxmlformats.org/drawingml/2006/main">
            <a:pPr algn="ctr">
              <a:defRPr sz="1725">
                <a:solidFill>
                  <a:srgbClr val="23374D"/>
                </a:solidFill>
                <a:latin typeface="Arial"/>
                <a:ea typeface="Arial"/>
                <a:cs typeface="Arial"/>
              </a:defRPr>
            </a:pPr>
            <a:r>
              <a:rPr sz="1725">
                <a:solidFill>
                  <a:srgbClr val="23374D"/>
                </a:solidFill>
                <a:latin typeface="Arial"/>
                <a:ea typeface="Arial"/>
                <a:cs typeface="Arial"/>
              </a:rPr>
              <a:t>Neo4j purchase</a:t>
            </a:r>
          </a:p>
          <a:p xmlns:a="http://schemas.openxmlformats.org/drawingml/2006/main">
            <a:pPr algn="ctr">
              <a:defRPr sz="1725">
                <a:solidFill>
                  <a:srgbClr val="23374D"/>
                </a:solidFill>
                <a:latin typeface="Arial"/>
                <a:ea typeface="Arial"/>
                <a:cs typeface="Arial"/>
              </a:defRPr>
            </a:pPr>
            <a:r>
              <a:rPr sz="1725">
                <a:solidFill>
                  <a:srgbClr val="23374D"/>
                </a:solidFill>
                <a:latin typeface="Arial"/>
                <a:ea typeface="Arial"/>
                <a:cs typeface="Arial"/>
              </a:rPr>
              <a:t>paths</a:t>
            </a:r>
          </a:p>
        </p:txBody>
      </p:sp>
      <p:sp>
        <p:nvSpPr>
          <p:cNvPr id="4" name="">
            <a:extLst xmlns:a="http://schemas.openxmlformats.org/drawingml/2006/main">
              <a:ext uri="{FF2B5EF4-FFF2-40B4-BE49-F238E27FC236}">
                <a16:creationId xmlns:a16="http://schemas.microsoft.com/office/drawing/2014/main" id="{056463D2-B7B2-4944-BB2F-A8C0921CC7D7}"/>
              </a:ext>
            </a:extLst>
          </p:cNvPr>
          <p:cNvSpPr>
            <a:spLocks xmlns:a="http://schemas.openxmlformats.org/drawingml/2006/main" noGrp="1"/>
          </p:cNvSpPr>
          <p:nvPr/>
        </p:nvSpPr>
        <p:spPr>
          <a:xfrm xmlns:a="http://schemas.openxmlformats.org/drawingml/2006/main">
            <a:off x="2743200" y="2095500"/>
            <a:ext cx="1905000" cy="952500"/>
          </a:xfrm>
          <a:prstGeom xmlns:a="http://schemas.openxmlformats.org/drawingml/2006/main" prst="rect">
            <a:avLst/>
          </a:prstGeom>
          <a:solidFill xmlns:a="http://schemas.openxmlformats.org/drawingml/2006/main">
            <a:srgbClr val="E7F1F6"/>
          </a:solidFill>
          <a:ln xmlns:a="http://schemas.openxmlformats.org/drawingml/2006/main" w="9525">
            <a:solidFill>
              <a:srgbClr val="A7BDCC"/>
            </a:solidFill>
          </a:ln>
        </p:spPr>
        <p:txBody>
          <a:bodyPr xmlns:a="http://schemas.openxmlformats.org/drawingml/2006/main" anchor="ctr"/>
          <a:lstStyle xmlns:a="http://schemas.openxmlformats.org/drawingml/2006/main">
            <a:defPPr algn="ctr">
              <a:defRPr sz="1725">
                <a:solidFill>
                  <a:srgbClr val="23374D"/>
                </a:solidFill>
                <a:latin typeface="Arial"/>
                <a:ea typeface="Arial"/>
                <a:cs typeface="Arial"/>
              </a:defRPr>
            </a:defPPr>
            <a:lvl1pPr algn="ctr">
              <a:defRPr sz="1725">
                <a:solidFill>
                  <a:srgbClr val="23374D"/>
                </a:solidFill>
                <a:latin typeface="Arial"/>
                <a:ea typeface="Arial"/>
                <a:cs typeface="Arial"/>
              </a:defRPr>
            </a:lvl1pPr>
            <a:lvl2pPr algn="ctr">
              <a:defRPr sz="1725">
                <a:solidFill>
                  <a:srgbClr val="23374D"/>
                </a:solidFill>
                <a:latin typeface="Arial"/>
                <a:ea typeface="Arial"/>
                <a:cs typeface="Arial"/>
              </a:defRPr>
            </a:lvl2pPr>
            <a:lvl3pPr algn="ctr">
              <a:defRPr sz="1725">
                <a:solidFill>
                  <a:srgbClr val="23374D"/>
                </a:solidFill>
                <a:latin typeface="Arial"/>
                <a:ea typeface="Arial"/>
                <a:cs typeface="Arial"/>
              </a:defRPr>
            </a:lvl3pPr>
            <a:lvl4pPr algn="ctr">
              <a:defRPr sz="1725">
                <a:solidFill>
                  <a:srgbClr val="23374D"/>
                </a:solidFill>
                <a:latin typeface="Arial"/>
                <a:ea typeface="Arial"/>
                <a:cs typeface="Arial"/>
              </a:defRPr>
            </a:lvl4pPr>
            <a:lvl5pPr algn="ctr">
              <a:defRPr sz="1725">
                <a:solidFill>
                  <a:srgbClr val="23374D"/>
                </a:solidFill>
                <a:latin typeface="Arial"/>
                <a:ea typeface="Arial"/>
                <a:cs typeface="Arial"/>
              </a:defRPr>
            </a:lvl5pPr>
            <a:lvl6pPr algn="ctr">
              <a:defRPr sz="1725">
                <a:solidFill>
                  <a:srgbClr val="23374D"/>
                </a:solidFill>
                <a:latin typeface="Arial"/>
                <a:ea typeface="Arial"/>
                <a:cs typeface="Arial"/>
              </a:defRPr>
            </a:lvl6pPr>
            <a:lvl7pPr algn="ctr">
              <a:defRPr sz="1725">
                <a:solidFill>
                  <a:srgbClr val="23374D"/>
                </a:solidFill>
                <a:latin typeface="Arial"/>
                <a:ea typeface="Arial"/>
                <a:cs typeface="Arial"/>
              </a:defRPr>
            </a:lvl7pPr>
            <a:lvl8pPr algn="ctr">
              <a:defRPr sz="1725">
                <a:solidFill>
                  <a:srgbClr val="23374D"/>
                </a:solidFill>
                <a:latin typeface="Arial"/>
                <a:ea typeface="Arial"/>
                <a:cs typeface="Arial"/>
              </a:defRPr>
            </a:lvl8pPr>
            <a:lvl9pPr algn="ctr">
              <a:defRPr sz="1725">
                <a:solidFill>
                  <a:srgbClr val="23374D"/>
                </a:solidFill>
                <a:latin typeface="Arial"/>
                <a:ea typeface="Arial"/>
                <a:cs typeface="Arial"/>
              </a:defRPr>
            </a:lvl9pPr>
          </a:lstStyle>
          <a:p xmlns:a="http://schemas.openxmlformats.org/drawingml/2006/main">
            <a:pPr algn="ctr">
              <a:defRPr sz="1725">
                <a:solidFill>
                  <a:srgbClr val="23374D"/>
                </a:solidFill>
                <a:latin typeface="Arial"/>
                <a:ea typeface="Arial"/>
                <a:cs typeface="Arial"/>
              </a:defRPr>
            </a:pPr>
            <a:r>
              <a:rPr sz="1725">
                <a:solidFill>
                  <a:srgbClr val="23374D"/>
                </a:solidFill>
                <a:latin typeface="Arial"/>
                <a:ea typeface="Arial"/>
                <a:cs typeface="Arial"/>
              </a:rPr>
              <a:t>GNN customer</a:t>
            </a:r>
          </a:p>
          <a:p xmlns:a="http://schemas.openxmlformats.org/drawingml/2006/main">
            <a:pPr algn="ctr">
              <a:defRPr sz="1725">
                <a:solidFill>
                  <a:srgbClr val="23374D"/>
                </a:solidFill>
                <a:latin typeface="Arial"/>
                <a:ea typeface="Arial"/>
                <a:cs typeface="Arial"/>
              </a:defRPr>
            </a:pPr>
            <a:r>
              <a:rPr sz="1725">
                <a:solidFill>
                  <a:srgbClr val="23374D"/>
                </a:solidFill>
                <a:latin typeface="Arial"/>
                <a:ea typeface="Arial"/>
                <a:cs typeface="Arial"/>
              </a:rPr>
              <a:t>embeddings</a:t>
            </a:r>
          </a:p>
        </p:txBody>
      </p:sp>
      <p:sp>
        <p:nvSpPr>
          <p:cNvPr id="5" name="">
            <a:extLst xmlns:a="http://schemas.openxmlformats.org/drawingml/2006/main">
              <a:ext uri="{FF2B5EF4-FFF2-40B4-BE49-F238E27FC236}">
                <a16:creationId xmlns:a16="http://schemas.microsoft.com/office/drawing/2014/main" id="{F7D8DACF-BF5A-487C-B6A9-180D87910156}"/>
              </a:ext>
            </a:extLst>
          </p:cNvPr>
          <p:cNvSpPr>
            <a:spLocks xmlns:a="http://schemas.openxmlformats.org/drawingml/2006/main" noGrp="1"/>
          </p:cNvSpPr>
          <p:nvPr/>
        </p:nvSpPr>
        <p:spPr>
          <a:xfrm xmlns:a="http://schemas.openxmlformats.org/drawingml/2006/main">
            <a:off x="5086350" y="2095500"/>
            <a:ext cx="1905000" cy="952500"/>
          </a:xfrm>
          <a:prstGeom xmlns:a="http://schemas.openxmlformats.org/drawingml/2006/main" prst="rect">
            <a:avLst/>
          </a:prstGeom>
          <a:solidFill xmlns:a="http://schemas.openxmlformats.org/drawingml/2006/main">
            <a:srgbClr val="E7F1F6"/>
          </a:solidFill>
          <a:ln xmlns:a="http://schemas.openxmlformats.org/drawingml/2006/main" w="9525">
            <a:solidFill>
              <a:srgbClr val="A7BDCC"/>
            </a:solidFill>
          </a:ln>
        </p:spPr>
        <p:txBody>
          <a:bodyPr xmlns:a="http://schemas.openxmlformats.org/drawingml/2006/main" anchor="ctr"/>
          <a:lstStyle xmlns:a="http://schemas.openxmlformats.org/drawingml/2006/main">
            <a:defPPr algn="ctr">
              <a:defRPr sz="1725">
                <a:solidFill>
                  <a:srgbClr val="23374D"/>
                </a:solidFill>
                <a:latin typeface="Arial"/>
                <a:ea typeface="Arial"/>
                <a:cs typeface="Arial"/>
              </a:defRPr>
            </a:defPPr>
            <a:lvl1pPr algn="ctr">
              <a:defRPr sz="1725">
                <a:solidFill>
                  <a:srgbClr val="23374D"/>
                </a:solidFill>
                <a:latin typeface="Arial"/>
                <a:ea typeface="Arial"/>
                <a:cs typeface="Arial"/>
              </a:defRPr>
            </a:lvl1pPr>
            <a:lvl2pPr algn="ctr">
              <a:defRPr sz="1725">
                <a:solidFill>
                  <a:srgbClr val="23374D"/>
                </a:solidFill>
                <a:latin typeface="Arial"/>
                <a:ea typeface="Arial"/>
                <a:cs typeface="Arial"/>
              </a:defRPr>
            </a:lvl2pPr>
            <a:lvl3pPr algn="ctr">
              <a:defRPr sz="1725">
                <a:solidFill>
                  <a:srgbClr val="23374D"/>
                </a:solidFill>
                <a:latin typeface="Arial"/>
                <a:ea typeface="Arial"/>
                <a:cs typeface="Arial"/>
              </a:defRPr>
            </a:lvl3pPr>
            <a:lvl4pPr algn="ctr">
              <a:defRPr sz="1725">
                <a:solidFill>
                  <a:srgbClr val="23374D"/>
                </a:solidFill>
                <a:latin typeface="Arial"/>
                <a:ea typeface="Arial"/>
                <a:cs typeface="Arial"/>
              </a:defRPr>
            </a:lvl4pPr>
            <a:lvl5pPr algn="ctr">
              <a:defRPr sz="1725">
                <a:solidFill>
                  <a:srgbClr val="23374D"/>
                </a:solidFill>
                <a:latin typeface="Arial"/>
                <a:ea typeface="Arial"/>
                <a:cs typeface="Arial"/>
              </a:defRPr>
            </a:lvl5pPr>
            <a:lvl6pPr algn="ctr">
              <a:defRPr sz="1725">
                <a:solidFill>
                  <a:srgbClr val="23374D"/>
                </a:solidFill>
                <a:latin typeface="Arial"/>
                <a:ea typeface="Arial"/>
                <a:cs typeface="Arial"/>
              </a:defRPr>
            </a:lvl6pPr>
            <a:lvl7pPr algn="ctr">
              <a:defRPr sz="1725">
                <a:solidFill>
                  <a:srgbClr val="23374D"/>
                </a:solidFill>
                <a:latin typeface="Arial"/>
                <a:ea typeface="Arial"/>
                <a:cs typeface="Arial"/>
              </a:defRPr>
            </a:lvl7pPr>
            <a:lvl8pPr algn="ctr">
              <a:defRPr sz="1725">
                <a:solidFill>
                  <a:srgbClr val="23374D"/>
                </a:solidFill>
                <a:latin typeface="Arial"/>
                <a:ea typeface="Arial"/>
                <a:cs typeface="Arial"/>
              </a:defRPr>
            </a:lvl8pPr>
            <a:lvl9pPr algn="ctr">
              <a:defRPr sz="1725">
                <a:solidFill>
                  <a:srgbClr val="23374D"/>
                </a:solidFill>
                <a:latin typeface="Arial"/>
                <a:ea typeface="Arial"/>
                <a:cs typeface="Arial"/>
              </a:defRPr>
            </a:lvl9pPr>
          </a:lstStyle>
          <a:p xmlns:a="http://schemas.openxmlformats.org/drawingml/2006/main">
            <a:pPr algn="ctr">
              <a:defRPr sz="1725">
                <a:solidFill>
                  <a:srgbClr val="23374D"/>
                </a:solidFill>
                <a:latin typeface="Arial"/>
                <a:ea typeface="Arial"/>
                <a:cs typeface="Arial"/>
              </a:defRPr>
            </a:pPr>
            <a:r>
              <a:rPr sz="1725">
                <a:solidFill>
                  <a:srgbClr val="23374D"/>
                </a:solidFill>
                <a:latin typeface="Arial"/>
                <a:ea typeface="Arial"/>
                <a:cs typeface="Arial"/>
              </a:rPr>
              <a:t>Rank customer</a:t>
            </a:r>
          </a:p>
          <a:p xmlns:a="http://schemas.openxmlformats.org/drawingml/2006/main">
            <a:pPr algn="ctr">
              <a:defRPr sz="1725">
                <a:solidFill>
                  <a:srgbClr val="23374D"/>
                </a:solidFill>
                <a:latin typeface="Arial"/>
                <a:ea typeface="Arial"/>
                <a:cs typeface="Arial"/>
              </a:defRPr>
            </a:pPr>
            <a:r>
              <a:rPr sz="1725">
                <a:solidFill>
                  <a:srgbClr val="23374D"/>
                </a:solidFill>
                <a:latin typeface="Arial"/>
                <a:ea typeface="Arial"/>
                <a:cs typeface="Arial"/>
              </a:rPr>
              <a:t>candidates</a:t>
            </a:r>
          </a:p>
        </p:txBody>
      </p:sp>
      <p:sp>
        <p:nvSpPr>
          <p:cNvPr id="6" name="">
            <a:extLst xmlns:a="http://schemas.openxmlformats.org/drawingml/2006/main">
              <a:ext uri="{FF2B5EF4-FFF2-40B4-BE49-F238E27FC236}">
                <a16:creationId xmlns:a16="http://schemas.microsoft.com/office/drawing/2014/main" id="{C7C08EC0-7CAD-4CE1-9703-6B7359593810}"/>
              </a:ext>
            </a:extLst>
          </p:cNvPr>
          <p:cNvSpPr>
            <a:spLocks xmlns:a="http://schemas.openxmlformats.org/drawingml/2006/main" noGrp="1"/>
          </p:cNvSpPr>
          <p:nvPr/>
        </p:nvSpPr>
        <p:spPr>
          <a:xfrm xmlns:a="http://schemas.openxmlformats.org/drawingml/2006/main">
            <a:off x="7429500" y="2095500"/>
            <a:ext cx="1905000" cy="952500"/>
          </a:xfrm>
          <a:prstGeom xmlns:a="http://schemas.openxmlformats.org/drawingml/2006/main" prst="rect">
            <a:avLst/>
          </a:prstGeom>
          <a:solidFill xmlns:a="http://schemas.openxmlformats.org/drawingml/2006/main">
            <a:srgbClr val="E7F1F6"/>
          </a:solidFill>
          <a:ln xmlns:a="http://schemas.openxmlformats.org/drawingml/2006/main" w="9525">
            <a:solidFill>
              <a:srgbClr val="A7BDCC"/>
            </a:solidFill>
          </a:ln>
        </p:spPr>
        <p:txBody>
          <a:bodyPr xmlns:a="http://schemas.openxmlformats.org/drawingml/2006/main" anchor="ctr"/>
          <a:lstStyle xmlns:a="http://schemas.openxmlformats.org/drawingml/2006/main">
            <a:defPPr algn="ctr">
              <a:defRPr sz="1725">
                <a:solidFill>
                  <a:srgbClr val="23374D"/>
                </a:solidFill>
                <a:latin typeface="Arial"/>
                <a:ea typeface="Arial"/>
                <a:cs typeface="Arial"/>
              </a:defRPr>
            </a:defPPr>
            <a:lvl1pPr algn="ctr">
              <a:defRPr sz="1725">
                <a:solidFill>
                  <a:srgbClr val="23374D"/>
                </a:solidFill>
                <a:latin typeface="Arial"/>
                <a:ea typeface="Arial"/>
                <a:cs typeface="Arial"/>
              </a:defRPr>
            </a:lvl1pPr>
            <a:lvl2pPr algn="ctr">
              <a:defRPr sz="1725">
                <a:solidFill>
                  <a:srgbClr val="23374D"/>
                </a:solidFill>
                <a:latin typeface="Arial"/>
                <a:ea typeface="Arial"/>
                <a:cs typeface="Arial"/>
              </a:defRPr>
            </a:lvl2pPr>
            <a:lvl3pPr algn="ctr">
              <a:defRPr sz="1725">
                <a:solidFill>
                  <a:srgbClr val="23374D"/>
                </a:solidFill>
                <a:latin typeface="Arial"/>
                <a:ea typeface="Arial"/>
                <a:cs typeface="Arial"/>
              </a:defRPr>
            </a:lvl3pPr>
            <a:lvl4pPr algn="ctr">
              <a:defRPr sz="1725">
                <a:solidFill>
                  <a:srgbClr val="23374D"/>
                </a:solidFill>
                <a:latin typeface="Arial"/>
                <a:ea typeface="Arial"/>
                <a:cs typeface="Arial"/>
              </a:defRPr>
            </a:lvl4pPr>
            <a:lvl5pPr algn="ctr">
              <a:defRPr sz="1725">
                <a:solidFill>
                  <a:srgbClr val="23374D"/>
                </a:solidFill>
                <a:latin typeface="Arial"/>
                <a:ea typeface="Arial"/>
                <a:cs typeface="Arial"/>
              </a:defRPr>
            </a:lvl5pPr>
            <a:lvl6pPr algn="ctr">
              <a:defRPr sz="1725">
                <a:solidFill>
                  <a:srgbClr val="23374D"/>
                </a:solidFill>
                <a:latin typeface="Arial"/>
                <a:ea typeface="Arial"/>
                <a:cs typeface="Arial"/>
              </a:defRPr>
            </a:lvl6pPr>
            <a:lvl7pPr algn="ctr">
              <a:defRPr sz="1725">
                <a:solidFill>
                  <a:srgbClr val="23374D"/>
                </a:solidFill>
                <a:latin typeface="Arial"/>
                <a:ea typeface="Arial"/>
                <a:cs typeface="Arial"/>
              </a:defRPr>
            </a:lvl7pPr>
            <a:lvl8pPr algn="ctr">
              <a:defRPr sz="1725">
                <a:solidFill>
                  <a:srgbClr val="23374D"/>
                </a:solidFill>
                <a:latin typeface="Arial"/>
                <a:ea typeface="Arial"/>
                <a:cs typeface="Arial"/>
              </a:defRPr>
            </a:lvl8pPr>
            <a:lvl9pPr algn="ctr">
              <a:defRPr sz="1725">
                <a:solidFill>
                  <a:srgbClr val="23374D"/>
                </a:solidFill>
                <a:latin typeface="Arial"/>
                <a:ea typeface="Arial"/>
                <a:cs typeface="Arial"/>
              </a:defRPr>
            </a:lvl9pPr>
          </a:lstStyle>
          <a:p xmlns:a="http://schemas.openxmlformats.org/drawingml/2006/main">
            <a:pPr algn="ctr">
              <a:defRPr sz="1725">
                <a:solidFill>
                  <a:srgbClr val="23374D"/>
                </a:solidFill>
                <a:latin typeface="Arial"/>
                <a:ea typeface="Arial"/>
                <a:cs typeface="Arial"/>
              </a:defRPr>
            </a:pPr>
            <a:r>
              <a:rPr sz="1725">
                <a:solidFill>
                  <a:srgbClr val="23374D"/>
                </a:solidFill>
                <a:latin typeface="Arial"/>
                <a:ea typeface="Arial"/>
                <a:cs typeface="Arial"/>
              </a:rPr>
              <a:t>Cypher: invoices</a:t>
            </a:r>
          </a:p>
          <a:p xmlns:a="http://schemas.openxmlformats.org/drawingml/2006/main">
            <a:pPr algn="ctr">
              <a:defRPr sz="1725">
                <a:solidFill>
                  <a:srgbClr val="23374D"/>
                </a:solidFill>
                <a:latin typeface="Arial"/>
                <a:ea typeface="Arial"/>
                <a:cs typeface="Arial"/>
              </a:defRPr>
            </a:pPr>
            <a:r>
              <a:rPr sz="1725">
                <a:solidFill>
                  <a:srgbClr val="23374D"/>
                </a:solidFill>
                <a:latin typeface="Arial"/>
                <a:ea typeface="Arial"/>
                <a:cs typeface="Arial"/>
              </a:rPr>
              <a:t>+ source rows</a:t>
            </a:r>
          </a:p>
        </p:txBody>
      </p:sp>
      <p:sp>
        <p:nvSpPr>
          <p:cNvPr id="7" name="">
            <a:extLst xmlns:a="http://schemas.openxmlformats.org/drawingml/2006/main">
              <a:ext uri="{FF2B5EF4-FFF2-40B4-BE49-F238E27FC236}">
                <a16:creationId xmlns:a16="http://schemas.microsoft.com/office/drawing/2014/main" id="{F695FF78-503F-4DBF-B167-31F9E9C671F2}"/>
              </a:ext>
            </a:extLst>
          </p:cNvPr>
          <p:cNvSpPr>
            <a:spLocks xmlns:a="http://schemas.openxmlformats.org/drawingml/2006/main" noGrp="1"/>
          </p:cNvSpPr>
          <p:nvPr/>
        </p:nvSpPr>
        <p:spPr>
          <a:xfrm xmlns:a="http://schemas.openxmlformats.org/drawingml/2006/main">
            <a:off x="9772650" y="2095500"/>
            <a:ext cx="1905000" cy="952500"/>
          </a:xfrm>
          <a:prstGeom xmlns:a="http://schemas.openxmlformats.org/drawingml/2006/main" prst="rect">
            <a:avLst/>
          </a:prstGeom>
          <a:solidFill xmlns:a="http://schemas.openxmlformats.org/drawingml/2006/main">
            <a:srgbClr val="E7F1F6"/>
          </a:solidFill>
          <a:ln xmlns:a="http://schemas.openxmlformats.org/drawingml/2006/main" w="9525">
            <a:solidFill>
              <a:srgbClr val="A7BDCC"/>
            </a:solidFill>
          </a:ln>
        </p:spPr>
        <p:txBody>
          <a:bodyPr xmlns:a="http://schemas.openxmlformats.org/drawingml/2006/main" anchor="ctr"/>
          <a:lstStyle xmlns:a="http://schemas.openxmlformats.org/drawingml/2006/main">
            <a:defPPr algn="ctr">
              <a:defRPr sz="1725">
                <a:solidFill>
                  <a:srgbClr val="23374D"/>
                </a:solidFill>
                <a:latin typeface="Arial"/>
                <a:ea typeface="Arial"/>
                <a:cs typeface="Arial"/>
              </a:defRPr>
            </a:defPPr>
            <a:lvl1pPr algn="ctr">
              <a:defRPr sz="1725">
                <a:solidFill>
                  <a:srgbClr val="23374D"/>
                </a:solidFill>
                <a:latin typeface="Arial"/>
                <a:ea typeface="Arial"/>
                <a:cs typeface="Arial"/>
              </a:defRPr>
            </a:lvl1pPr>
            <a:lvl2pPr algn="ctr">
              <a:defRPr sz="1725">
                <a:solidFill>
                  <a:srgbClr val="23374D"/>
                </a:solidFill>
                <a:latin typeface="Arial"/>
                <a:ea typeface="Arial"/>
                <a:cs typeface="Arial"/>
              </a:defRPr>
            </a:lvl2pPr>
            <a:lvl3pPr algn="ctr">
              <a:defRPr sz="1725">
                <a:solidFill>
                  <a:srgbClr val="23374D"/>
                </a:solidFill>
                <a:latin typeface="Arial"/>
                <a:ea typeface="Arial"/>
                <a:cs typeface="Arial"/>
              </a:defRPr>
            </a:lvl3pPr>
            <a:lvl4pPr algn="ctr">
              <a:defRPr sz="1725">
                <a:solidFill>
                  <a:srgbClr val="23374D"/>
                </a:solidFill>
                <a:latin typeface="Arial"/>
                <a:ea typeface="Arial"/>
                <a:cs typeface="Arial"/>
              </a:defRPr>
            </a:lvl4pPr>
            <a:lvl5pPr algn="ctr">
              <a:defRPr sz="1725">
                <a:solidFill>
                  <a:srgbClr val="23374D"/>
                </a:solidFill>
                <a:latin typeface="Arial"/>
                <a:ea typeface="Arial"/>
                <a:cs typeface="Arial"/>
              </a:defRPr>
            </a:lvl5pPr>
            <a:lvl6pPr algn="ctr">
              <a:defRPr sz="1725">
                <a:solidFill>
                  <a:srgbClr val="23374D"/>
                </a:solidFill>
                <a:latin typeface="Arial"/>
                <a:ea typeface="Arial"/>
                <a:cs typeface="Arial"/>
              </a:defRPr>
            </a:lvl6pPr>
            <a:lvl7pPr algn="ctr">
              <a:defRPr sz="1725">
                <a:solidFill>
                  <a:srgbClr val="23374D"/>
                </a:solidFill>
                <a:latin typeface="Arial"/>
                <a:ea typeface="Arial"/>
                <a:cs typeface="Arial"/>
              </a:defRPr>
            </a:lvl7pPr>
            <a:lvl8pPr algn="ctr">
              <a:defRPr sz="1725">
                <a:solidFill>
                  <a:srgbClr val="23374D"/>
                </a:solidFill>
                <a:latin typeface="Arial"/>
                <a:ea typeface="Arial"/>
                <a:cs typeface="Arial"/>
              </a:defRPr>
            </a:lvl8pPr>
            <a:lvl9pPr algn="ctr">
              <a:defRPr sz="1725">
                <a:solidFill>
                  <a:srgbClr val="23374D"/>
                </a:solidFill>
                <a:latin typeface="Arial"/>
                <a:ea typeface="Arial"/>
                <a:cs typeface="Arial"/>
              </a:defRPr>
            </a:lvl9pPr>
          </a:lstStyle>
          <a:p xmlns:a="http://schemas.openxmlformats.org/drawingml/2006/main">
            <a:pPr algn="ctr">
              <a:defRPr sz="1725">
                <a:solidFill>
                  <a:srgbClr val="23374D"/>
                </a:solidFill>
                <a:latin typeface="Arial"/>
                <a:ea typeface="Arial"/>
                <a:cs typeface="Arial"/>
              </a:defRPr>
            </a:pPr>
            <a:r>
              <a:rPr sz="1725">
                <a:solidFill>
                  <a:srgbClr val="23374D"/>
                </a:solidFill>
                <a:latin typeface="Arial"/>
                <a:ea typeface="Arial"/>
                <a:cs typeface="Arial"/>
              </a:rPr>
              <a:t>Local LLM +</a:t>
            </a:r>
          </a:p>
          <a:p xmlns:a="http://schemas.openxmlformats.org/drawingml/2006/main">
            <a:pPr algn="ctr">
              <a:defRPr sz="1725">
                <a:solidFill>
                  <a:srgbClr val="23374D"/>
                </a:solidFill>
                <a:latin typeface="Arial"/>
                <a:ea typeface="Arial"/>
                <a:cs typeface="Arial"/>
              </a:defRPr>
            </a:pPr>
            <a:r>
              <a:rPr sz="1725">
                <a:solidFill>
                  <a:srgbClr val="23374D"/>
                </a:solidFill>
                <a:latin typeface="Arial"/>
                <a:ea typeface="Arial"/>
                <a:cs typeface="Arial"/>
              </a:rPr>
              <a:t>human review</a:t>
            </a:r>
          </a:p>
        </p:txBody>
      </p:sp>
      <p:sp>
        <p:nvSpPr>
          <p:cNvPr id="12" name="">
            <a:extLst xmlns:a="http://schemas.openxmlformats.org/drawingml/2006/main">
              <a:ext uri="{FF2B5EF4-FFF2-40B4-BE49-F238E27FC236}">
                <a16:creationId xmlns:a16="http://schemas.microsoft.com/office/drawing/2014/main" id="{E4DE8179-028A-4D7B-AAB6-B6198984C631}"/>
              </a:ext>
            </a:extLst>
          </p:cNvPr>
          <p:cNvSpPr>
            <a:spLocks xmlns:a="http://schemas.openxmlformats.org/drawingml/2006/main" noGrp="1"/>
          </p:cNvSpPr>
          <p:nvPr/>
        </p:nvSpPr>
        <p:spPr>
          <a:xfrm xmlns:a="http://schemas.openxmlformats.org/drawingml/2006/main">
            <a:off x="523875" y="3857625"/>
            <a:ext cx="442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73B5E"/>
                </a:solidFill>
                <a:latin typeface="Arial"/>
                <a:ea typeface="Arial"/>
                <a:cs typeface="Arial"/>
              </a:defRPr>
            </a:defPPr>
            <a:lvl1pPr>
              <a:defRPr sz="1875" b="1">
                <a:solidFill>
                  <a:srgbClr val="173B5E"/>
                </a:solidFill>
                <a:latin typeface="Arial"/>
                <a:ea typeface="Arial"/>
                <a:cs typeface="Arial"/>
              </a:defRPr>
            </a:lvl1pPr>
            <a:lvl2pPr>
              <a:defRPr sz="1875" b="1">
                <a:solidFill>
                  <a:srgbClr val="173B5E"/>
                </a:solidFill>
                <a:latin typeface="Arial"/>
                <a:ea typeface="Arial"/>
                <a:cs typeface="Arial"/>
              </a:defRPr>
            </a:lvl2pPr>
            <a:lvl3pPr>
              <a:defRPr sz="1875" b="1">
                <a:solidFill>
                  <a:srgbClr val="173B5E"/>
                </a:solidFill>
                <a:latin typeface="Arial"/>
                <a:ea typeface="Arial"/>
                <a:cs typeface="Arial"/>
              </a:defRPr>
            </a:lvl3pPr>
            <a:lvl4pPr>
              <a:defRPr sz="1875" b="1">
                <a:solidFill>
                  <a:srgbClr val="173B5E"/>
                </a:solidFill>
                <a:latin typeface="Arial"/>
                <a:ea typeface="Arial"/>
                <a:cs typeface="Arial"/>
              </a:defRPr>
            </a:lvl4pPr>
            <a:lvl5pPr>
              <a:defRPr sz="1875" b="1">
                <a:solidFill>
                  <a:srgbClr val="173B5E"/>
                </a:solidFill>
                <a:latin typeface="Arial"/>
                <a:ea typeface="Arial"/>
                <a:cs typeface="Arial"/>
              </a:defRPr>
            </a:lvl5pPr>
            <a:lvl6pPr>
              <a:defRPr sz="1875" b="1">
                <a:solidFill>
                  <a:srgbClr val="173B5E"/>
                </a:solidFill>
                <a:latin typeface="Arial"/>
                <a:ea typeface="Arial"/>
                <a:cs typeface="Arial"/>
              </a:defRPr>
            </a:lvl6pPr>
            <a:lvl7pPr>
              <a:defRPr sz="1875" b="1">
                <a:solidFill>
                  <a:srgbClr val="173B5E"/>
                </a:solidFill>
                <a:latin typeface="Arial"/>
                <a:ea typeface="Arial"/>
                <a:cs typeface="Arial"/>
              </a:defRPr>
            </a:lvl7pPr>
            <a:lvl8pPr>
              <a:defRPr sz="1875" b="1">
                <a:solidFill>
                  <a:srgbClr val="173B5E"/>
                </a:solidFill>
                <a:latin typeface="Arial"/>
                <a:ea typeface="Arial"/>
                <a:cs typeface="Arial"/>
              </a:defRPr>
            </a:lvl8pPr>
            <a:lvl9pPr>
              <a:defRPr sz="1875" b="1">
                <a:solidFill>
                  <a:srgbClr val="173B5E"/>
                </a:solidFill>
                <a:latin typeface="Arial"/>
                <a:ea typeface="Arial"/>
                <a:cs typeface="Arial"/>
              </a:defRPr>
            </a:lvl9pPr>
          </a:lstStyle>
          <a:p xmlns:a="http://schemas.openxmlformats.org/drawingml/2006/main">
            <a:pPr>
              <a:defRPr sz="1875" b="1">
                <a:solidFill>
                  <a:srgbClr val="173B5E"/>
                </a:solidFill>
                <a:latin typeface="Arial"/>
                <a:ea typeface="Arial"/>
                <a:cs typeface="Arial"/>
              </a:defRPr>
            </a:pPr>
            <a:r>
              <a:rPr sz="1875" b="1">
                <a:solidFill>
                  <a:srgbClr val="173B5E"/>
                </a:solidFill>
                <a:latin typeface="Arial"/>
                <a:ea typeface="Arial"/>
                <a:cs typeface="Arial"/>
              </a:rPr>
              <a:t>Experiment implemented</a:t>
            </a:r>
          </a:p>
        </p:txBody>
      </p:sp>
      <p:sp>
        <p:nvSpPr>
          <p:cNvPr id="13" name="">
            <a:extLst xmlns:a="http://schemas.openxmlformats.org/drawingml/2006/main">
              <a:ext uri="{FF2B5EF4-FFF2-40B4-BE49-F238E27FC236}">
                <a16:creationId xmlns:a16="http://schemas.microsoft.com/office/drawing/2014/main" id="{97F389B4-43B3-4361-87B1-DEC04F5EA602}"/>
              </a:ext>
            </a:extLst>
          </p:cNvPr>
          <p:cNvSpPr>
            <a:spLocks xmlns:a="http://schemas.openxmlformats.org/drawingml/2006/main" noGrp="1"/>
          </p:cNvSpPr>
          <p:nvPr/>
        </p:nvSpPr>
        <p:spPr>
          <a:xfrm xmlns:a="http://schemas.openxmlformats.org/drawingml/2006/main">
            <a:off x="523875" y="4352925"/>
            <a:ext cx="4667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23374D"/>
                </a:solidFill>
                <a:latin typeface="Arial"/>
                <a:ea typeface="Arial"/>
                <a:cs typeface="Arial"/>
              </a:defRPr>
            </a:defPPr>
            <a:lvl1pPr>
              <a:defRPr sz="1725" b="0">
                <a:solidFill>
                  <a:srgbClr val="23374D"/>
                </a:solidFill>
                <a:latin typeface="Arial"/>
                <a:ea typeface="Arial"/>
                <a:cs typeface="Arial"/>
              </a:defRPr>
            </a:lvl1pPr>
            <a:lvl2pPr>
              <a:defRPr sz="1725" b="0">
                <a:solidFill>
                  <a:srgbClr val="23374D"/>
                </a:solidFill>
                <a:latin typeface="Arial"/>
                <a:ea typeface="Arial"/>
                <a:cs typeface="Arial"/>
              </a:defRPr>
            </a:lvl2pPr>
            <a:lvl3pPr>
              <a:defRPr sz="1725" b="0">
                <a:solidFill>
                  <a:srgbClr val="23374D"/>
                </a:solidFill>
                <a:latin typeface="Arial"/>
                <a:ea typeface="Arial"/>
                <a:cs typeface="Arial"/>
              </a:defRPr>
            </a:lvl3pPr>
            <a:lvl4pPr>
              <a:defRPr sz="1725" b="0">
                <a:solidFill>
                  <a:srgbClr val="23374D"/>
                </a:solidFill>
                <a:latin typeface="Arial"/>
                <a:ea typeface="Arial"/>
                <a:cs typeface="Arial"/>
              </a:defRPr>
            </a:lvl4pPr>
            <a:lvl5pPr>
              <a:defRPr sz="1725" b="0">
                <a:solidFill>
                  <a:srgbClr val="23374D"/>
                </a:solidFill>
                <a:latin typeface="Arial"/>
                <a:ea typeface="Arial"/>
                <a:cs typeface="Arial"/>
              </a:defRPr>
            </a:lvl5pPr>
            <a:lvl6pPr>
              <a:defRPr sz="1725" b="0">
                <a:solidFill>
                  <a:srgbClr val="23374D"/>
                </a:solidFill>
                <a:latin typeface="Arial"/>
                <a:ea typeface="Arial"/>
                <a:cs typeface="Arial"/>
              </a:defRPr>
            </a:lvl6pPr>
            <a:lvl7pPr>
              <a:defRPr sz="1725" b="0">
                <a:solidFill>
                  <a:srgbClr val="23374D"/>
                </a:solidFill>
                <a:latin typeface="Arial"/>
                <a:ea typeface="Arial"/>
                <a:cs typeface="Arial"/>
              </a:defRPr>
            </a:lvl7pPr>
            <a:lvl8pPr>
              <a:defRPr sz="1725" b="0">
                <a:solidFill>
                  <a:srgbClr val="23374D"/>
                </a:solidFill>
                <a:latin typeface="Arial"/>
                <a:ea typeface="Arial"/>
                <a:cs typeface="Arial"/>
              </a:defRPr>
            </a:lvl8pPr>
            <a:lvl9pPr>
              <a:defRPr sz="1725" b="0">
                <a:solidFill>
                  <a:srgbClr val="23374D"/>
                </a:solidFill>
                <a:latin typeface="Arial"/>
                <a:ea typeface="Arial"/>
                <a:cs typeface="Arial"/>
              </a:defRPr>
            </a:lvl9pPr>
          </a:lstStyle>
          <a:p xmlns:a="http://schemas.openxmlformats.org/drawingml/2006/main">
            <a:pPr>
              <a:defRPr sz="1725" b="0">
                <a:solidFill>
                  <a:srgbClr val="23374D"/>
                </a:solidFill>
                <a:latin typeface="Arial"/>
                <a:ea typeface="Arial"/>
                <a:cs typeface="Arial"/>
              </a:defRPr>
            </a:pPr>
            <a:r>
              <a:rPr sz="1725" b="0">
                <a:solidFill>
                  <a:srgbClr val="23374D"/>
                </a:solidFill>
                <a:latin typeface="Arial"/>
                <a:ea typeface="Arial"/>
                <a:cs typeface="Arial"/>
              </a:rPr>
              <a:t>Neo4j paths → fixed-weight embeddings → one candidate score</a:t>
            </a:r>
          </a:p>
        </p:txBody>
      </p:sp>
      <p:sp>
        <p:nvSpPr>
          <p:cNvPr id="14" name="">
            <a:extLst xmlns:a="http://schemas.openxmlformats.org/drawingml/2006/main">
              <a:ext uri="{FF2B5EF4-FFF2-40B4-BE49-F238E27FC236}">
                <a16:creationId xmlns:a16="http://schemas.microsoft.com/office/drawing/2014/main" id="{0E847B21-B03B-4DE3-B463-034B129AF20B}"/>
              </a:ext>
            </a:extLst>
          </p:cNvPr>
          <p:cNvSpPr>
            <a:spLocks xmlns:a="http://schemas.openxmlformats.org/drawingml/2006/main" noGrp="1"/>
          </p:cNvSpPr>
          <p:nvPr/>
        </p:nvSpPr>
        <p:spPr>
          <a:xfrm xmlns:a="http://schemas.openxmlformats.org/drawingml/2006/main">
            <a:off x="6334125" y="3857625"/>
            <a:ext cx="442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73B5E"/>
                </a:solidFill>
                <a:latin typeface="Arial"/>
                <a:ea typeface="Arial"/>
                <a:cs typeface="Arial"/>
              </a:defRPr>
            </a:defPPr>
            <a:lvl1pPr>
              <a:defRPr sz="1875" b="1">
                <a:solidFill>
                  <a:srgbClr val="173B5E"/>
                </a:solidFill>
                <a:latin typeface="Arial"/>
                <a:ea typeface="Arial"/>
                <a:cs typeface="Arial"/>
              </a:defRPr>
            </a:lvl1pPr>
            <a:lvl2pPr>
              <a:defRPr sz="1875" b="1">
                <a:solidFill>
                  <a:srgbClr val="173B5E"/>
                </a:solidFill>
                <a:latin typeface="Arial"/>
                <a:ea typeface="Arial"/>
                <a:cs typeface="Arial"/>
              </a:defRPr>
            </a:lvl2pPr>
            <a:lvl3pPr>
              <a:defRPr sz="1875" b="1">
                <a:solidFill>
                  <a:srgbClr val="173B5E"/>
                </a:solidFill>
                <a:latin typeface="Arial"/>
                <a:ea typeface="Arial"/>
                <a:cs typeface="Arial"/>
              </a:defRPr>
            </a:lvl3pPr>
            <a:lvl4pPr>
              <a:defRPr sz="1875" b="1">
                <a:solidFill>
                  <a:srgbClr val="173B5E"/>
                </a:solidFill>
                <a:latin typeface="Arial"/>
                <a:ea typeface="Arial"/>
                <a:cs typeface="Arial"/>
              </a:defRPr>
            </a:lvl4pPr>
            <a:lvl5pPr>
              <a:defRPr sz="1875" b="1">
                <a:solidFill>
                  <a:srgbClr val="173B5E"/>
                </a:solidFill>
                <a:latin typeface="Arial"/>
                <a:ea typeface="Arial"/>
                <a:cs typeface="Arial"/>
              </a:defRPr>
            </a:lvl5pPr>
            <a:lvl6pPr>
              <a:defRPr sz="1875" b="1">
                <a:solidFill>
                  <a:srgbClr val="173B5E"/>
                </a:solidFill>
                <a:latin typeface="Arial"/>
                <a:ea typeface="Arial"/>
                <a:cs typeface="Arial"/>
              </a:defRPr>
            </a:lvl6pPr>
            <a:lvl7pPr>
              <a:defRPr sz="1875" b="1">
                <a:solidFill>
                  <a:srgbClr val="173B5E"/>
                </a:solidFill>
                <a:latin typeface="Arial"/>
                <a:ea typeface="Arial"/>
                <a:cs typeface="Arial"/>
              </a:defRPr>
            </a:lvl7pPr>
            <a:lvl8pPr>
              <a:defRPr sz="1875" b="1">
                <a:solidFill>
                  <a:srgbClr val="173B5E"/>
                </a:solidFill>
                <a:latin typeface="Arial"/>
                <a:ea typeface="Arial"/>
                <a:cs typeface="Arial"/>
              </a:defRPr>
            </a:lvl8pPr>
            <a:lvl9pPr>
              <a:defRPr sz="1875" b="1">
                <a:solidFill>
                  <a:srgbClr val="173B5E"/>
                </a:solidFill>
                <a:latin typeface="Arial"/>
                <a:ea typeface="Arial"/>
                <a:cs typeface="Arial"/>
              </a:defRPr>
            </a:lvl9pPr>
          </a:lstStyle>
          <a:p xmlns:a="http://schemas.openxmlformats.org/drawingml/2006/main">
            <a:pPr>
              <a:defRPr sz="1875" b="1">
                <a:solidFill>
                  <a:srgbClr val="173B5E"/>
                </a:solidFill>
                <a:latin typeface="Arial"/>
                <a:ea typeface="Arial"/>
                <a:cs typeface="Arial"/>
              </a:defRPr>
            </a:pPr>
            <a:r>
              <a:rPr sz="1875" b="1">
                <a:solidFill>
                  <a:srgbClr val="173B5E"/>
                </a:solidFill>
                <a:latin typeface="Arial"/>
                <a:ea typeface="Arial"/>
                <a:cs typeface="Arial"/>
              </a:rPr>
              <a:t>Proposed next step</a:t>
            </a:r>
          </a:p>
        </p:txBody>
      </p:sp>
      <p:sp>
        <p:nvSpPr>
          <p:cNvPr id="15" name="">
            <a:extLst xmlns:a="http://schemas.openxmlformats.org/drawingml/2006/main">
              <a:ext uri="{FF2B5EF4-FFF2-40B4-BE49-F238E27FC236}">
                <a16:creationId xmlns:a16="http://schemas.microsoft.com/office/drawing/2014/main" id="{DCD55906-9796-450F-B7AB-069888FDFFAB}"/>
              </a:ext>
            </a:extLst>
          </p:cNvPr>
          <p:cNvSpPr>
            <a:spLocks xmlns:a="http://schemas.openxmlformats.org/drawingml/2006/main" noGrp="1"/>
          </p:cNvSpPr>
          <p:nvPr/>
        </p:nvSpPr>
        <p:spPr>
          <a:xfrm xmlns:a="http://schemas.openxmlformats.org/drawingml/2006/main">
            <a:off x="6334125" y="4352925"/>
            <a:ext cx="4810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23374D"/>
                </a:solidFill>
                <a:latin typeface="Arial"/>
                <a:ea typeface="Arial"/>
                <a:cs typeface="Arial"/>
              </a:defRPr>
            </a:defPPr>
            <a:lvl1pPr>
              <a:defRPr sz="1725" b="0">
                <a:solidFill>
                  <a:srgbClr val="23374D"/>
                </a:solidFill>
                <a:latin typeface="Arial"/>
                <a:ea typeface="Arial"/>
                <a:cs typeface="Arial"/>
              </a:defRPr>
            </a:lvl1pPr>
            <a:lvl2pPr>
              <a:defRPr sz="1725" b="0">
                <a:solidFill>
                  <a:srgbClr val="23374D"/>
                </a:solidFill>
                <a:latin typeface="Arial"/>
                <a:ea typeface="Arial"/>
                <a:cs typeface="Arial"/>
              </a:defRPr>
            </a:lvl2pPr>
            <a:lvl3pPr>
              <a:defRPr sz="1725" b="0">
                <a:solidFill>
                  <a:srgbClr val="23374D"/>
                </a:solidFill>
                <a:latin typeface="Arial"/>
                <a:ea typeface="Arial"/>
                <a:cs typeface="Arial"/>
              </a:defRPr>
            </a:lvl3pPr>
            <a:lvl4pPr>
              <a:defRPr sz="1725" b="0">
                <a:solidFill>
                  <a:srgbClr val="23374D"/>
                </a:solidFill>
                <a:latin typeface="Arial"/>
                <a:ea typeface="Arial"/>
                <a:cs typeface="Arial"/>
              </a:defRPr>
            </a:lvl4pPr>
            <a:lvl5pPr>
              <a:defRPr sz="1725" b="0">
                <a:solidFill>
                  <a:srgbClr val="23374D"/>
                </a:solidFill>
                <a:latin typeface="Arial"/>
                <a:ea typeface="Arial"/>
                <a:cs typeface="Arial"/>
              </a:defRPr>
            </a:lvl5pPr>
            <a:lvl6pPr>
              <a:defRPr sz="1725" b="0">
                <a:solidFill>
                  <a:srgbClr val="23374D"/>
                </a:solidFill>
                <a:latin typeface="Arial"/>
                <a:ea typeface="Arial"/>
                <a:cs typeface="Arial"/>
              </a:defRPr>
            </a:lvl6pPr>
            <a:lvl7pPr>
              <a:defRPr sz="1725" b="0">
                <a:solidFill>
                  <a:srgbClr val="23374D"/>
                </a:solidFill>
                <a:latin typeface="Arial"/>
                <a:ea typeface="Arial"/>
                <a:cs typeface="Arial"/>
              </a:defRPr>
            </a:lvl7pPr>
            <a:lvl8pPr>
              <a:defRPr sz="1725" b="0">
                <a:solidFill>
                  <a:srgbClr val="23374D"/>
                </a:solidFill>
                <a:latin typeface="Arial"/>
                <a:ea typeface="Arial"/>
                <a:cs typeface="Arial"/>
              </a:defRPr>
            </a:lvl8pPr>
            <a:lvl9pPr>
              <a:defRPr sz="1725" b="0">
                <a:solidFill>
                  <a:srgbClr val="23374D"/>
                </a:solidFill>
                <a:latin typeface="Arial"/>
                <a:ea typeface="Arial"/>
                <a:cs typeface="Arial"/>
              </a:defRPr>
            </a:lvl9pPr>
          </a:lstStyle>
          <a:p xmlns:a="http://schemas.openxmlformats.org/drawingml/2006/main">
            <a:pPr>
              <a:defRPr sz="1725" b="0">
                <a:solidFill>
                  <a:srgbClr val="23374D"/>
                </a:solidFill>
                <a:latin typeface="Arial"/>
                <a:ea typeface="Arial"/>
                <a:cs typeface="Arial"/>
              </a:defRPr>
            </a:pPr>
            <a:r>
              <a:rPr sz="1725" b="0">
                <a:solidFill>
                  <a:srgbClr val="23374D"/>
                </a:solidFill>
                <a:latin typeface="Arial"/>
                <a:ea typeface="Arial"/>
                <a:cs typeface="Arial"/>
              </a:rPr>
              <a:t>Train on more customers and test ranking; keep Cypher evidence and existing grounded answer checks.</a:t>
            </a:r>
          </a:p>
        </p:txBody>
      </p:sp>
    </p:spTree>
    <p:extLst>
      <p:ext uri="{BB962C8B-B14F-4D97-AF65-F5344CB8AC3E}">
        <p14:creationId xmlns:p14="http://schemas.microsoft.com/office/powerpoint/2010/main" val="27185870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9C46741-30F6-450E-926B-E7AAA292A68B}"/>
              </a:ext>
            </a:extLst>
          </p:cNvPr>
          <p:cNvSpPr>
            <a:spLocks xmlns:a="http://schemas.openxmlformats.org/drawingml/2006/main" noGrp="1"/>
          </p:cNvSpPr>
          <p:nvPr/>
        </p:nvSpPr>
        <p:spPr>
          <a:xfrm xmlns:a="http://schemas.openxmlformats.org/drawingml/2006/main">
            <a:off x="523875" y="32385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173B5E"/>
                </a:solidFill>
                <a:latin typeface="Arial"/>
                <a:ea typeface="Arial"/>
                <a:cs typeface="Arial"/>
              </a:defRPr>
            </a:defPPr>
            <a:lvl1pPr>
              <a:defRPr sz="2700" b="1">
                <a:solidFill>
                  <a:srgbClr val="173B5E"/>
                </a:solidFill>
                <a:latin typeface="Arial"/>
                <a:ea typeface="Arial"/>
                <a:cs typeface="Arial"/>
              </a:defRPr>
            </a:lvl1pPr>
            <a:lvl2pPr>
              <a:defRPr sz="2700" b="1">
                <a:solidFill>
                  <a:srgbClr val="173B5E"/>
                </a:solidFill>
                <a:latin typeface="Arial"/>
                <a:ea typeface="Arial"/>
                <a:cs typeface="Arial"/>
              </a:defRPr>
            </a:lvl2pPr>
            <a:lvl3pPr>
              <a:defRPr sz="2700" b="1">
                <a:solidFill>
                  <a:srgbClr val="173B5E"/>
                </a:solidFill>
                <a:latin typeface="Arial"/>
                <a:ea typeface="Arial"/>
                <a:cs typeface="Arial"/>
              </a:defRPr>
            </a:lvl3pPr>
            <a:lvl4pPr>
              <a:defRPr sz="2700" b="1">
                <a:solidFill>
                  <a:srgbClr val="173B5E"/>
                </a:solidFill>
                <a:latin typeface="Arial"/>
                <a:ea typeface="Arial"/>
                <a:cs typeface="Arial"/>
              </a:defRPr>
            </a:lvl4pPr>
            <a:lvl5pPr>
              <a:defRPr sz="2700" b="1">
                <a:solidFill>
                  <a:srgbClr val="173B5E"/>
                </a:solidFill>
                <a:latin typeface="Arial"/>
                <a:ea typeface="Arial"/>
                <a:cs typeface="Arial"/>
              </a:defRPr>
            </a:lvl5pPr>
            <a:lvl6pPr>
              <a:defRPr sz="2700" b="1">
                <a:solidFill>
                  <a:srgbClr val="173B5E"/>
                </a:solidFill>
                <a:latin typeface="Arial"/>
                <a:ea typeface="Arial"/>
                <a:cs typeface="Arial"/>
              </a:defRPr>
            </a:lvl6pPr>
            <a:lvl7pPr>
              <a:defRPr sz="2700" b="1">
                <a:solidFill>
                  <a:srgbClr val="173B5E"/>
                </a:solidFill>
                <a:latin typeface="Arial"/>
                <a:ea typeface="Arial"/>
                <a:cs typeface="Arial"/>
              </a:defRPr>
            </a:lvl7pPr>
            <a:lvl8pPr>
              <a:defRPr sz="2700" b="1">
                <a:solidFill>
                  <a:srgbClr val="173B5E"/>
                </a:solidFill>
                <a:latin typeface="Arial"/>
                <a:ea typeface="Arial"/>
                <a:cs typeface="Arial"/>
              </a:defRPr>
            </a:lvl8pPr>
            <a:lvl9pPr>
              <a:defRPr sz="2700" b="1">
                <a:solidFill>
                  <a:srgbClr val="173B5E"/>
                </a:solidFill>
                <a:latin typeface="Arial"/>
                <a:ea typeface="Arial"/>
                <a:cs typeface="Arial"/>
              </a:defRPr>
            </a:lvl9pPr>
          </a:lstStyle>
          <a:p xmlns:a="http://schemas.openxmlformats.org/drawingml/2006/main">
            <a:pPr>
              <a:defRPr sz="2700" b="1">
                <a:solidFill>
                  <a:srgbClr val="173B5E"/>
                </a:solidFill>
                <a:latin typeface="Arial"/>
                <a:ea typeface="Arial"/>
                <a:cs typeface="Arial"/>
              </a:defRPr>
            </a:pPr>
            <a:r>
              <a:rPr sz="2700" b="1">
                <a:solidFill>
                  <a:srgbClr val="173B5E"/>
                </a:solidFill>
                <a:latin typeface="Arial"/>
                <a:ea typeface="Arial"/>
                <a:cs typeface="Arial"/>
              </a:rPr>
              <a:t>Candidate ranking and edge-removal test</a:t>
            </a:r>
          </a:p>
        </p:txBody>
      </p:sp>
      <p:sp>
        <p:nvSpPr>
          <p:cNvPr id="2" name="">
            <a:extLst xmlns:a="http://schemas.openxmlformats.org/drawingml/2006/main">
              <a:ext uri="{FF2B5EF4-FFF2-40B4-BE49-F238E27FC236}">
                <a16:creationId xmlns:a16="http://schemas.microsoft.com/office/drawing/2014/main" id="{ED17A492-D540-44F3-BF90-46A23FF549A2}"/>
              </a:ext>
            </a:extLst>
          </p:cNvPr>
          <p:cNvSpPr>
            <a:spLocks xmlns:a="http://schemas.openxmlformats.org/drawingml/2006/main" noGrp="1"/>
          </p:cNvSpPr>
          <p:nvPr/>
        </p:nvSpPr>
        <p:spPr>
          <a:xfrm xmlns:a="http://schemas.openxmlformats.org/drawingml/2006/main">
            <a:off x="523875" y="6505575"/>
            <a:ext cx="11144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566E82"/>
                </a:solidFill>
                <a:latin typeface="Arial"/>
                <a:ea typeface="Arial"/>
                <a:cs typeface="Arial"/>
              </a:defRPr>
            </a:defPPr>
            <a:lvl1pPr>
              <a:defRPr sz="1050" b="0">
                <a:solidFill>
                  <a:srgbClr val="566E82"/>
                </a:solidFill>
                <a:latin typeface="Arial"/>
                <a:ea typeface="Arial"/>
                <a:cs typeface="Arial"/>
              </a:defRPr>
            </a:lvl1pPr>
            <a:lvl2pPr>
              <a:defRPr sz="1050" b="0">
                <a:solidFill>
                  <a:srgbClr val="566E82"/>
                </a:solidFill>
                <a:latin typeface="Arial"/>
                <a:ea typeface="Arial"/>
                <a:cs typeface="Arial"/>
              </a:defRPr>
            </a:lvl2pPr>
            <a:lvl3pPr>
              <a:defRPr sz="1050" b="0">
                <a:solidFill>
                  <a:srgbClr val="566E82"/>
                </a:solidFill>
                <a:latin typeface="Arial"/>
                <a:ea typeface="Arial"/>
                <a:cs typeface="Arial"/>
              </a:defRPr>
            </a:lvl3pPr>
            <a:lvl4pPr>
              <a:defRPr sz="1050" b="0">
                <a:solidFill>
                  <a:srgbClr val="566E82"/>
                </a:solidFill>
                <a:latin typeface="Arial"/>
                <a:ea typeface="Arial"/>
                <a:cs typeface="Arial"/>
              </a:defRPr>
            </a:lvl4pPr>
            <a:lvl5pPr>
              <a:defRPr sz="1050" b="0">
                <a:solidFill>
                  <a:srgbClr val="566E82"/>
                </a:solidFill>
                <a:latin typeface="Arial"/>
                <a:ea typeface="Arial"/>
                <a:cs typeface="Arial"/>
              </a:defRPr>
            </a:lvl5pPr>
            <a:lvl6pPr>
              <a:defRPr sz="1050" b="0">
                <a:solidFill>
                  <a:srgbClr val="566E82"/>
                </a:solidFill>
                <a:latin typeface="Arial"/>
                <a:ea typeface="Arial"/>
                <a:cs typeface="Arial"/>
              </a:defRPr>
            </a:lvl6pPr>
            <a:lvl7pPr>
              <a:defRPr sz="1050" b="0">
                <a:solidFill>
                  <a:srgbClr val="566E82"/>
                </a:solidFill>
                <a:latin typeface="Arial"/>
                <a:ea typeface="Arial"/>
                <a:cs typeface="Arial"/>
              </a:defRPr>
            </a:lvl7pPr>
            <a:lvl8pPr>
              <a:defRPr sz="1050" b="0">
                <a:solidFill>
                  <a:srgbClr val="566E82"/>
                </a:solidFill>
                <a:latin typeface="Arial"/>
                <a:ea typeface="Arial"/>
                <a:cs typeface="Arial"/>
              </a:defRPr>
            </a:lvl8pPr>
            <a:lvl9pPr>
              <a:defRPr sz="1050" b="0">
                <a:solidFill>
                  <a:srgbClr val="566E82"/>
                </a:solidFill>
                <a:latin typeface="Arial"/>
                <a:ea typeface="Arial"/>
                <a:cs typeface="Arial"/>
              </a:defRPr>
            </a:lvl9pPr>
          </a:lstStyle>
          <a:p xmlns:a="http://schemas.openxmlformats.org/drawingml/2006/main">
            <a:pPr>
              <a:defRPr sz="1050" b="0">
                <a:solidFill>
                  <a:srgbClr val="566E82"/>
                </a:solidFill>
                <a:latin typeface="Arial"/>
                <a:ea typeface="Arial"/>
                <a:cs typeface="Arial"/>
              </a:defRPr>
            </a:pPr>
            <a:r>
              <a:rPr sz="1050" b="0">
                <a:solidFill>
                  <a:srgbClr val="566E82"/>
                </a:solidFill>
                <a:latin typeface="Arial"/>
                <a:ea typeface="Arial"/>
                <a:cs typeface="Arial"/>
              </a:rPr>
              <a:t>Retail360  |  CS 5588 Challenge 3                                         7/10</a:t>
            </a:r>
          </a:p>
        </p:txBody>
      </p:sp>
      <p:sp>
        <p:nvSpPr>
          <p:cNvPr id="3" name="">
            <a:extLst xmlns:a="http://schemas.openxmlformats.org/drawingml/2006/main">
              <a:ext uri="{FF2B5EF4-FFF2-40B4-BE49-F238E27FC236}">
                <a16:creationId xmlns:a16="http://schemas.microsoft.com/office/drawing/2014/main" id="{DFA2F67C-5AFC-42C7-B157-6D1400A455E7}"/>
              </a:ext>
            </a:extLst>
          </p:cNvPr>
          <p:cNvSpPr>
            <a:spLocks xmlns:a="http://schemas.openxmlformats.org/drawingml/2006/main" noGrp="1"/>
          </p:cNvSpPr>
          <p:nvPr/>
        </p:nvSpPr>
        <p:spPr>
          <a:xfrm xmlns:a="http://schemas.openxmlformats.org/drawingml/2006/main">
            <a:off x="666750" y="1333500"/>
            <a:ext cx="10810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73B5E"/>
                </a:solidFill>
                <a:latin typeface="Arial"/>
                <a:ea typeface="Arial"/>
                <a:cs typeface="Arial"/>
              </a:defRPr>
            </a:defPPr>
            <a:lvl1pPr>
              <a:defRPr sz="2175" b="1">
                <a:solidFill>
                  <a:srgbClr val="173B5E"/>
                </a:solidFill>
                <a:latin typeface="Arial"/>
                <a:ea typeface="Arial"/>
                <a:cs typeface="Arial"/>
              </a:defRPr>
            </a:lvl1pPr>
            <a:lvl2pPr>
              <a:defRPr sz="2175" b="1">
                <a:solidFill>
                  <a:srgbClr val="173B5E"/>
                </a:solidFill>
                <a:latin typeface="Arial"/>
                <a:ea typeface="Arial"/>
                <a:cs typeface="Arial"/>
              </a:defRPr>
            </a:lvl2pPr>
            <a:lvl3pPr>
              <a:defRPr sz="2175" b="1">
                <a:solidFill>
                  <a:srgbClr val="173B5E"/>
                </a:solidFill>
                <a:latin typeface="Arial"/>
                <a:ea typeface="Arial"/>
                <a:cs typeface="Arial"/>
              </a:defRPr>
            </a:lvl3pPr>
            <a:lvl4pPr>
              <a:defRPr sz="2175" b="1">
                <a:solidFill>
                  <a:srgbClr val="173B5E"/>
                </a:solidFill>
                <a:latin typeface="Arial"/>
                <a:ea typeface="Arial"/>
                <a:cs typeface="Arial"/>
              </a:defRPr>
            </a:lvl4pPr>
            <a:lvl5pPr>
              <a:defRPr sz="2175" b="1">
                <a:solidFill>
                  <a:srgbClr val="173B5E"/>
                </a:solidFill>
                <a:latin typeface="Arial"/>
                <a:ea typeface="Arial"/>
                <a:cs typeface="Arial"/>
              </a:defRPr>
            </a:lvl5pPr>
            <a:lvl6pPr>
              <a:defRPr sz="2175" b="1">
                <a:solidFill>
                  <a:srgbClr val="173B5E"/>
                </a:solidFill>
                <a:latin typeface="Arial"/>
                <a:ea typeface="Arial"/>
                <a:cs typeface="Arial"/>
              </a:defRPr>
            </a:lvl6pPr>
            <a:lvl7pPr>
              <a:defRPr sz="2175" b="1">
                <a:solidFill>
                  <a:srgbClr val="173B5E"/>
                </a:solidFill>
                <a:latin typeface="Arial"/>
                <a:ea typeface="Arial"/>
                <a:cs typeface="Arial"/>
              </a:defRPr>
            </a:lvl7pPr>
            <a:lvl8pPr>
              <a:defRPr sz="2175" b="1">
                <a:solidFill>
                  <a:srgbClr val="173B5E"/>
                </a:solidFill>
                <a:latin typeface="Arial"/>
                <a:ea typeface="Arial"/>
                <a:cs typeface="Arial"/>
              </a:defRPr>
            </a:lvl8pPr>
            <a:lvl9pPr>
              <a:defRPr sz="2175" b="1">
                <a:solidFill>
                  <a:srgbClr val="173B5E"/>
                </a:solidFill>
                <a:latin typeface="Arial"/>
                <a:ea typeface="Arial"/>
                <a:cs typeface="Arial"/>
              </a:defRPr>
            </a:lvl9pPr>
          </a:lstStyle>
          <a:p xmlns:a="http://schemas.openxmlformats.org/drawingml/2006/main">
            <a:pPr>
              <a:defRPr sz="2175" b="1">
                <a:solidFill>
                  <a:srgbClr val="173B5E"/>
                </a:solidFill>
                <a:latin typeface="Arial"/>
                <a:ea typeface="Arial"/>
                <a:cs typeface="Arial"/>
              </a:defRPr>
            </a:pPr>
            <a:r>
              <a:rPr sz="2175" b="1">
                <a:solidFill>
                  <a:srgbClr val="173B5E"/>
                </a:solidFill>
                <a:latin typeface="Arial"/>
                <a:ea typeface="Arial"/>
                <a:cs typeface="Arial"/>
              </a:rPr>
              <a:t>Only one candidate pair exists in this graph</a:t>
            </a:r>
          </a:p>
        </p:txBody>
      </p:sp>
      <p:sp>
        <p:nvSpPr>
          <p:cNvPr id="4" name="">
            <a:extLst xmlns:a="http://schemas.openxmlformats.org/drawingml/2006/main">
              <a:ext uri="{FF2B5EF4-FFF2-40B4-BE49-F238E27FC236}">
                <a16:creationId xmlns:a16="http://schemas.microsoft.com/office/drawing/2014/main" id="{42BA6328-65A4-4C43-AFC8-31FA6582ED7F}"/>
              </a:ext>
            </a:extLst>
          </p:cNvPr>
          <p:cNvSpPr>
            <a:spLocks xmlns:a="http://schemas.openxmlformats.org/drawingml/2006/main" noGrp="1"/>
          </p:cNvSpPr>
          <p:nvPr/>
        </p:nvSpPr>
        <p:spPr>
          <a:xfrm xmlns:a="http://schemas.openxmlformats.org/drawingml/2006/main">
            <a:off x="666750" y="209550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3374D"/>
                </a:solidFill>
                <a:latin typeface="Arial"/>
                <a:ea typeface="Arial"/>
                <a:cs typeface="Arial"/>
              </a:defRPr>
            </a:defPPr>
            <a:lvl1pPr>
              <a:defRPr sz="1875" b="1">
                <a:solidFill>
                  <a:srgbClr val="23374D"/>
                </a:solidFill>
                <a:latin typeface="Arial"/>
                <a:ea typeface="Arial"/>
                <a:cs typeface="Arial"/>
              </a:defRPr>
            </a:lvl1pPr>
            <a:lvl2pPr>
              <a:defRPr sz="1875" b="1">
                <a:solidFill>
                  <a:srgbClr val="23374D"/>
                </a:solidFill>
                <a:latin typeface="Arial"/>
                <a:ea typeface="Arial"/>
                <a:cs typeface="Arial"/>
              </a:defRPr>
            </a:lvl2pPr>
            <a:lvl3pPr>
              <a:defRPr sz="1875" b="1">
                <a:solidFill>
                  <a:srgbClr val="23374D"/>
                </a:solidFill>
                <a:latin typeface="Arial"/>
                <a:ea typeface="Arial"/>
                <a:cs typeface="Arial"/>
              </a:defRPr>
            </a:lvl3pPr>
            <a:lvl4pPr>
              <a:defRPr sz="1875" b="1">
                <a:solidFill>
                  <a:srgbClr val="23374D"/>
                </a:solidFill>
                <a:latin typeface="Arial"/>
                <a:ea typeface="Arial"/>
                <a:cs typeface="Arial"/>
              </a:defRPr>
            </a:lvl4pPr>
            <a:lvl5pPr>
              <a:defRPr sz="1875" b="1">
                <a:solidFill>
                  <a:srgbClr val="23374D"/>
                </a:solidFill>
                <a:latin typeface="Arial"/>
                <a:ea typeface="Arial"/>
                <a:cs typeface="Arial"/>
              </a:defRPr>
            </a:lvl5pPr>
            <a:lvl6pPr>
              <a:defRPr sz="1875" b="1">
                <a:solidFill>
                  <a:srgbClr val="23374D"/>
                </a:solidFill>
                <a:latin typeface="Arial"/>
                <a:ea typeface="Arial"/>
                <a:cs typeface="Arial"/>
              </a:defRPr>
            </a:lvl6pPr>
            <a:lvl7pPr>
              <a:defRPr sz="1875" b="1">
                <a:solidFill>
                  <a:srgbClr val="23374D"/>
                </a:solidFill>
                <a:latin typeface="Arial"/>
                <a:ea typeface="Arial"/>
                <a:cs typeface="Arial"/>
              </a:defRPr>
            </a:lvl7pPr>
            <a:lvl8pPr>
              <a:defRPr sz="1875" b="1">
                <a:solidFill>
                  <a:srgbClr val="23374D"/>
                </a:solidFill>
                <a:latin typeface="Arial"/>
                <a:ea typeface="Arial"/>
                <a:cs typeface="Arial"/>
              </a:defRPr>
            </a:lvl8pPr>
            <a:lvl9pPr>
              <a:defRPr sz="1875" b="1">
                <a:solidFill>
                  <a:srgbClr val="23374D"/>
                </a:solidFill>
                <a:latin typeface="Arial"/>
                <a:ea typeface="Arial"/>
                <a:cs typeface="Arial"/>
              </a:defRPr>
            </a:lvl9pPr>
          </a:lstStyle>
          <a:p xmlns:a="http://schemas.openxmlformats.org/drawingml/2006/main">
            <a:pPr>
              <a:defRPr sz="1875" b="1">
                <a:solidFill>
                  <a:srgbClr val="23374D"/>
                </a:solidFill>
                <a:latin typeface="Arial"/>
                <a:ea typeface="Arial"/>
                <a:cs typeface="Arial"/>
              </a:defRPr>
            </a:pPr>
            <a:r>
              <a:rPr sz="1875" b="1">
                <a:solidFill>
                  <a:srgbClr val="23374D"/>
                </a:solidFill>
                <a:latin typeface="Arial"/>
                <a:ea typeface="Arial"/>
                <a:cs typeface="Arial"/>
              </a:rPr>
              <a:t>Customer 12347 vs 13085</a:t>
            </a:r>
          </a:p>
        </p:txBody>
      </p:sp>
      <p:sp>
        <p:nvSpPr>
          <p:cNvPr id="5" name="">
            <a:extLst xmlns:a="http://schemas.openxmlformats.org/drawingml/2006/main">
              <a:ext uri="{FF2B5EF4-FFF2-40B4-BE49-F238E27FC236}">
                <a16:creationId xmlns:a16="http://schemas.microsoft.com/office/drawing/2014/main" id="{048D370C-D90E-4FD3-8445-4CFA1CDBFC6B}"/>
              </a:ext>
            </a:extLst>
          </p:cNvPr>
          <p:cNvSpPr>
            <a:spLocks xmlns:a="http://schemas.openxmlformats.org/drawingml/2006/main" noGrp="1"/>
          </p:cNvSpPr>
          <p:nvPr/>
        </p:nvSpPr>
        <p:spPr>
          <a:xfrm xmlns:a="http://schemas.openxmlformats.org/drawingml/2006/main">
            <a:off x="666750" y="2686050"/>
            <a:ext cx="5095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3374D"/>
                </a:solidFill>
                <a:latin typeface="Arial"/>
                <a:ea typeface="Arial"/>
                <a:cs typeface="Arial"/>
              </a:defRPr>
            </a:defPPr>
            <a:lvl1pPr>
              <a:defRPr sz="1800" b="0">
                <a:solidFill>
                  <a:srgbClr val="23374D"/>
                </a:solidFill>
                <a:latin typeface="Arial"/>
                <a:ea typeface="Arial"/>
                <a:cs typeface="Arial"/>
              </a:defRPr>
            </a:lvl1pPr>
            <a:lvl2pPr>
              <a:defRPr sz="1800" b="0">
                <a:solidFill>
                  <a:srgbClr val="23374D"/>
                </a:solidFill>
                <a:latin typeface="Arial"/>
                <a:ea typeface="Arial"/>
                <a:cs typeface="Arial"/>
              </a:defRPr>
            </a:lvl2pPr>
            <a:lvl3pPr>
              <a:defRPr sz="1800" b="0">
                <a:solidFill>
                  <a:srgbClr val="23374D"/>
                </a:solidFill>
                <a:latin typeface="Arial"/>
                <a:ea typeface="Arial"/>
                <a:cs typeface="Arial"/>
              </a:defRPr>
            </a:lvl3pPr>
            <a:lvl4pPr>
              <a:defRPr sz="1800" b="0">
                <a:solidFill>
                  <a:srgbClr val="23374D"/>
                </a:solidFill>
                <a:latin typeface="Arial"/>
                <a:ea typeface="Arial"/>
                <a:cs typeface="Arial"/>
              </a:defRPr>
            </a:lvl4pPr>
            <a:lvl5pPr>
              <a:defRPr sz="1800" b="0">
                <a:solidFill>
                  <a:srgbClr val="23374D"/>
                </a:solidFill>
                <a:latin typeface="Arial"/>
                <a:ea typeface="Arial"/>
                <a:cs typeface="Arial"/>
              </a:defRPr>
            </a:lvl5pPr>
            <a:lvl6pPr>
              <a:defRPr sz="1800" b="0">
                <a:solidFill>
                  <a:srgbClr val="23374D"/>
                </a:solidFill>
                <a:latin typeface="Arial"/>
                <a:ea typeface="Arial"/>
                <a:cs typeface="Arial"/>
              </a:defRPr>
            </a:lvl6pPr>
            <a:lvl7pPr>
              <a:defRPr sz="1800" b="0">
                <a:solidFill>
                  <a:srgbClr val="23374D"/>
                </a:solidFill>
                <a:latin typeface="Arial"/>
                <a:ea typeface="Arial"/>
                <a:cs typeface="Arial"/>
              </a:defRPr>
            </a:lvl7pPr>
            <a:lvl8pPr>
              <a:defRPr sz="1800" b="0">
                <a:solidFill>
                  <a:srgbClr val="23374D"/>
                </a:solidFill>
                <a:latin typeface="Arial"/>
                <a:ea typeface="Arial"/>
                <a:cs typeface="Arial"/>
              </a:defRPr>
            </a:lvl8pPr>
            <a:lvl9pPr>
              <a:defRPr sz="1800" b="0">
                <a:solidFill>
                  <a:srgbClr val="23374D"/>
                </a:solidFill>
                <a:latin typeface="Arial"/>
                <a:ea typeface="Arial"/>
                <a:cs typeface="Arial"/>
              </a:defRPr>
            </a:lvl9pPr>
          </a:lstStyle>
          <a:p xmlns:a="http://schemas.openxmlformats.org/drawingml/2006/main">
            <a:pPr>
              <a:defRPr sz="1800" b="0">
                <a:solidFill>
                  <a:srgbClr val="23374D"/>
                </a:solidFill>
                <a:latin typeface="Arial"/>
                <a:ea typeface="Arial"/>
                <a:cs typeface="Arial"/>
              </a:defRPr>
            </a:pPr>
            <a:r>
              <a:rPr sz="1800" b="0">
                <a:solidFill>
                  <a:srgbClr val="23374D"/>
                </a:solidFill>
                <a:latin typeface="Arial"/>
                <a:ea typeface="Arial"/>
                <a:cs typeface="Arial"/>
              </a:rPr>
              <a:t>Shared products</a:t>
            </a:r>
          </a:p>
        </p:txBody>
      </p:sp>
      <p:sp>
        <p:nvSpPr>
          <p:cNvPr id="6" name="">
            <a:extLst xmlns:a="http://schemas.openxmlformats.org/drawingml/2006/main">
              <a:ext uri="{FF2B5EF4-FFF2-40B4-BE49-F238E27FC236}">
                <a16:creationId xmlns:a16="http://schemas.microsoft.com/office/drawing/2014/main" id="{95EAE878-B70C-4284-AB22-30BB6788C648}"/>
              </a:ext>
            </a:extLst>
          </p:cNvPr>
          <p:cNvSpPr>
            <a:spLocks xmlns:a="http://schemas.openxmlformats.org/drawingml/2006/main" noGrp="1"/>
          </p:cNvSpPr>
          <p:nvPr/>
        </p:nvSpPr>
        <p:spPr>
          <a:xfrm xmlns:a="http://schemas.openxmlformats.org/drawingml/2006/main">
            <a:off x="6381750" y="2686050"/>
            <a:ext cx="4619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73B5E"/>
                </a:solidFill>
                <a:latin typeface="Arial"/>
                <a:ea typeface="Arial"/>
                <a:cs typeface="Arial"/>
              </a:defRPr>
            </a:defPPr>
            <a:lvl1pPr>
              <a:defRPr sz="1800" b="1">
                <a:solidFill>
                  <a:srgbClr val="173B5E"/>
                </a:solidFill>
                <a:latin typeface="Arial"/>
                <a:ea typeface="Arial"/>
                <a:cs typeface="Arial"/>
              </a:defRPr>
            </a:lvl1pPr>
            <a:lvl2pPr>
              <a:defRPr sz="1800" b="1">
                <a:solidFill>
                  <a:srgbClr val="173B5E"/>
                </a:solidFill>
                <a:latin typeface="Arial"/>
                <a:ea typeface="Arial"/>
                <a:cs typeface="Arial"/>
              </a:defRPr>
            </a:lvl2pPr>
            <a:lvl3pPr>
              <a:defRPr sz="1800" b="1">
                <a:solidFill>
                  <a:srgbClr val="173B5E"/>
                </a:solidFill>
                <a:latin typeface="Arial"/>
                <a:ea typeface="Arial"/>
                <a:cs typeface="Arial"/>
              </a:defRPr>
            </a:lvl3pPr>
            <a:lvl4pPr>
              <a:defRPr sz="1800" b="1">
                <a:solidFill>
                  <a:srgbClr val="173B5E"/>
                </a:solidFill>
                <a:latin typeface="Arial"/>
                <a:ea typeface="Arial"/>
                <a:cs typeface="Arial"/>
              </a:defRPr>
            </a:lvl4pPr>
            <a:lvl5pPr>
              <a:defRPr sz="1800" b="1">
                <a:solidFill>
                  <a:srgbClr val="173B5E"/>
                </a:solidFill>
                <a:latin typeface="Arial"/>
                <a:ea typeface="Arial"/>
                <a:cs typeface="Arial"/>
              </a:defRPr>
            </a:lvl5pPr>
            <a:lvl6pPr>
              <a:defRPr sz="1800" b="1">
                <a:solidFill>
                  <a:srgbClr val="173B5E"/>
                </a:solidFill>
                <a:latin typeface="Arial"/>
                <a:ea typeface="Arial"/>
                <a:cs typeface="Arial"/>
              </a:defRPr>
            </a:lvl6pPr>
            <a:lvl7pPr>
              <a:defRPr sz="1800" b="1">
                <a:solidFill>
                  <a:srgbClr val="173B5E"/>
                </a:solidFill>
                <a:latin typeface="Arial"/>
                <a:ea typeface="Arial"/>
                <a:cs typeface="Arial"/>
              </a:defRPr>
            </a:lvl7pPr>
            <a:lvl8pPr>
              <a:defRPr sz="1800" b="1">
                <a:solidFill>
                  <a:srgbClr val="173B5E"/>
                </a:solidFill>
                <a:latin typeface="Arial"/>
                <a:ea typeface="Arial"/>
                <a:cs typeface="Arial"/>
              </a:defRPr>
            </a:lvl8pPr>
            <a:lvl9pPr>
              <a:defRPr sz="1800" b="1">
                <a:solidFill>
                  <a:srgbClr val="173B5E"/>
                </a:solidFill>
                <a:latin typeface="Arial"/>
                <a:ea typeface="Arial"/>
                <a:cs typeface="Arial"/>
              </a:defRPr>
            </a:lvl9pPr>
          </a:lstStyle>
          <a:p xmlns:a="http://schemas.openxmlformats.org/drawingml/2006/main">
            <a:pPr>
              <a:defRPr sz="1800" b="1">
                <a:solidFill>
                  <a:srgbClr val="173B5E"/>
                </a:solidFill>
                <a:latin typeface="Arial"/>
                <a:ea typeface="Arial"/>
                <a:cs typeface="Arial"/>
              </a:defRPr>
            </a:pPr>
            <a:r>
              <a:rPr sz="1800" b="1">
                <a:solidFill>
                  <a:srgbClr val="173B5E"/>
                </a:solidFill>
                <a:latin typeface="Arial"/>
                <a:ea typeface="Arial"/>
                <a:cs typeface="Arial"/>
              </a:rPr>
              <a:t>1 of 58 unique products</a:t>
            </a:r>
          </a:p>
        </p:txBody>
      </p:sp>
      <p:sp>
        <p:nvSpPr>
          <p:cNvPr id="7" name="">
            <a:extLst xmlns:a="http://schemas.openxmlformats.org/drawingml/2006/main">
              <a:ext uri="{FF2B5EF4-FFF2-40B4-BE49-F238E27FC236}">
                <a16:creationId xmlns:a16="http://schemas.microsoft.com/office/drawing/2014/main" id="{B442F519-C638-4245-8A28-BDD9519A7387}"/>
              </a:ext>
            </a:extLst>
          </p:cNvPr>
          <p:cNvSpPr>
            <a:spLocks xmlns:a="http://schemas.openxmlformats.org/drawingml/2006/main" noGrp="1"/>
          </p:cNvSpPr>
          <p:nvPr/>
        </p:nvSpPr>
        <p:spPr>
          <a:xfrm xmlns:a="http://schemas.openxmlformats.org/drawingml/2006/main">
            <a:off x="666750" y="3209925"/>
            <a:ext cx="5095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3374D"/>
                </a:solidFill>
                <a:latin typeface="Arial"/>
                <a:ea typeface="Arial"/>
                <a:cs typeface="Arial"/>
              </a:defRPr>
            </a:defPPr>
            <a:lvl1pPr>
              <a:defRPr sz="1800" b="0">
                <a:solidFill>
                  <a:srgbClr val="23374D"/>
                </a:solidFill>
                <a:latin typeface="Arial"/>
                <a:ea typeface="Arial"/>
                <a:cs typeface="Arial"/>
              </a:defRPr>
            </a:lvl1pPr>
            <a:lvl2pPr>
              <a:defRPr sz="1800" b="0">
                <a:solidFill>
                  <a:srgbClr val="23374D"/>
                </a:solidFill>
                <a:latin typeface="Arial"/>
                <a:ea typeface="Arial"/>
                <a:cs typeface="Arial"/>
              </a:defRPr>
            </a:lvl2pPr>
            <a:lvl3pPr>
              <a:defRPr sz="1800" b="0">
                <a:solidFill>
                  <a:srgbClr val="23374D"/>
                </a:solidFill>
                <a:latin typeface="Arial"/>
                <a:ea typeface="Arial"/>
                <a:cs typeface="Arial"/>
              </a:defRPr>
            </a:lvl3pPr>
            <a:lvl4pPr>
              <a:defRPr sz="1800" b="0">
                <a:solidFill>
                  <a:srgbClr val="23374D"/>
                </a:solidFill>
                <a:latin typeface="Arial"/>
                <a:ea typeface="Arial"/>
                <a:cs typeface="Arial"/>
              </a:defRPr>
            </a:lvl4pPr>
            <a:lvl5pPr>
              <a:defRPr sz="1800" b="0">
                <a:solidFill>
                  <a:srgbClr val="23374D"/>
                </a:solidFill>
                <a:latin typeface="Arial"/>
                <a:ea typeface="Arial"/>
                <a:cs typeface="Arial"/>
              </a:defRPr>
            </a:lvl5pPr>
            <a:lvl6pPr>
              <a:defRPr sz="1800" b="0">
                <a:solidFill>
                  <a:srgbClr val="23374D"/>
                </a:solidFill>
                <a:latin typeface="Arial"/>
                <a:ea typeface="Arial"/>
                <a:cs typeface="Arial"/>
              </a:defRPr>
            </a:lvl6pPr>
            <a:lvl7pPr>
              <a:defRPr sz="1800" b="0">
                <a:solidFill>
                  <a:srgbClr val="23374D"/>
                </a:solidFill>
                <a:latin typeface="Arial"/>
                <a:ea typeface="Arial"/>
                <a:cs typeface="Arial"/>
              </a:defRPr>
            </a:lvl7pPr>
            <a:lvl8pPr>
              <a:defRPr sz="1800" b="0">
                <a:solidFill>
                  <a:srgbClr val="23374D"/>
                </a:solidFill>
                <a:latin typeface="Arial"/>
                <a:ea typeface="Arial"/>
                <a:cs typeface="Arial"/>
              </a:defRPr>
            </a:lvl8pPr>
            <a:lvl9pPr>
              <a:defRPr sz="1800" b="0">
                <a:solidFill>
                  <a:srgbClr val="23374D"/>
                </a:solidFill>
                <a:latin typeface="Arial"/>
                <a:ea typeface="Arial"/>
                <a:cs typeface="Arial"/>
              </a:defRPr>
            </a:lvl9pPr>
          </a:lstStyle>
          <a:p xmlns:a="http://schemas.openxmlformats.org/drawingml/2006/main">
            <a:pPr>
              <a:defRPr sz="1800" b="0">
                <a:solidFill>
                  <a:srgbClr val="23374D"/>
                </a:solidFill>
                <a:latin typeface="Arial"/>
                <a:ea typeface="Arial"/>
                <a:cs typeface="Arial"/>
              </a:defRPr>
            </a:pPr>
            <a:r>
              <a:rPr sz="1800" b="0">
                <a:solidFill>
                  <a:srgbClr val="23374D"/>
                </a:solidFill>
                <a:latin typeface="Arial"/>
                <a:ea typeface="Arial"/>
                <a:cs typeface="Arial"/>
              </a:rPr>
              <a:t>Jaccard baseline</a:t>
            </a:r>
          </a:p>
        </p:txBody>
      </p:sp>
      <p:sp>
        <p:nvSpPr>
          <p:cNvPr id="8" name="">
            <a:extLst xmlns:a="http://schemas.openxmlformats.org/drawingml/2006/main">
              <a:ext uri="{FF2B5EF4-FFF2-40B4-BE49-F238E27FC236}">
                <a16:creationId xmlns:a16="http://schemas.microsoft.com/office/drawing/2014/main" id="{0B118401-308D-42D2-8CAE-CCB16D1AF9E7}"/>
              </a:ext>
            </a:extLst>
          </p:cNvPr>
          <p:cNvSpPr>
            <a:spLocks xmlns:a="http://schemas.openxmlformats.org/drawingml/2006/main" noGrp="1"/>
          </p:cNvSpPr>
          <p:nvPr/>
        </p:nvSpPr>
        <p:spPr>
          <a:xfrm xmlns:a="http://schemas.openxmlformats.org/drawingml/2006/main">
            <a:off x="6381750" y="3209925"/>
            <a:ext cx="4619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73B5E"/>
                </a:solidFill>
                <a:latin typeface="Arial"/>
                <a:ea typeface="Arial"/>
                <a:cs typeface="Arial"/>
              </a:defRPr>
            </a:defPPr>
            <a:lvl1pPr>
              <a:defRPr sz="1800" b="1">
                <a:solidFill>
                  <a:srgbClr val="173B5E"/>
                </a:solidFill>
                <a:latin typeface="Arial"/>
                <a:ea typeface="Arial"/>
                <a:cs typeface="Arial"/>
              </a:defRPr>
            </a:lvl1pPr>
            <a:lvl2pPr>
              <a:defRPr sz="1800" b="1">
                <a:solidFill>
                  <a:srgbClr val="173B5E"/>
                </a:solidFill>
                <a:latin typeface="Arial"/>
                <a:ea typeface="Arial"/>
                <a:cs typeface="Arial"/>
              </a:defRPr>
            </a:lvl2pPr>
            <a:lvl3pPr>
              <a:defRPr sz="1800" b="1">
                <a:solidFill>
                  <a:srgbClr val="173B5E"/>
                </a:solidFill>
                <a:latin typeface="Arial"/>
                <a:ea typeface="Arial"/>
                <a:cs typeface="Arial"/>
              </a:defRPr>
            </a:lvl3pPr>
            <a:lvl4pPr>
              <a:defRPr sz="1800" b="1">
                <a:solidFill>
                  <a:srgbClr val="173B5E"/>
                </a:solidFill>
                <a:latin typeface="Arial"/>
                <a:ea typeface="Arial"/>
                <a:cs typeface="Arial"/>
              </a:defRPr>
            </a:lvl4pPr>
            <a:lvl5pPr>
              <a:defRPr sz="1800" b="1">
                <a:solidFill>
                  <a:srgbClr val="173B5E"/>
                </a:solidFill>
                <a:latin typeface="Arial"/>
                <a:ea typeface="Arial"/>
                <a:cs typeface="Arial"/>
              </a:defRPr>
            </a:lvl5pPr>
            <a:lvl6pPr>
              <a:defRPr sz="1800" b="1">
                <a:solidFill>
                  <a:srgbClr val="173B5E"/>
                </a:solidFill>
                <a:latin typeface="Arial"/>
                <a:ea typeface="Arial"/>
                <a:cs typeface="Arial"/>
              </a:defRPr>
            </a:lvl6pPr>
            <a:lvl7pPr>
              <a:defRPr sz="1800" b="1">
                <a:solidFill>
                  <a:srgbClr val="173B5E"/>
                </a:solidFill>
                <a:latin typeface="Arial"/>
                <a:ea typeface="Arial"/>
                <a:cs typeface="Arial"/>
              </a:defRPr>
            </a:lvl7pPr>
            <a:lvl8pPr>
              <a:defRPr sz="1800" b="1">
                <a:solidFill>
                  <a:srgbClr val="173B5E"/>
                </a:solidFill>
                <a:latin typeface="Arial"/>
                <a:ea typeface="Arial"/>
                <a:cs typeface="Arial"/>
              </a:defRPr>
            </a:lvl8pPr>
            <a:lvl9pPr>
              <a:defRPr sz="1800" b="1">
                <a:solidFill>
                  <a:srgbClr val="173B5E"/>
                </a:solidFill>
                <a:latin typeface="Arial"/>
                <a:ea typeface="Arial"/>
                <a:cs typeface="Arial"/>
              </a:defRPr>
            </a:lvl9pPr>
          </a:lstStyle>
          <a:p xmlns:a="http://schemas.openxmlformats.org/drawingml/2006/main">
            <a:pPr>
              <a:defRPr sz="1800" b="1">
                <a:solidFill>
                  <a:srgbClr val="173B5E"/>
                </a:solidFill>
                <a:latin typeface="Arial"/>
                <a:ea typeface="Arial"/>
                <a:cs typeface="Arial"/>
              </a:defRPr>
            </a:pPr>
            <a:r>
              <a:rPr sz="1800" b="1">
                <a:solidFill>
                  <a:srgbClr val="173B5E"/>
                </a:solidFill>
                <a:latin typeface="Arial"/>
                <a:ea typeface="Arial"/>
                <a:cs typeface="Arial"/>
              </a:rPr>
              <a:t>0.017241</a:t>
            </a:r>
          </a:p>
        </p:txBody>
      </p:sp>
      <p:sp>
        <p:nvSpPr>
          <p:cNvPr id="9" name="">
            <a:extLst xmlns:a="http://schemas.openxmlformats.org/drawingml/2006/main">
              <a:ext uri="{FF2B5EF4-FFF2-40B4-BE49-F238E27FC236}">
                <a16:creationId xmlns:a16="http://schemas.microsoft.com/office/drawing/2014/main" id="{D4609F76-3485-41D4-999B-4801A4B626F6}"/>
              </a:ext>
            </a:extLst>
          </p:cNvPr>
          <p:cNvSpPr>
            <a:spLocks xmlns:a="http://schemas.openxmlformats.org/drawingml/2006/main" noGrp="1"/>
          </p:cNvSpPr>
          <p:nvPr/>
        </p:nvSpPr>
        <p:spPr>
          <a:xfrm xmlns:a="http://schemas.openxmlformats.org/drawingml/2006/main">
            <a:off x="666750" y="3733800"/>
            <a:ext cx="5095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3374D"/>
                </a:solidFill>
                <a:latin typeface="Arial"/>
                <a:ea typeface="Arial"/>
                <a:cs typeface="Arial"/>
              </a:defRPr>
            </a:defPPr>
            <a:lvl1pPr>
              <a:defRPr sz="1800" b="0">
                <a:solidFill>
                  <a:srgbClr val="23374D"/>
                </a:solidFill>
                <a:latin typeface="Arial"/>
                <a:ea typeface="Arial"/>
                <a:cs typeface="Arial"/>
              </a:defRPr>
            </a:lvl1pPr>
            <a:lvl2pPr>
              <a:defRPr sz="1800" b="0">
                <a:solidFill>
                  <a:srgbClr val="23374D"/>
                </a:solidFill>
                <a:latin typeface="Arial"/>
                <a:ea typeface="Arial"/>
                <a:cs typeface="Arial"/>
              </a:defRPr>
            </a:lvl2pPr>
            <a:lvl3pPr>
              <a:defRPr sz="1800" b="0">
                <a:solidFill>
                  <a:srgbClr val="23374D"/>
                </a:solidFill>
                <a:latin typeface="Arial"/>
                <a:ea typeface="Arial"/>
                <a:cs typeface="Arial"/>
              </a:defRPr>
            </a:lvl3pPr>
            <a:lvl4pPr>
              <a:defRPr sz="1800" b="0">
                <a:solidFill>
                  <a:srgbClr val="23374D"/>
                </a:solidFill>
                <a:latin typeface="Arial"/>
                <a:ea typeface="Arial"/>
                <a:cs typeface="Arial"/>
              </a:defRPr>
            </a:lvl4pPr>
            <a:lvl5pPr>
              <a:defRPr sz="1800" b="0">
                <a:solidFill>
                  <a:srgbClr val="23374D"/>
                </a:solidFill>
                <a:latin typeface="Arial"/>
                <a:ea typeface="Arial"/>
                <a:cs typeface="Arial"/>
              </a:defRPr>
            </a:lvl5pPr>
            <a:lvl6pPr>
              <a:defRPr sz="1800" b="0">
                <a:solidFill>
                  <a:srgbClr val="23374D"/>
                </a:solidFill>
                <a:latin typeface="Arial"/>
                <a:ea typeface="Arial"/>
                <a:cs typeface="Arial"/>
              </a:defRPr>
            </a:lvl6pPr>
            <a:lvl7pPr>
              <a:defRPr sz="1800" b="0">
                <a:solidFill>
                  <a:srgbClr val="23374D"/>
                </a:solidFill>
                <a:latin typeface="Arial"/>
                <a:ea typeface="Arial"/>
                <a:cs typeface="Arial"/>
              </a:defRPr>
            </a:lvl7pPr>
            <a:lvl8pPr>
              <a:defRPr sz="1800" b="0">
                <a:solidFill>
                  <a:srgbClr val="23374D"/>
                </a:solidFill>
                <a:latin typeface="Arial"/>
                <a:ea typeface="Arial"/>
                <a:cs typeface="Arial"/>
              </a:defRPr>
            </a:lvl8pPr>
            <a:lvl9pPr>
              <a:defRPr sz="1800" b="0">
                <a:solidFill>
                  <a:srgbClr val="23374D"/>
                </a:solidFill>
                <a:latin typeface="Arial"/>
                <a:ea typeface="Arial"/>
                <a:cs typeface="Arial"/>
              </a:defRPr>
            </a:lvl9pPr>
          </a:lstStyle>
          <a:p xmlns:a="http://schemas.openxmlformats.org/drawingml/2006/main">
            <a:pPr>
              <a:defRPr sz="1800" b="0">
                <a:solidFill>
                  <a:srgbClr val="23374D"/>
                </a:solidFill>
                <a:latin typeface="Arial"/>
                <a:ea typeface="Arial"/>
                <a:cs typeface="Arial"/>
              </a:defRPr>
            </a:pPr>
            <a:r>
              <a:rPr sz="1800" b="0">
                <a:solidFill>
                  <a:srgbClr val="23374D"/>
                </a:solidFill>
                <a:latin typeface="Arial"/>
                <a:ea typeface="Arial"/>
                <a:cs typeface="Arial"/>
              </a:rPr>
              <a:t>Mean-embedding cosine</a:t>
            </a:r>
          </a:p>
        </p:txBody>
      </p:sp>
      <p:sp>
        <p:nvSpPr>
          <p:cNvPr id="10" name="">
            <a:extLst xmlns:a="http://schemas.openxmlformats.org/drawingml/2006/main">
              <a:ext uri="{FF2B5EF4-FFF2-40B4-BE49-F238E27FC236}">
                <a16:creationId xmlns:a16="http://schemas.microsoft.com/office/drawing/2014/main" id="{5972E7A1-C469-444C-A36D-00EC0C6BD533}"/>
              </a:ext>
            </a:extLst>
          </p:cNvPr>
          <p:cNvSpPr>
            <a:spLocks xmlns:a="http://schemas.openxmlformats.org/drawingml/2006/main" noGrp="1"/>
          </p:cNvSpPr>
          <p:nvPr/>
        </p:nvSpPr>
        <p:spPr>
          <a:xfrm xmlns:a="http://schemas.openxmlformats.org/drawingml/2006/main">
            <a:off x="6381750" y="3733800"/>
            <a:ext cx="4619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73B5E"/>
                </a:solidFill>
                <a:latin typeface="Arial"/>
                <a:ea typeface="Arial"/>
                <a:cs typeface="Arial"/>
              </a:defRPr>
            </a:defPPr>
            <a:lvl1pPr>
              <a:defRPr sz="1800" b="1">
                <a:solidFill>
                  <a:srgbClr val="173B5E"/>
                </a:solidFill>
                <a:latin typeface="Arial"/>
                <a:ea typeface="Arial"/>
                <a:cs typeface="Arial"/>
              </a:defRPr>
            </a:lvl1pPr>
            <a:lvl2pPr>
              <a:defRPr sz="1800" b="1">
                <a:solidFill>
                  <a:srgbClr val="173B5E"/>
                </a:solidFill>
                <a:latin typeface="Arial"/>
                <a:ea typeface="Arial"/>
                <a:cs typeface="Arial"/>
              </a:defRPr>
            </a:lvl2pPr>
            <a:lvl3pPr>
              <a:defRPr sz="1800" b="1">
                <a:solidFill>
                  <a:srgbClr val="173B5E"/>
                </a:solidFill>
                <a:latin typeface="Arial"/>
                <a:ea typeface="Arial"/>
                <a:cs typeface="Arial"/>
              </a:defRPr>
            </a:lvl3pPr>
            <a:lvl4pPr>
              <a:defRPr sz="1800" b="1">
                <a:solidFill>
                  <a:srgbClr val="173B5E"/>
                </a:solidFill>
                <a:latin typeface="Arial"/>
                <a:ea typeface="Arial"/>
                <a:cs typeface="Arial"/>
              </a:defRPr>
            </a:lvl4pPr>
            <a:lvl5pPr>
              <a:defRPr sz="1800" b="1">
                <a:solidFill>
                  <a:srgbClr val="173B5E"/>
                </a:solidFill>
                <a:latin typeface="Arial"/>
                <a:ea typeface="Arial"/>
                <a:cs typeface="Arial"/>
              </a:defRPr>
            </a:lvl5pPr>
            <a:lvl6pPr>
              <a:defRPr sz="1800" b="1">
                <a:solidFill>
                  <a:srgbClr val="173B5E"/>
                </a:solidFill>
                <a:latin typeface="Arial"/>
                <a:ea typeface="Arial"/>
                <a:cs typeface="Arial"/>
              </a:defRPr>
            </a:lvl6pPr>
            <a:lvl7pPr>
              <a:defRPr sz="1800" b="1">
                <a:solidFill>
                  <a:srgbClr val="173B5E"/>
                </a:solidFill>
                <a:latin typeface="Arial"/>
                <a:ea typeface="Arial"/>
                <a:cs typeface="Arial"/>
              </a:defRPr>
            </a:lvl7pPr>
            <a:lvl8pPr>
              <a:defRPr sz="1800" b="1">
                <a:solidFill>
                  <a:srgbClr val="173B5E"/>
                </a:solidFill>
                <a:latin typeface="Arial"/>
                <a:ea typeface="Arial"/>
                <a:cs typeface="Arial"/>
              </a:defRPr>
            </a:lvl8pPr>
            <a:lvl9pPr>
              <a:defRPr sz="1800" b="1">
                <a:solidFill>
                  <a:srgbClr val="173B5E"/>
                </a:solidFill>
                <a:latin typeface="Arial"/>
                <a:ea typeface="Arial"/>
                <a:cs typeface="Arial"/>
              </a:defRPr>
            </a:lvl9pPr>
          </a:lstStyle>
          <a:p xmlns:a="http://schemas.openxmlformats.org/drawingml/2006/main">
            <a:pPr>
              <a:defRPr sz="1800" b="1">
                <a:solidFill>
                  <a:srgbClr val="173B5E"/>
                </a:solidFill>
                <a:latin typeface="Arial"/>
                <a:ea typeface="Arial"/>
                <a:cs typeface="Arial"/>
              </a:defRPr>
            </a:pPr>
            <a:r>
              <a:rPr sz="1800" b="1">
                <a:solidFill>
                  <a:srgbClr val="173B5E"/>
                </a:solidFill>
                <a:latin typeface="Arial"/>
                <a:ea typeface="Arial"/>
                <a:cs typeface="Arial"/>
              </a:rPr>
              <a:t>0.047140</a:t>
            </a:r>
          </a:p>
        </p:txBody>
      </p:sp>
      <p:sp>
        <p:nvSpPr>
          <p:cNvPr id="11" name="">
            <a:extLst xmlns:a="http://schemas.openxmlformats.org/drawingml/2006/main">
              <a:ext uri="{FF2B5EF4-FFF2-40B4-BE49-F238E27FC236}">
                <a16:creationId xmlns:a16="http://schemas.microsoft.com/office/drawing/2014/main" id="{9F05E9BB-FE29-4BCC-93D4-2E7B030C324B}"/>
              </a:ext>
            </a:extLst>
          </p:cNvPr>
          <p:cNvSpPr>
            <a:spLocks xmlns:a="http://schemas.openxmlformats.org/drawingml/2006/main" noGrp="1"/>
          </p:cNvSpPr>
          <p:nvPr/>
        </p:nvSpPr>
        <p:spPr>
          <a:xfrm xmlns:a="http://schemas.openxmlformats.org/drawingml/2006/main">
            <a:off x="666750" y="4257675"/>
            <a:ext cx="5095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3374D"/>
                </a:solidFill>
                <a:latin typeface="Arial"/>
                <a:ea typeface="Arial"/>
                <a:cs typeface="Arial"/>
              </a:defRPr>
            </a:defPPr>
            <a:lvl1pPr>
              <a:defRPr sz="1800" b="0">
                <a:solidFill>
                  <a:srgbClr val="23374D"/>
                </a:solidFill>
                <a:latin typeface="Arial"/>
                <a:ea typeface="Arial"/>
                <a:cs typeface="Arial"/>
              </a:defRPr>
            </a:lvl1pPr>
            <a:lvl2pPr>
              <a:defRPr sz="1800" b="0">
                <a:solidFill>
                  <a:srgbClr val="23374D"/>
                </a:solidFill>
                <a:latin typeface="Arial"/>
                <a:ea typeface="Arial"/>
                <a:cs typeface="Arial"/>
              </a:defRPr>
            </a:lvl2pPr>
            <a:lvl3pPr>
              <a:defRPr sz="1800" b="0">
                <a:solidFill>
                  <a:srgbClr val="23374D"/>
                </a:solidFill>
                <a:latin typeface="Arial"/>
                <a:ea typeface="Arial"/>
                <a:cs typeface="Arial"/>
              </a:defRPr>
            </a:lvl3pPr>
            <a:lvl4pPr>
              <a:defRPr sz="1800" b="0">
                <a:solidFill>
                  <a:srgbClr val="23374D"/>
                </a:solidFill>
                <a:latin typeface="Arial"/>
                <a:ea typeface="Arial"/>
                <a:cs typeface="Arial"/>
              </a:defRPr>
            </a:lvl4pPr>
            <a:lvl5pPr>
              <a:defRPr sz="1800" b="0">
                <a:solidFill>
                  <a:srgbClr val="23374D"/>
                </a:solidFill>
                <a:latin typeface="Arial"/>
                <a:ea typeface="Arial"/>
                <a:cs typeface="Arial"/>
              </a:defRPr>
            </a:lvl5pPr>
            <a:lvl6pPr>
              <a:defRPr sz="1800" b="0">
                <a:solidFill>
                  <a:srgbClr val="23374D"/>
                </a:solidFill>
                <a:latin typeface="Arial"/>
                <a:ea typeface="Arial"/>
                <a:cs typeface="Arial"/>
              </a:defRPr>
            </a:lvl6pPr>
            <a:lvl7pPr>
              <a:defRPr sz="1800" b="0">
                <a:solidFill>
                  <a:srgbClr val="23374D"/>
                </a:solidFill>
                <a:latin typeface="Arial"/>
                <a:ea typeface="Arial"/>
                <a:cs typeface="Arial"/>
              </a:defRPr>
            </a:lvl7pPr>
            <a:lvl8pPr>
              <a:defRPr sz="1800" b="0">
                <a:solidFill>
                  <a:srgbClr val="23374D"/>
                </a:solidFill>
                <a:latin typeface="Arial"/>
                <a:ea typeface="Arial"/>
                <a:cs typeface="Arial"/>
              </a:defRPr>
            </a:lvl8pPr>
            <a:lvl9pPr>
              <a:defRPr sz="1800" b="0">
                <a:solidFill>
                  <a:srgbClr val="23374D"/>
                </a:solidFill>
                <a:latin typeface="Arial"/>
                <a:ea typeface="Arial"/>
                <a:cs typeface="Arial"/>
              </a:defRPr>
            </a:lvl9pPr>
          </a:lstStyle>
          <a:p xmlns:a="http://schemas.openxmlformats.org/drawingml/2006/main">
            <a:pPr>
              <a:defRPr sz="1800" b="0">
                <a:solidFill>
                  <a:srgbClr val="23374D"/>
                </a:solidFill>
                <a:latin typeface="Arial"/>
                <a:ea typeface="Arial"/>
                <a:cs typeface="Arial"/>
              </a:defRPr>
            </a:pPr>
            <a:r>
              <a:rPr sz="1800" b="0">
                <a:solidFill>
                  <a:srgbClr val="23374D"/>
                </a:solidFill>
                <a:latin typeface="Arial"/>
                <a:ea typeface="Arial"/>
                <a:cs typeface="Arial"/>
              </a:rPr>
              <a:t>Cosine after removing shared edge</a:t>
            </a:r>
          </a:p>
        </p:txBody>
      </p:sp>
      <p:sp>
        <p:nvSpPr>
          <p:cNvPr id="12" name="">
            <a:extLst xmlns:a="http://schemas.openxmlformats.org/drawingml/2006/main">
              <a:ext uri="{FF2B5EF4-FFF2-40B4-BE49-F238E27FC236}">
                <a16:creationId xmlns:a16="http://schemas.microsoft.com/office/drawing/2014/main" id="{6570557E-9288-4F75-A9AC-F789795668A4}"/>
              </a:ext>
            </a:extLst>
          </p:cNvPr>
          <p:cNvSpPr>
            <a:spLocks xmlns:a="http://schemas.openxmlformats.org/drawingml/2006/main" noGrp="1"/>
          </p:cNvSpPr>
          <p:nvPr/>
        </p:nvSpPr>
        <p:spPr>
          <a:xfrm xmlns:a="http://schemas.openxmlformats.org/drawingml/2006/main">
            <a:off x="6381750" y="4257675"/>
            <a:ext cx="4619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73B5E"/>
                </a:solidFill>
                <a:latin typeface="Arial"/>
                <a:ea typeface="Arial"/>
                <a:cs typeface="Arial"/>
              </a:defRPr>
            </a:defPPr>
            <a:lvl1pPr>
              <a:defRPr sz="1800" b="1">
                <a:solidFill>
                  <a:srgbClr val="173B5E"/>
                </a:solidFill>
                <a:latin typeface="Arial"/>
                <a:ea typeface="Arial"/>
                <a:cs typeface="Arial"/>
              </a:defRPr>
            </a:lvl1pPr>
            <a:lvl2pPr>
              <a:defRPr sz="1800" b="1">
                <a:solidFill>
                  <a:srgbClr val="173B5E"/>
                </a:solidFill>
                <a:latin typeface="Arial"/>
                <a:ea typeface="Arial"/>
                <a:cs typeface="Arial"/>
              </a:defRPr>
            </a:lvl2pPr>
            <a:lvl3pPr>
              <a:defRPr sz="1800" b="1">
                <a:solidFill>
                  <a:srgbClr val="173B5E"/>
                </a:solidFill>
                <a:latin typeface="Arial"/>
                <a:ea typeface="Arial"/>
                <a:cs typeface="Arial"/>
              </a:defRPr>
            </a:lvl3pPr>
            <a:lvl4pPr>
              <a:defRPr sz="1800" b="1">
                <a:solidFill>
                  <a:srgbClr val="173B5E"/>
                </a:solidFill>
                <a:latin typeface="Arial"/>
                <a:ea typeface="Arial"/>
                <a:cs typeface="Arial"/>
              </a:defRPr>
            </a:lvl4pPr>
            <a:lvl5pPr>
              <a:defRPr sz="1800" b="1">
                <a:solidFill>
                  <a:srgbClr val="173B5E"/>
                </a:solidFill>
                <a:latin typeface="Arial"/>
                <a:ea typeface="Arial"/>
                <a:cs typeface="Arial"/>
              </a:defRPr>
            </a:lvl5pPr>
            <a:lvl6pPr>
              <a:defRPr sz="1800" b="1">
                <a:solidFill>
                  <a:srgbClr val="173B5E"/>
                </a:solidFill>
                <a:latin typeface="Arial"/>
                <a:ea typeface="Arial"/>
                <a:cs typeface="Arial"/>
              </a:defRPr>
            </a:lvl6pPr>
            <a:lvl7pPr>
              <a:defRPr sz="1800" b="1">
                <a:solidFill>
                  <a:srgbClr val="173B5E"/>
                </a:solidFill>
                <a:latin typeface="Arial"/>
                <a:ea typeface="Arial"/>
                <a:cs typeface="Arial"/>
              </a:defRPr>
            </a:lvl7pPr>
            <a:lvl8pPr>
              <a:defRPr sz="1800" b="1">
                <a:solidFill>
                  <a:srgbClr val="173B5E"/>
                </a:solidFill>
                <a:latin typeface="Arial"/>
                <a:ea typeface="Arial"/>
                <a:cs typeface="Arial"/>
              </a:defRPr>
            </a:lvl8pPr>
            <a:lvl9pPr>
              <a:defRPr sz="1800" b="1">
                <a:solidFill>
                  <a:srgbClr val="173B5E"/>
                </a:solidFill>
                <a:latin typeface="Arial"/>
                <a:ea typeface="Arial"/>
                <a:cs typeface="Arial"/>
              </a:defRPr>
            </a:lvl9pPr>
          </a:lstStyle>
          <a:p xmlns:a="http://schemas.openxmlformats.org/drawingml/2006/main">
            <a:pPr>
              <a:defRPr sz="1800" b="1">
                <a:solidFill>
                  <a:srgbClr val="173B5E"/>
                </a:solidFill>
                <a:latin typeface="Arial"/>
                <a:ea typeface="Arial"/>
                <a:cs typeface="Arial"/>
              </a:defRPr>
            </a:pPr>
            <a:r>
              <a:rPr sz="1800" b="1">
                <a:solidFill>
                  <a:srgbClr val="173B5E"/>
                </a:solidFill>
                <a:latin typeface="Arial"/>
                <a:ea typeface="Arial"/>
                <a:cs typeface="Arial"/>
              </a:rPr>
              <a:t>0.000000</a:t>
            </a:r>
          </a:p>
        </p:txBody>
      </p:sp>
      <p:sp>
        <p:nvSpPr>
          <p:cNvPr id="13" name="">
            <a:extLst xmlns:a="http://schemas.openxmlformats.org/drawingml/2006/main">
              <a:ext uri="{FF2B5EF4-FFF2-40B4-BE49-F238E27FC236}">
                <a16:creationId xmlns:a16="http://schemas.microsoft.com/office/drawing/2014/main" id="{A4F9310A-BCED-4ECF-868F-08BDBA7D7317}"/>
              </a:ext>
            </a:extLst>
          </p:cNvPr>
          <p:cNvSpPr>
            <a:spLocks xmlns:a="http://schemas.openxmlformats.org/drawingml/2006/main" noGrp="1"/>
          </p:cNvSpPr>
          <p:nvPr/>
        </p:nvSpPr>
        <p:spPr>
          <a:xfrm xmlns:a="http://schemas.openxmlformats.org/drawingml/2006/main">
            <a:off x="666750" y="5238750"/>
            <a:ext cx="10763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8A3E30"/>
                </a:solidFill>
                <a:latin typeface="Arial"/>
                <a:ea typeface="Arial"/>
                <a:cs typeface="Arial"/>
              </a:defRPr>
            </a:defPPr>
            <a:lvl1pPr>
              <a:defRPr sz="1650" b="1">
                <a:solidFill>
                  <a:srgbClr val="8A3E30"/>
                </a:solidFill>
                <a:latin typeface="Arial"/>
                <a:ea typeface="Arial"/>
                <a:cs typeface="Arial"/>
              </a:defRPr>
            </a:lvl1pPr>
            <a:lvl2pPr>
              <a:defRPr sz="1650" b="1">
                <a:solidFill>
                  <a:srgbClr val="8A3E30"/>
                </a:solidFill>
                <a:latin typeface="Arial"/>
                <a:ea typeface="Arial"/>
                <a:cs typeface="Arial"/>
              </a:defRPr>
            </a:lvl2pPr>
            <a:lvl3pPr>
              <a:defRPr sz="1650" b="1">
                <a:solidFill>
                  <a:srgbClr val="8A3E30"/>
                </a:solidFill>
                <a:latin typeface="Arial"/>
                <a:ea typeface="Arial"/>
                <a:cs typeface="Arial"/>
              </a:defRPr>
            </a:lvl3pPr>
            <a:lvl4pPr>
              <a:defRPr sz="1650" b="1">
                <a:solidFill>
                  <a:srgbClr val="8A3E30"/>
                </a:solidFill>
                <a:latin typeface="Arial"/>
                <a:ea typeface="Arial"/>
                <a:cs typeface="Arial"/>
              </a:defRPr>
            </a:lvl4pPr>
            <a:lvl5pPr>
              <a:defRPr sz="1650" b="1">
                <a:solidFill>
                  <a:srgbClr val="8A3E30"/>
                </a:solidFill>
                <a:latin typeface="Arial"/>
                <a:ea typeface="Arial"/>
                <a:cs typeface="Arial"/>
              </a:defRPr>
            </a:lvl5pPr>
            <a:lvl6pPr>
              <a:defRPr sz="1650" b="1">
                <a:solidFill>
                  <a:srgbClr val="8A3E30"/>
                </a:solidFill>
                <a:latin typeface="Arial"/>
                <a:ea typeface="Arial"/>
                <a:cs typeface="Arial"/>
              </a:defRPr>
            </a:lvl6pPr>
            <a:lvl7pPr>
              <a:defRPr sz="1650" b="1">
                <a:solidFill>
                  <a:srgbClr val="8A3E30"/>
                </a:solidFill>
                <a:latin typeface="Arial"/>
                <a:ea typeface="Arial"/>
                <a:cs typeface="Arial"/>
              </a:defRPr>
            </a:lvl7pPr>
            <a:lvl8pPr>
              <a:defRPr sz="1650" b="1">
                <a:solidFill>
                  <a:srgbClr val="8A3E30"/>
                </a:solidFill>
                <a:latin typeface="Arial"/>
                <a:ea typeface="Arial"/>
                <a:cs typeface="Arial"/>
              </a:defRPr>
            </a:lvl8pPr>
            <a:lvl9pPr>
              <a:defRPr sz="1650" b="1">
                <a:solidFill>
                  <a:srgbClr val="8A3E30"/>
                </a:solidFill>
                <a:latin typeface="Arial"/>
                <a:ea typeface="Arial"/>
                <a:cs typeface="Arial"/>
              </a:defRPr>
            </a:lvl9pPr>
          </a:lstStyle>
          <a:p xmlns:a="http://schemas.openxmlformats.org/drawingml/2006/main">
            <a:pPr>
              <a:defRPr sz="1650" b="1">
                <a:solidFill>
                  <a:srgbClr val="8A3E30"/>
                </a:solidFill>
                <a:latin typeface="Arial"/>
                <a:ea typeface="Arial"/>
                <a:cs typeface="Arial"/>
              </a:defRPr>
            </a:pPr>
            <a:r>
              <a:rPr sz="1650" b="1">
                <a:solidFill>
                  <a:srgbClr val="8A3E30"/>
                </a:solidFill>
                <a:latin typeface="Arial"/>
                <a:ea typeface="Arial"/>
                <a:cs typeface="Arial"/>
              </a:rPr>
              <a:t>Different score scales cannot show which method retrieves better. The edge test only confirms the representation responds to observed links.</a:t>
            </a:r>
          </a:p>
        </p:txBody>
      </p:sp>
    </p:spTree>
    <p:extLst>
      <p:ext uri="{BB962C8B-B14F-4D97-AF65-F5344CB8AC3E}">
        <p14:creationId xmlns:p14="http://schemas.microsoft.com/office/powerpoint/2010/main" val="119313578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170EF3F-E9C4-441A-A851-A2002A8ED1C7}"/>
              </a:ext>
            </a:extLst>
          </p:cNvPr>
          <p:cNvSpPr>
            <a:spLocks xmlns:a="http://schemas.openxmlformats.org/drawingml/2006/main" noGrp="1"/>
          </p:cNvSpPr>
          <p:nvPr/>
        </p:nvSpPr>
        <p:spPr>
          <a:xfrm xmlns:a="http://schemas.openxmlformats.org/drawingml/2006/main">
            <a:off x="523875" y="32385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173B5E"/>
                </a:solidFill>
                <a:latin typeface="Arial"/>
                <a:ea typeface="Arial"/>
                <a:cs typeface="Arial"/>
              </a:defRPr>
            </a:defPPr>
            <a:lvl1pPr>
              <a:defRPr sz="2700" b="1">
                <a:solidFill>
                  <a:srgbClr val="173B5E"/>
                </a:solidFill>
                <a:latin typeface="Arial"/>
                <a:ea typeface="Arial"/>
                <a:cs typeface="Arial"/>
              </a:defRPr>
            </a:lvl1pPr>
            <a:lvl2pPr>
              <a:defRPr sz="2700" b="1">
                <a:solidFill>
                  <a:srgbClr val="173B5E"/>
                </a:solidFill>
                <a:latin typeface="Arial"/>
                <a:ea typeface="Arial"/>
                <a:cs typeface="Arial"/>
              </a:defRPr>
            </a:lvl2pPr>
            <a:lvl3pPr>
              <a:defRPr sz="2700" b="1">
                <a:solidFill>
                  <a:srgbClr val="173B5E"/>
                </a:solidFill>
                <a:latin typeface="Arial"/>
                <a:ea typeface="Arial"/>
                <a:cs typeface="Arial"/>
              </a:defRPr>
            </a:lvl3pPr>
            <a:lvl4pPr>
              <a:defRPr sz="2700" b="1">
                <a:solidFill>
                  <a:srgbClr val="173B5E"/>
                </a:solidFill>
                <a:latin typeface="Arial"/>
                <a:ea typeface="Arial"/>
                <a:cs typeface="Arial"/>
              </a:defRPr>
            </a:lvl4pPr>
            <a:lvl5pPr>
              <a:defRPr sz="2700" b="1">
                <a:solidFill>
                  <a:srgbClr val="173B5E"/>
                </a:solidFill>
                <a:latin typeface="Arial"/>
                <a:ea typeface="Arial"/>
                <a:cs typeface="Arial"/>
              </a:defRPr>
            </a:lvl5pPr>
            <a:lvl6pPr>
              <a:defRPr sz="2700" b="1">
                <a:solidFill>
                  <a:srgbClr val="173B5E"/>
                </a:solidFill>
                <a:latin typeface="Arial"/>
                <a:ea typeface="Arial"/>
                <a:cs typeface="Arial"/>
              </a:defRPr>
            </a:lvl6pPr>
            <a:lvl7pPr>
              <a:defRPr sz="2700" b="1">
                <a:solidFill>
                  <a:srgbClr val="173B5E"/>
                </a:solidFill>
                <a:latin typeface="Arial"/>
                <a:ea typeface="Arial"/>
                <a:cs typeface="Arial"/>
              </a:defRPr>
            </a:lvl7pPr>
            <a:lvl8pPr>
              <a:defRPr sz="2700" b="1">
                <a:solidFill>
                  <a:srgbClr val="173B5E"/>
                </a:solidFill>
                <a:latin typeface="Arial"/>
                <a:ea typeface="Arial"/>
                <a:cs typeface="Arial"/>
              </a:defRPr>
            </a:lvl8pPr>
            <a:lvl9pPr>
              <a:defRPr sz="2700" b="1">
                <a:solidFill>
                  <a:srgbClr val="173B5E"/>
                </a:solidFill>
                <a:latin typeface="Arial"/>
                <a:ea typeface="Arial"/>
                <a:cs typeface="Arial"/>
              </a:defRPr>
            </a:lvl9pPr>
          </a:lstStyle>
          <a:p xmlns:a="http://schemas.openxmlformats.org/drawingml/2006/main">
            <a:pPr>
              <a:defRPr sz="2700" b="1">
                <a:solidFill>
                  <a:srgbClr val="173B5E"/>
                </a:solidFill>
                <a:latin typeface="Arial"/>
                <a:ea typeface="Arial"/>
                <a:cs typeface="Arial"/>
              </a:defRPr>
            </a:pPr>
            <a:r>
              <a:rPr sz="2700" b="1">
                <a:solidFill>
                  <a:srgbClr val="173B5E"/>
                </a:solidFill>
                <a:latin typeface="Arial"/>
                <a:ea typeface="Arial"/>
                <a:cs typeface="Arial"/>
              </a:rPr>
              <a:t>GraphRAG compared with the GNN experiment</a:t>
            </a:r>
          </a:p>
        </p:txBody>
      </p:sp>
      <p:sp>
        <p:nvSpPr>
          <p:cNvPr id="2" name="">
            <a:extLst xmlns:a="http://schemas.openxmlformats.org/drawingml/2006/main">
              <a:ext uri="{FF2B5EF4-FFF2-40B4-BE49-F238E27FC236}">
                <a16:creationId xmlns:a16="http://schemas.microsoft.com/office/drawing/2014/main" id="{9E1B9C84-6157-4826-9DFE-9DF863817DE2}"/>
              </a:ext>
            </a:extLst>
          </p:cNvPr>
          <p:cNvSpPr>
            <a:spLocks xmlns:a="http://schemas.openxmlformats.org/drawingml/2006/main" noGrp="1"/>
          </p:cNvSpPr>
          <p:nvPr/>
        </p:nvSpPr>
        <p:spPr>
          <a:xfrm xmlns:a="http://schemas.openxmlformats.org/drawingml/2006/main">
            <a:off x="523875" y="6505575"/>
            <a:ext cx="11144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566E82"/>
                </a:solidFill>
                <a:latin typeface="Arial"/>
                <a:ea typeface="Arial"/>
                <a:cs typeface="Arial"/>
              </a:defRPr>
            </a:defPPr>
            <a:lvl1pPr>
              <a:defRPr sz="1050" b="0">
                <a:solidFill>
                  <a:srgbClr val="566E82"/>
                </a:solidFill>
                <a:latin typeface="Arial"/>
                <a:ea typeface="Arial"/>
                <a:cs typeface="Arial"/>
              </a:defRPr>
            </a:lvl1pPr>
            <a:lvl2pPr>
              <a:defRPr sz="1050" b="0">
                <a:solidFill>
                  <a:srgbClr val="566E82"/>
                </a:solidFill>
                <a:latin typeface="Arial"/>
                <a:ea typeface="Arial"/>
                <a:cs typeface="Arial"/>
              </a:defRPr>
            </a:lvl2pPr>
            <a:lvl3pPr>
              <a:defRPr sz="1050" b="0">
                <a:solidFill>
                  <a:srgbClr val="566E82"/>
                </a:solidFill>
                <a:latin typeface="Arial"/>
                <a:ea typeface="Arial"/>
                <a:cs typeface="Arial"/>
              </a:defRPr>
            </a:lvl3pPr>
            <a:lvl4pPr>
              <a:defRPr sz="1050" b="0">
                <a:solidFill>
                  <a:srgbClr val="566E82"/>
                </a:solidFill>
                <a:latin typeface="Arial"/>
                <a:ea typeface="Arial"/>
                <a:cs typeface="Arial"/>
              </a:defRPr>
            </a:lvl4pPr>
            <a:lvl5pPr>
              <a:defRPr sz="1050" b="0">
                <a:solidFill>
                  <a:srgbClr val="566E82"/>
                </a:solidFill>
                <a:latin typeface="Arial"/>
                <a:ea typeface="Arial"/>
                <a:cs typeface="Arial"/>
              </a:defRPr>
            </a:lvl5pPr>
            <a:lvl6pPr>
              <a:defRPr sz="1050" b="0">
                <a:solidFill>
                  <a:srgbClr val="566E82"/>
                </a:solidFill>
                <a:latin typeface="Arial"/>
                <a:ea typeface="Arial"/>
                <a:cs typeface="Arial"/>
              </a:defRPr>
            </a:lvl6pPr>
            <a:lvl7pPr>
              <a:defRPr sz="1050" b="0">
                <a:solidFill>
                  <a:srgbClr val="566E82"/>
                </a:solidFill>
                <a:latin typeface="Arial"/>
                <a:ea typeface="Arial"/>
                <a:cs typeface="Arial"/>
              </a:defRPr>
            </a:lvl7pPr>
            <a:lvl8pPr>
              <a:defRPr sz="1050" b="0">
                <a:solidFill>
                  <a:srgbClr val="566E82"/>
                </a:solidFill>
                <a:latin typeface="Arial"/>
                <a:ea typeface="Arial"/>
                <a:cs typeface="Arial"/>
              </a:defRPr>
            </a:lvl8pPr>
            <a:lvl9pPr>
              <a:defRPr sz="1050" b="0">
                <a:solidFill>
                  <a:srgbClr val="566E82"/>
                </a:solidFill>
                <a:latin typeface="Arial"/>
                <a:ea typeface="Arial"/>
                <a:cs typeface="Arial"/>
              </a:defRPr>
            </a:lvl9pPr>
          </a:lstStyle>
          <a:p xmlns:a="http://schemas.openxmlformats.org/drawingml/2006/main">
            <a:pPr>
              <a:defRPr sz="1050" b="0">
                <a:solidFill>
                  <a:srgbClr val="566E82"/>
                </a:solidFill>
                <a:latin typeface="Arial"/>
                <a:ea typeface="Arial"/>
                <a:cs typeface="Arial"/>
              </a:defRPr>
            </a:pPr>
            <a:r>
              <a:rPr sz="1050" b="0">
                <a:solidFill>
                  <a:srgbClr val="566E82"/>
                </a:solidFill>
                <a:latin typeface="Arial"/>
                <a:ea typeface="Arial"/>
                <a:cs typeface="Arial"/>
              </a:rPr>
              <a:t>Retail360  |  CS 5588 Challenge 3                                         8/10</a:t>
            </a:r>
          </a:p>
        </p:txBody>
      </p:sp>
      <p:sp>
        <p:nvSpPr>
          <p:cNvPr id="3" name="">
            <a:extLst xmlns:a="http://schemas.openxmlformats.org/drawingml/2006/main">
              <a:ext uri="{FF2B5EF4-FFF2-40B4-BE49-F238E27FC236}">
                <a16:creationId xmlns:a16="http://schemas.microsoft.com/office/drawing/2014/main" id="{362763D5-2E0F-4CB1-8CD4-3EFF569A6904}"/>
              </a:ext>
            </a:extLst>
          </p:cNvPr>
          <p:cNvSpPr>
            <a:spLocks xmlns:a="http://schemas.openxmlformats.org/drawingml/2006/main" noGrp="1"/>
          </p:cNvSpPr>
          <p:nvPr/>
        </p:nvSpPr>
        <p:spPr>
          <a:xfrm xmlns:a="http://schemas.openxmlformats.org/drawingml/2006/main">
            <a:off x="666750" y="138112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173B5E"/>
                </a:solidFill>
                <a:latin typeface="Arial"/>
                <a:ea typeface="Arial"/>
                <a:cs typeface="Arial"/>
              </a:defRPr>
            </a:defPPr>
            <a:lvl1pPr>
              <a:defRPr sz="2025" b="1">
                <a:solidFill>
                  <a:srgbClr val="173B5E"/>
                </a:solidFill>
                <a:latin typeface="Arial"/>
                <a:ea typeface="Arial"/>
                <a:cs typeface="Arial"/>
              </a:defRPr>
            </a:lvl1pPr>
            <a:lvl2pPr>
              <a:defRPr sz="2025" b="1">
                <a:solidFill>
                  <a:srgbClr val="173B5E"/>
                </a:solidFill>
                <a:latin typeface="Arial"/>
                <a:ea typeface="Arial"/>
                <a:cs typeface="Arial"/>
              </a:defRPr>
            </a:lvl2pPr>
            <a:lvl3pPr>
              <a:defRPr sz="2025" b="1">
                <a:solidFill>
                  <a:srgbClr val="173B5E"/>
                </a:solidFill>
                <a:latin typeface="Arial"/>
                <a:ea typeface="Arial"/>
                <a:cs typeface="Arial"/>
              </a:defRPr>
            </a:lvl3pPr>
            <a:lvl4pPr>
              <a:defRPr sz="2025" b="1">
                <a:solidFill>
                  <a:srgbClr val="173B5E"/>
                </a:solidFill>
                <a:latin typeface="Arial"/>
                <a:ea typeface="Arial"/>
                <a:cs typeface="Arial"/>
              </a:defRPr>
            </a:lvl4pPr>
            <a:lvl5pPr>
              <a:defRPr sz="2025" b="1">
                <a:solidFill>
                  <a:srgbClr val="173B5E"/>
                </a:solidFill>
                <a:latin typeface="Arial"/>
                <a:ea typeface="Arial"/>
                <a:cs typeface="Arial"/>
              </a:defRPr>
            </a:lvl5pPr>
            <a:lvl6pPr>
              <a:defRPr sz="2025" b="1">
                <a:solidFill>
                  <a:srgbClr val="173B5E"/>
                </a:solidFill>
                <a:latin typeface="Arial"/>
                <a:ea typeface="Arial"/>
                <a:cs typeface="Arial"/>
              </a:defRPr>
            </a:lvl6pPr>
            <a:lvl7pPr>
              <a:defRPr sz="2025" b="1">
                <a:solidFill>
                  <a:srgbClr val="173B5E"/>
                </a:solidFill>
                <a:latin typeface="Arial"/>
                <a:ea typeface="Arial"/>
                <a:cs typeface="Arial"/>
              </a:defRPr>
            </a:lvl7pPr>
            <a:lvl8pPr>
              <a:defRPr sz="2025" b="1">
                <a:solidFill>
                  <a:srgbClr val="173B5E"/>
                </a:solidFill>
                <a:latin typeface="Arial"/>
                <a:ea typeface="Arial"/>
                <a:cs typeface="Arial"/>
              </a:defRPr>
            </a:lvl8pPr>
            <a:lvl9pPr>
              <a:defRPr sz="2025" b="1">
                <a:solidFill>
                  <a:srgbClr val="173B5E"/>
                </a:solidFill>
                <a:latin typeface="Arial"/>
                <a:ea typeface="Arial"/>
                <a:cs typeface="Arial"/>
              </a:defRPr>
            </a:lvl9pPr>
          </a:lstStyle>
          <a:p xmlns:a="http://schemas.openxmlformats.org/drawingml/2006/main">
            <a:pPr>
              <a:defRPr sz="2025" b="1">
                <a:solidFill>
                  <a:srgbClr val="173B5E"/>
                </a:solidFill>
                <a:latin typeface="Arial"/>
                <a:ea typeface="Arial"/>
                <a:cs typeface="Arial"/>
              </a:defRPr>
            </a:pPr>
            <a:r>
              <a:rPr sz="2025" b="1">
                <a:solidFill>
                  <a:srgbClr val="173B5E"/>
                </a:solidFill>
                <a:latin typeface="Arial"/>
                <a:ea typeface="Arial"/>
                <a:cs typeface="Arial"/>
              </a:rPr>
              <a:t>Existing GraphRAG</a:t>
            </a:r>
          </a:p>
        </p:txBody>
      </p:sp>
      <p:sp>
        <p:nvSpPr>
          <p:cNvPr id="4" name="">
            <a:extLst xmlns:a="http://schemas.openxmlformats.org/drawingml/2006/main">
              <a:ext uri="{FF2B5EF4-FFF2-40B4-BE49-F238E27FC236}">
                <a16:creationId xmlns:a16="http://schemas.microsoft.com/office/drawing/2014/main" id="{3713E363-4FF5-42BF-B639-FAD22C396EDD}"/>
              </a:ext>
            </a:extLst>
          </p:cNvPr>
          <p:cNvSpPr>
            <a:spLocks xmlns:a="http://schemas.openxmlformats.org/drawingml/2006/main" noGrp="1"/>
          </p:cNvSpPr>
          <p:nvPr/>
        </p:nvSpPr>
        <p:spPr>
          <a:xfrm xmlns:a="http://schemas.openxmlformats.org/drawingml/2006/main">
            <a:off x="666750" y="2000250"/>
            <a:ext cx="47625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3374D"/>
                </a:solidFill>
                <a:latin typeface="Arial"/>
                <a:ea typeface="Arial"/>
                <a:cs typeface="Arial"/>
              </a:defRPr>
            </a:defPPr>
            <a:lvl1pPr>
              <a:defRPr sz="1800" b="0">
                <a:solidFill>
                  <a:srgbClr val="23374D"/>
                </a:solidFill>
                <a:latin typeface="Arial"/>
                <a:ea typeface="Arial"/>
                <a:cs typeface="Arial"/>
              </a:defRPr>
            </a:lvl1pPr>
            <a:lvl2pPr>
              <a:defRPr sz="1800" b="0">
                <a:solidFill>
                  <a:srgbClr val="23374D"/>
                </a:solidFill>
                <a:latin typeface="Arial"/>
                <a:ea typeface="Arial"/>
                <a:cs typeface="Arial"/>
              </a:defRPr>
            </a:lvl2pPr>
            <a:lvl3pPr>
              <a:defRPr sz="1800" b="0">
                <a:solidFill>
                  <a:srgbClr val="23374D"/>
                </a:solidFill>
                <a:latin typeface="Arial"/>
                <a:ea typeface="Arial"/>
                <a:cs typeface="Arial"/>
              </a:defRPr>
            </a:lvl3pPr>
            <a:lvl4pPr>
              <a:defRPr sz="1800" b="0">
                <a:solidFill>
                  <a:srgbClr val="23374D"/>
                </a:solidFill>
                <a:latin typeface="Arial"/>
                <a:ea typeface="Arial"/>
                <a:cs typeface="Arial"/>
              </a:defRPr>
            </a:lvl4pPr>
            <a:lvl5pPr>
              <a:defRPr sz="1800" b="0">
                <a:solidFill>
                  <a:srgbClr val="23374D"/>
                </a:solidFill>
                <a:latin typeface="Arial"/>
                <a:ea typeface="Arial"/>
                <a:cs typeface="Arial"/>
              </a:defRPr>
            </a:lvl5pPr>
            <a:lvl6pPr>
              <a:defRPr sz="1800" b="0">
                <a:solidFill>
                  <a:srgbClr val="23374D"/>
                </a:solidFill>
                <a:latin typeface="Arial"/>
                <a:ea typeface="Arial"/>
                <a:cs typeface="Arial"/>
              </a:defRPr>
            </a:lvl6pPr>
            <a:lvl7pPr>
              <a:defRPr sz="1800" b="0">
                <a:solidFill>
                  <a:srgbClr val="23374D"/>
                </a:solidFill>
                <a:latin typeface="Arial"/>
                <a:ea typeface="Arial"/>
                <a:cs typeface="Arial"/>
              </a:defRPr>
            </a:lvl7pPr>
            <a:lvl8pPr>
              <a:defRPr sz="1800" b="0">
                <a:solidFill>
                  <a:srgbClr val="23374D"/>
                </a:solidFill>
                <a:latin typeface="Arial"/>
                <a:ea typeface="Arial"/>
                <a:cs typeface="Arial"/>
              </a:defRPr>
            </a:lvl8pPr>
            <a:lvl9pPr>
              <a:defRPr sz="1800" b="0">
                <a:solidFill>
                  <a:srgbClr val="23374D"/>
                </a:solidFill>
                <a:latin typeface="Arial"/>
                <a:ea typeface="Arial"/>
                <a:cs typeface="Arial"/>
              </a:defRPr>
            </a:lvl9pPr>
          </a:lstStyle>
          <a:p xmlns:a="http://schemas.openxmlformats.org/drawingml/2006/main">
            <a:pPr>
              <a:defRPr sz="1800" b="0">
                <a:solidFill>
                  <a:srgbClr val="23374D"/>
                </a:solidFill>
                <a:latin typeface="Arial"/>
                <a:ea typeface="Arial"/>
                <a:cs typeface="Arial"/>
              </a:defRPr>
            </a:pPr>
            <a:r>
              <a:rPr sz="1800" b="0">
                <a:solidFill>
                  <a:srgbClr val="23374D"/>
                </a:solidFill>
                <a:latin typeface="Arial"/>
                <a:ea typeface="Arial"/>
                <a:cs typeface="Arial"/>
              </a:rPr>
              <a:t>Direct Cypher paths</a:t>
            </a:r>
          </a:p>
          <a:p xmlns:a="http://schemas.openxmlformats.org/drawingml/2006/main">
            <a:pPr>
              <a:defRPr sz="1800" b="0">
                <a:solidFill>
                  <a:srgbClr val="23374D"/>
                </a:solidFill>
                <a:latin typeface="Arial"/>
                <a:ea typeface="Arial"/>
                <a:cs typeface="Arial"/>
              </a:defRPr>
            </a:pPr>
            <a:r>
              <a:rPr sz="1800" b="0">
                <a:solidFill>
                  <a:srgbClr val="23374D"/>
                </a:solidFill>
                <a:latin typeface="Arial"/>
                <a:ea typeface="Arial"/>
                <a:cs typeface="Arial"/>
              </a:rPr>
              <a:t>Exact shared-product counts</a:t>
            </a:r>
          </a:p>
          <a:p xmlns:a="http://schemas.openxmlformats.org/drawingml/2006/main">
            <a:pPr>
              <a:defRPr sz="1800" b="0">
                <a:solidFill>
                  <a:srgbClr val="23374D"/>
                </a:solidFill>
                <a:latin typeface="Arial"/>
                <a:ea typeface="Arial"/>
                <a:cs typeface="Arial"/>
              </a:defRPr>
            </a:pPr>
            <a:r>
              <a:rPr sz="1800" b="0">
                <a:solidFill>
                  <a:srgbClr val="23374D"/>
                </a:solidFill>
                <a:latin typeface="Arial"/>
                <a:ea typeface="Arial"/>
                <a:cs typeface="Arial"/>
              </a:rPr>
              <a:t>Original invoice and RowID evidence</a:t>
            </a:r>
          </a:p>
          <a:p xmlns:a="http://schemas.openxmlformats.org/drawingml/2006/main">
            <a:pPr>
              <a:defRPr sz="1800" b="0">
                <a:solidFill>
                  <a:srgbClr val="23374D"/>
                </a:solidFill>
                <a:latin typeface="Arial"/>
                <a:ea typeface="Arial"/>
                <a:cs typeface="Arial"/>
              </a:defRPr>
            </a:pPr>
            <a:r>
              <a:rPr sz="1800" b="0">
                <a:solidFill>
                  <a:srgbClr val="23374D"/>
                </a:solidFill>
                <a:latin typeface="Arial"/>
                <a:ea typeface="Arial"/>
                <a:cs typeface="Arial"/>
              </a:rPr>
              <a:t>Local LLM selects evidence</a:t>
            </a:r>
          </a:p>
          <a:p xmlns:a="http://schemas.openxmlformats.org/drawingml/2006/main">
            <a:pPr>
              <a:defRPr sz="1800" b="0">
                <a:solidFill>
                  <a:srgbClr val="23374D"/>
                </a:solidFill>
                <a:latin typeface="Arial"/>
                <a:ea typeface="Arial"/>
                <a:cs typeface="Arial"/>
              </a:defRPr>
            </a:pPr>
            <a:r>
              <a:rPr sz="1800" b="0">
                <a:solidFill>
                  <a:srgbClr val="23374D"/>
                </a:solidFill>
                <a:latin typeface="Arial"/>
                <a:ea typeface="Arial"/>
                <a:cs typeface="Arial"/>
              </a:rPr>
              <a:t>Working local question-answering app</a:t>
            </a:r>
          </a:p>
        </p:txBody>
      </p:sp>
      <p:sp>
        <p:nvSpPr>
          <p:cNvPr id="5" name="">
            <a:extLst xmlns:a="http://schemas.openxmlformats.org/drawingml/2006/main">
              <a:ext uri="{FF2B5EF4-FFF2-40B4-BE49-F238E27FC236}">
                <a16:creationId xmlns:a16="http://schemas.microsoft.com/office/drawing/2014/main" id="{99B7F0B1-BF15-4BEA-8F31-15A45A90CDF8}"/>
              </a:ext>
            </a:extLst>
          </p:cNvPr>
          <p:cNvSpPr>
            <a:spLocks xmlns:a="http://schemas.openxmlformats.org/drawingml/2006/main" noGrp="1"/>
          </p:cNvSpPr>
          <p:nvPr/>
        </p:nvSpPr>
        <p:spPr>
          <a:xfrm xmlns:a="http://schemas.openxmlformats.org/drawingml/2006/main">
            <a:off x="6429375" y="1381125"/>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173B5E"/>
                </a:solidFill>
                <a:latin typeface="Arial"/>
                <a:ea typeface="Arial"/>
                <a:cs typeface="Arial"/>
              </a:defRPr>
            </a:defPPr>
            <a:lvl1pPr>
              <a:defRPr sz="2025" b="1">
                <a:solidFill>
                  <a:srgbClr val="173B5E"/>
                </a:solidFill>
                <a:latin typeface="Arial"/>
                <a:ea typeface="Arial"/>
                <a:cs typeface="Arial"/>
              </a:defRPr>
            </a:lvl1pPr>
            <a:lvl2pPr>
              <a:defRPr sz="2025" b="1">
                <a:solidFill>
                  <a:srgbClr val="173B5E"/>
                </a:solidFill>
                <a:latin typeface="Arial"/>
                <a:ea typeface="Arial"/>
                <a:cs typeface="Arial"/>
              </a:defRPr>
            </a:lvl2pPr>
            <a:lvl3pPr>
              <a:defRPr sz="2025" b="1">
                <a:solidFill>
                  <a:srgbClr val="173B5E"/>
                </a:solidFill>
                <a:latin typeface="Arial"/>
                <a:ea typeface="Arial"/>
                <a:cs typeface="Arial"/>
              </a:defRPr>
            </a:lvl3pPr>
            <a:lvl4pPr>
              <a:defRPr sz="2025" b="1">
                <a:solidFill>
                  <a:srgbClr val="173B5E"/>
                </a:solidFill>
                <a:latin typeface="Arial"/>
                <a:ea typeface="Arial"/>
                <a:cs typeface="Arial"/>
              </a:defRPr>
            </a:lvl4pPr>
            <a:lvl5pPr>
              <a:defRPr sz="2025" b="1">
                <a:solidFill>
                  <a:srgbClr val="173B5E"/>
                </a:solidFill>
                <a:latin typeface="Arial"/>
                <a:ea typeface="Arial"/>
                <a:cs typeface="Arial"/>
              </a:defRPr>
            </a:lvl5pPr>
            <a:lvl6pPr>
              <a:defRPr sz="2025" b="1">
                <a:solidFill>
                  <a:srgbClr val="173B5E"/>
                </a:solidFill>
                <a:latin typeface="Arial"/>
                <a:ea typeface="Arial"/>
                <a:cs typeface="Arial"/>
              </a:defRPr>
            </a:lvl6pPr>
            <a:lvl7pPr>
              <a:defRPr sz="2025" b="1">
                <a:solidFill>
                  <a:srgbClr val="173B5E"/>
                </a:solidFill>
                <a:latin typeface="Arial"/>
                <a:ea typeface="Arial"/>
                <a:cs typeface="Arial"/>
              </a:defRPr>
            </a:lvl7pPr>
            <a:lvl8pPr>
              <a:defRPr sz="2025" b="1">
                <a:solidFill>
                  <a:srgbClr val="173B5E"/>
                </a:solidFill>
                <a:latin typeface="Arial"/>
                <a:ea typeface="Arial"/>
                <a:cs typeface="Arial"/>
              </a:defRPr>
            </a:lvl8pPr>
            <a:lvl9pPr>
              <a:defRPr sz="2025" b="1">
                <a:solidFill>
                  <a:srgbClr val="173B5E"/>
                </a:solidFill>
                <a:latin typeface="Arial"/>
                <a:ea typeface="Arial"/>
                <a:cs typeface="Arial"/>
              </a:defRPr>
            </a:lvl9pPr>
          </a:lstStyle>
          <a:p xmlns:a="http://schemas.openxmlformats.org/drawingml/2006/main">
            <a:pPr>
              <a:defRPr sz="2025" b="1">
                <a:solidFill>
                  <a:srgbClr val="173B5E"/>
                </a:solidFill>
                <a:latin typeface="Arial"/>
                <a:ea typeface="Arial"/>
                <a:cs typeface="Arial"/>
              </a:defRPr>
            </a:pPr>
            <a:r>
              <a:rPr sz="2025" b="1">
                <a:solidFill>
                  <a:srgbClr val="173B5E"/>
                </a:solidFill>
                <a:latin typeface="Arial"/>
                <a:ea typeface="Arial"/>
                <a:cs typeface="Arial"/>
              </a:rPr>
              <a:t>GraphRAG + GNN exploration</a:t>
            </a:r>
          </a:p>
        </p:txBody>
      </p:sp>
      <p:sp>
        <p:nvSpPr>
          <p:cNvPr id="6" name="">
            <a:extLst xmlns:a="http://schemas.openxmlformats.org/drawingml/2006/main">
              <a:ext uri="{FF2B5EF4-FFF2-40B4-BE49-F238E27FC236}">
                <a16:creationId xmlns:a16="http://schemas.microsoft.com/office/drawing/2014/main" id="{34443D30-7FE8-4FD9-8639-A9FB79114A7E}"/>
              </a:ext>
            </a:extLst>
          </p:cNvPr>
          <p:cNvSpPr>
            <a:spLocks xmlns:a="http://schemas.openxmlformats.org/drawingml/2006/main" noGrp="1"/>
          </p:cNvSpPr>
          <p:nvPr/>
        </p:nvSpPr>
        <p:spPr>
          <a:xfrm xmlns:a="http://schemas.openxmlformats.org/drawingml/2006/main">
            <a:off x="6429375" y="2000250"/>
            <a:ext cx="509587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3374D"/>
                </a:solidFill>
                <a:latin typeface="Arial"/>
                <a:ea typeface="Arial"/>
                <a:cs typeface="Arial"/>
              </a:defRPr>
            </a:defPPr>
            <a:lvl1pPr>
              <a:defRPr sz="1800" b="0">
                <a:solidFill>
                  <a:srgbClr val="23374D"/>
                </a:solidFill>
                <a:latin typeface="Arial"/>
                <a:ea typeface="Arial"/>
                <a:cs typeface="Arial"/>
              </a:defRPr>
            </a:lvl1pPr>
            <a:lvl2pPr>
              <a:defRPr sz="1800" b="0">
                <a:solidFill>
                  <a:srgbClr val="23374D"/>
                </a:solidFill>
                <a:latin typeface="Arial"/>
                <a:ea typeface="Arial"/>
                <a:cs typeface="Arial"/>
              </a:defRPr>
            </a:lvl2pPr>
            <a:lvl3pPr>
              <a:defRPr sz="1800" b="0">
                <a:solidFill>
                  <a:srgbClr val="23374D"/>
                </a:solidFill>
                <a:latin typeface="Arial"/>
                <a:ea typeface="Arial"/>
                <a:cs typeface="Arial"/>
              </a:defRPr>
            </a:lvl3pPr>
            <a:lvl4pPr>
              <a:defRPr sz="1800" b="0">
                <a:solidFill>
                  <a:srgbClr val="23374D"/>
                </a:solidFill>
                <a:latin typeface="Arial"/>
                <a:ea typeface="Arial"/>
                <a:cs typeface="Arial"/>
              </a:defRPr>
            </a:lvl4pPr>
            <a:lvl5pPr>
              <a:defRPr sz="1800" b="0">
                <a:solidFill>
                  <a:srgbClr val="23374D"/>
                </a:solidFill>
                <a:latin typeface="Arial"/>
                <a:ea typeface="Arial"/>
                <a:cs typeface="Arial"/>
              </a:defRPr>
            </a:lvl5pPr>
            <a:lvl6pPr>
              <a:defRPr sz="1800" b="0">
                <a:solidFill>
                  <a:srgbClr val="23374D"/>
                </a:solidFill>
                <a:latin typeface="Arial"/>
                <a:ea typeface="Arial"/>
                <a:cs typeface="Arial"/>
              </a:defRPr>
            </a:lvl6pPr>
            <a:lvl7pPr>
              <a:defRPr sz="1800" b="0">
                <a:solidFill>
                  <a:srgbClr val="23374D"/>
                </a:solidFill>
                <a:latin typeface="Arial"/>
                <a:ea typeface="Arial"/>
                <a:cs typeface="Arial"/>
              </a:defRPr>
            </a:lvl7pPr>
            <a:lvl8pPr>
              <a:defRPr sz="1800" b="0">
                <a:solidFill>
                  <a:srgbClr val="23374D"/>
                </a:solidFill>
                <a:latin typeface="Arial"/>
                <a:ea typeface="Arial"/>
                <a:cs typeface="Arial"/>
              </a:defRPr>
            </a:lvl8pPr>
            <a:lvl9pPr>
              <a:defRPr sz="1800" b="0">
                <a:solidFill>
                  <a:srgbClr val="23374D"/>
                </a:solidFill>
                <a:latin typeface="Arial"/>
                <a:ea typeface="Arial"/>
                <a:cs typeface="Arial"/>
              </a:defRPr>
            </a:lvl9pPr>
          </a:lstStyle>
          <a:p xmlns:a="http://schemas.openxmlformats.org/drawingml/2006/main">
            <a:pPr>
              <a:defRPr sz="1800" b="0">
                <a:solidFill>
                  <a:srgbClr val="23374D"/>
                </a:solidFill>
                <a:latin typeface="Arial"/>
                <a:ea typeface="Arial"/>
                <a:cs typeface="Arial"/>
              </a:defRPr>
            </a:pPr>
            <a:r>
              <a:rPr sz="1800" b="0">
                <a:solidFill>
                  <a:srgbClr val="23374D"/>
                </a:solidFill>
                <a:latin typeface="Arial"/>
                <a:ea typeface="Arial"/>
                <a:cs typeface="Arial"/>
              </a:rPr>
              <a:t>One-step product messages</a:t>
            </a:r>
          </a:p>
          <a:p xmlns:a="http://schemas.openxmlformats.org/drawingml/2006/main">
            <a:pPr>
              <a:defRPr sz="1800" b="0">
                <a:solidFill>
                  <a:srgbClr val="23374D"/>
                </a:solidFill>
                <a:latin typeface="Arial"/>
                <a:ea typeface="Arial"/>
                <a:cs typeface="Arial"/>
              </a:defRPr>
            </a:pPr>
            <a:r>
              <a:rPr sz="1800" b="0">
                <a:solidFill>
                  <a:srgbClr val="23374D"/>
                </a:solidFill>
                <a:latin typeface="Arial"/>
                <a:ea typeface="Arial"/>
                <a:cs typeface="Arial"/>
              </a:rPr>
              <a:t>Customer embedding cosine</a:t>
            </a:r>
          </a:p>
          <a:p xmlns:a="http://schemas.openxmlformats.org/drawingml/2006/main">
            <a:pPr>
              <a:defRPr sz="1800" b="0">
                <a:solidFill>
                  <a:srgbClr val="23374D"/>
                </a:solidFill>
                <a:latin typeface="Arial"/>
                <a:ea typeface="Arial"/>
                <a:cs typeface="Arial"/>
              </a:defRPr>
            </a:pPr>
            <a:r>
              <a:rPr sz="1800" b="0">
                <a:solidFill>
                  <a:srgbClr val="23374D"/>
                </a:solidFill>
                <a:latin typeface="Arial"/>
                <a:ea typeface="Arial"/>
                <a:cs typeface="Arial"/>
              </a:rPr>
              <a:t>Edge-removal sensitivity check</a:t>
            </a:r>
          </a:p>
          <a:p xmlns:a="http://schemas.openxmlformats.org/drawingml/2006/main">
            <a:pPr>
              <a:defRPr sz="1800" b="0">
                <a:solidFill>
                  <a:srgbClr val="23374D"/>
                </a:solidFill>
                <a:latin typeface="Arial"/>
                <a:ea typeface="Arial"/>
                <a:cs typeface="Arial"/>
              </a:defRPr>
            </a:pPr>
            <a:r>
              <a:rPr sz="1800" b="0">
                <a:solidFill>
                  <a:srgbClr val="23374D"/>
                </a:solidFill>
                <a:latin typeface="Arial"/>
                <a:ea typeface="Arial"/>
                <a:cs typeface="Arial"/>
              </a:rPr>
              <a:t>Candidate ranking design</a:t>
            </a:r>
          </a:p>
          <a:p xmlns:a="http://schemas.openxmlformats.org/drawingml/2006/main">
            <a:pPr>
              <a:defRPr sz="1800" b="0">
                <a:solidFill>
                  <a:srgbClr val="23374D"/>
                </a:solidFill>
                <a:latin typeface="Arial"/>
                <a:ea typeface="Arial"/>
                <a:cs typeface="Arial"/>
              </a:defRPr>
            </a:pPr>
            <a:r>
              <a:rPr sz="1800" b="0">
                <a:solidFill>
                  <a:srgbClr val="23374D"/>
                </a:solidFill>
                <a:latin typeface="Arial"/>
                <a:ea typeface="Arial"/>
                <a:cs typeface="Arial"/>
              </a:rPr>
              <a:t>No trained model or quality gain yet</a:t>
            </a:r>
          </a:p>
        </p:txBody>
      </p:sp>
      <p:sp>
        <p:nvSpPr>
          <p:cNvPr id="7" name="">
            <a:extLst xmlns:a="http://schemas.openxmlformats.org/drawingml/2006/main">
              <a:ext uri="{FF2B5EF4-FFF2-40B4-BE49-F238E27FC236}">
                <a16:creationId xmlns:a16="http://schemas.microsoft.com/office/drawing/2014/main" id="{323329A7-2643-4E4E-95CD-0E34A86DAAE1}"/>
              </a:ext>
            </a:extLst>
          </p:cNvPr>
          <p:cNvSpPr>
            <a:spLocks xmlns:a="http://schemas.openxmlformats.org/drawingml/2006/main" noGrp="1"/>
          </p:cNvSpPr>
          <p:nvPr/>
        </p:nvSpPr>
        <p:spPr>
          <a:xfrm xmlns:a="http://schemas.openxmlformats.org/drawingml/2006/main">
            <a:off x="666750" y="547687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73B5E"/>
                </a:solidFill>
                <a:latin typeface="Arial"/>
                <a:ea typeface="Arial"/>
                <a:cs typeface="Arial"/>
              </a:defRPr>
            </a:defPPr>
            <a:lvl1pPr>
              <a:defRPr sz="1800" b="1">
                <a:solidFill>
                  <a:srgbClr val="173B5E"/>
                </a:solidFill>
                <a:latin typeface="Arial"/>
                <a:ea typeface="Arial"/>
                <a:cs typeface="Arial"/>
              </a:defRPr>
            </a:lvl1pPr>
            <a:lvl2pPr>
              <a:defRPr sz="1800" b="1">
                <a:solidFill>
                  <a:srgbClr val="173B5E"/>
                </a:solidFill>
                <a:latin typeface="Arial"/>
                <a:ea typeface="Arial"/>
                <a:cs typeface="Arial"/>
              </a:defRPr>
            </a:lvl2pPr>
            <a:lvl3pPr>
              <a:defRPr sz="1800" b="1">
                <a:solidFill>
                  <a:srgbClr val="173B5E"/>
                </a:solidFill>
                <a:latin typeface="Arial"/>
                <a:ea typeface="Arial"/>
                <a:cs typeface="Arial"/>
              </a:defRPr>
            </a:lvl3pPr>
            <a:lvl4pPr>
              <a:defRPr sz="1800" b="1">
                <a:solidFill>
                  <a:srgbClr val="173B5E"/>
                </a:solidFill>
                <a:latin typeface="Arial"/>
                <a:ea typeface="Arial"/>
                <a:cs typeface="Arial"/>
              </a:defRPr>
            </a:lvl4pPr>
            <a:lvl5pPr>
              <a:defRPr sz="1800" b="1">
                <a:solidFill>
                  <a:srgbClr val="173B5E"/>
                </a:solidFill>
                <a:latin typeface="Arial"/>
                <a:ea typeface="Arial"/>
                <a:cs typeface="Arial"/>
              </a:defRPr>
            </a:lvl5pPr>
            <a:lvl6pPr>
              <a:defRPr sz="1800" b="1">
                <a:solidFill>
                  <a:srgbClr val="173B5E"/>
                </a:solidFill>
                <a:latin typeface="Arial"/>
                <a:ea typeface="Arial"/>
                <a:cs typeface="Arial"/>
              </a:defRPr>
            </a:lvl6pPr>
            <a:lvl7pPr>
              <a:defRPr sz="1800" b="1">
                <a:solidFill>
                  <a:srgbClr val="173B5E"/>
                </a:solidFill>
                <a:latin typeface="Arial"/>
                <a:ea typeface="Arial"/>
                <a:cs typeface="Arial"/>
              </a:defRPr>
            </a:lvl7pPr>
            <a:lvl8pPr>
              <a:defRPr sz="1800" b="1">
                <a:solidFill>
                  <a:srgbClr val="173B5E"/>
                </a:solidFill>
                <a:latin typeface="Arial"/>
                <a:ea typeface="Arial"/>
                <a:cs typeface="Arial"/>
              </a:defRPr>
            </a:lvl8pPr>
            <a:lvl9pPr>
              <a:defRPr sz="1800" b="1">
                <a:solidFill>
                  <a:srgbClr val="173B5E"/>
                </a:solidFill>
                <a:latin typeface="Arial"/>
                <a:ea typeface="Arial"/>
                <a:cs typeface="Arial"/>
              </a:defRPr>
            </a:lvl9pPr>
          </a:lstStyle>
          <a:p xmlns:a="http://schemas.openxmlformats.org/drawingml/2006/main">
            <a:pPr>
              <a:defRPr sz="1800" b="1">
                <a:solidFill>
                  <a:srgbClr val="173B5E"/>
                </a:solidFill>
                <a:latin typeface="Arial"/>
                <a:ea typeface="Arial"/>
                <a:cs typeface="Arial"/>
              </a:defRPr>
            </a:pPr>
            <a:r>
              <a:rPr sz="1800" b="1">
                <a:solidFill>
                  <a:srgbClr val="173B5E"/>
                </a:solidFill>
                <a:latin typeface="Arial"/>
                <a:ea typeface="Arial"/>
                <a:cs typeface="Arial"/>
              </a:rPr>
              <a:t>Observation: embeddings react to links; source-backed Cypher remains necessary for explanation.</a:t>
            </a:r>
          </a:p>
        </p:txBody>
      </p:sp>
    </p:spTree>
    <p:extLst>
      <p:ext uri="{BB962C8B-B14F-4D97-AF65-F5344CB8AC3E}">
        <p14:creationId xmlns:p14="http://schemas.microsoft.com/office/powerpoint/2010/main" val="105022203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B72046E-7E74-4023-A7CF-D69EAAD749E2}"/>
              </a:ext>
            </a:extLst>
          </p:cNvPr>
          <p:cNvSpPr>
            <a:spLocks xmlns:a="http://schemas.openxmlformats.org/drawingml/2006/main" noGrp="1"/>
          </p:cNvSpPr>
          <p:nvPr/>
        </p:nvSpPr>
        <p:spPr>
          <a:xfrm xmlns:a="http://schemas.openxmlformats.org/drawingml/2006/main">
            <a:off x="523875" y="32385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173B5E"/>
                </a:solidFill>
                <a:latin typeface="Arial"/>
                <a:ea typeface="Arial"/>
                <a:cs typeface="Arial"/>
              </a:defRPr>
            </a:defPPr>
            <a:lvl1pPr>
              <a:defRPr sz="2700" b="1">
                <a:solidFill>
                  <a:srgbClr val="173B5E"/>
                </a:solidFill>
                <a:latin typeface="Arial"/>
                <a:ea typeface="Arial"/>
                <a:cs typeface="Arial"/>
              </a:defRPr>
            </a:lvl1pPr>
            <a:lvl2pPr>
              <a:defRPr sz="2700" b="1">
                <a:solidFill>
                  <a:srgbClr val="173B5E"/>
                </a:solidFill>
                <a:latin typeface="Arial"/>
                <a:ea typeface="Arial"/>
                <a:cs typeface="Arial"/>
              </a:defRPr>
            </a:lvl2pPr>
            <a:lvl3pPr>
              <a:defRPr sz="2700" b="1">
                <a:solidFill>
                  <a:srgbClr val="173B5E"/>
                </a:solidFill>
                <a:latin typeface="Arial"/>
                <a:ea typeface="Arial"/>
                <a:cs typeface="Arial"/>
              </a:defRPr>
            </a:lvl3pPr>
            <a:lvl4pPr>
              <a:defRPr sz="2700" b="1">
                <a:solidFill>
                  <a:srgbClr val="173B5E"/>
                </a:solidFill>
                <a:latin typeface="Arial"/>
                <a:ea typeface="Arial"/>
                <a:cs typeface="Arial"/>
              </a:defRPr>
            </a:lvl4pPr>
            <a:lvl5pPr>
              <a:defRPr sz="2700" b="1">
                <a:solidFill>
                  <a:srgbClr val="173B5E"/>
                </a:solidFill>
                <a:latin typeface="Arial"/>
                <a:ea typeface="Arial"/>
                <a:cs typeface="Arial"/>
              </a:defRPr>
            </a:lvl5pPr>
            <a:lvl6pPr>
              <a:defRPr sz="2700" b="1">
                <a:solidFill>
                  <a:srgbClr val="173B5E"/>
                </a:solidFill>
                <a:latin typeface="Arial"/>
                <a:ea typeface="Arial"/>
                <a:cs typeface="Arial"/>
              </a:defRPr>
            </a:lvl6pPr>
            <a:lvl7pPr>
              <a:defRPr sz="2700" b="1">
                <a:solidFill>
                  <a:srgbClr val="173B5E"/>
                </a:solidFill>
                <a:latin typeface="Arial"/>
                <a:ea typeface="Arial"/>
                <a:cs typeface="Arial"/>
              </a:defRPr>
            </a:lvl7pPr>
            <a:lvl8pPr>
              <a:defRPr sz="2700" b="1">
                <a:solidFill>
                  <a:srgbClr val="173B5E"/>
                </a:solidFill>
                <a:latin typeface="Arial"/>
                <a:ea typeface="Arial"/>
                <a:cs typeface="Arial"/>
              </a:defRPr>
            </a:lvl8pPr>
            <a:lvl9pPr>
              <a:defRPr sz="2700" b="1">
                <a:solidFill>
                  <a:srgbClr val="173B5E"/>
                </a:solidFill>
                <a:latin typeface="Arial"/>
                <a:ea typeface="Arial"/>
                <a:cs typeface="Arial"/>
              </a:defRPr>
            </a:lvl9pPr>
          </a:lstStyle>
          <a:p xmlns:a="http://schemas.openxmlformats.org/drawingml/2006/main">
            <a:pPr>
              <a:defRPr sz="2700" b="1">
                <a:solidFill>
                  <a:srgbClr val="173B5E"/>
                </a:solidFill>
                <a:latin typeface="Arial"/>
                <a:ea typeface="Arial"/>
                <a:cs typeface="Arial"/>
              </a:defRPr>
            </a:pPr>
            <a:r>
              <a:rPr sz="2700" b="1">
                <a:solidFill>
                  <a:srgbClr val="173B5E"/>
                </a:solidFill>
                <a:latin typeface="Arial"/>
                <a:ea typeface="Arial"/>
                <a:cs typeface="Arial"/>
              </a:rPr>
              <a:t>Human–AI co-design and revision</a:t>
            </a:r>
          </a:p>
        </p:txBody>
      </p:sp>
      <p:sp>
        <p:nvSpPr>
          <p:cNvPr id="2" name="">
            <a:extLst xmlns:a="http://schemas.openxmlformats.org/drawingml/2006/main">
              <a:ext uri="{FF2B5EF4-FFF2-40B4-BE49-F238E27FC236}">
                <a16:creationId xmlns:a16="http://schemas.microsoft.com/office/drawing/2014/main" id="{D0415038-A5EE-4A7A-BFB7-AF1E039899AF}"/>
              </a:ext>
            </a:extLst>
          </p:cNvPr>
          <p:cNvSpPr>
            <a:spLocks xmlns:a="http://schemas.openxmlformats.org/drawingml/2006/main" noGrp="1"/>
          </p:cNvSpPr>
          <p:nvPr/>
        </p:nvSpPr>
        <p:spPr>
          <a:xfrm xmlns:a="http://schemas.openxmlformats.org/drawingml/2006/main">
            <a:off x="523875" y="6505575"/>
            <a:ext cx="11144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566E82"/>
                </a:solidFill>
                <a:latin typeface="Arial"/>
                <a:ea typeface="Arial"/>
                <a:cs typeface="Arial"/>
              </a:defRPr>
            </a:defPPr>
            <a:lvl1pPr>
              <a:defRPr sz="1050" b="0">
                <a:solidFill>
                  <a:srgbClr val="566E82"/>
                </a:solidFill>
                <a:latin typeface="Arial"/>
                <a:ea typeface="Arial"/>
                <a:cs typeface="Arial"/>
              </a:defRPr>
            </a:lvl1pPr>
            <a:lvl2pPr>
              <a:defRPr sz="1050" b="0">
                <a:solidFill>
                  <a:srgbClr val="566E82"/>
                </a:solidFill>
                <a:latin typeface="Arial"/>
                <a:ea typeface="Arial"/>
                <a:cs typeface="Arial"/>
              </a:defRPr>
            </a:lvl2pPr>
            <a:lvl3pPr>
              <a:defRPr sz="1050" b="0">
                <a:solidFill>
                  <a:srgbClr val="566E82"/>
                </a:solidFill>
                <a:latin typeface="Arial"/>
                <a:ea typeface="Arial"/>
                <a:cs typeface="Arial"/>
              </a:defRPr>
            </a:lvl3pPr>
            <a:lvl4pPr>
              <a:defRPr sz="1050" b="0">
                <a:solidFill>
                  <a:srgbClr val="566E82"/>
                </a:solidFill>
                <a:latin typeface="Arial"/>
                <a:ea typeface="Arial"/>
                <a:cs typeface="Arial"/>
              </a:defRPr>
            </a:lvl4pPr>
            <a:lvl5pPr>
              <a:defRPr sz="1050" b="0">
                <a:solidFill>
                  <a:srgbClr val="566E82"/>
                </a:solidFill>
                <a:latin typeface="Arial"/>
                <a:ea typeface="Arial"/>
                <a:cs typeface="Arial"/>
              </a:defRPr>
            </a:lvl5pPr>
            <a:lvl6pPr>
              <a:defRPr sz="1050" b="0">
                <a:solidFill>
                  <a:srgbClr val="566E82"/>
                </a:solidFill>
                <a:latin typeface="Arial"/>
                <a:ea typeface="Arial"/>
                <a:cs typeface="Arial"/>
              </a:defRPr>
            </a:lvl6pPr>
            <a:lvl7pPr>
              <a:defRPr sz="1050" b="0">
                <a:solidFill>
                  <a:srgbClr val="566E82"/>
                </a:solidFill>
                <a:latin typeface="Arial"/>
                <a:ea typeface="Arial"/>
                <a:cs typeface="Arial"/>
              </a:defRPr>
            </a:lvl7pPr>
            <a:lvl8pPr>
              <a:defRPr sz="1050" b="0">
                <a:solidFill>
                  <a:srgbClr val="566E82"/>
                </a:solidFill>
                <a:latin typeface="Arial"/>
                <a:ea typeface="Arial"/>
                <a:cs typeface="Arial"/>
              </a:defRPr>
            </a:lvl8pPr>
            <a:lvl9pPr>
              <a:defRPr sz="1050" b="0">
                <a:solidFill>
                  <a:srgbClr val="566E82"/>
                </a:solidFill>
                <a:latin typeface="Arial"/>
                <a:ea typeface="Arial"/>
                <a:cs typeface="Arial"/>
              </a:defRPr>
            </a:lvl9pPr>
          </a:lstStyle>
          <a:p xmlns:a="http://schemas.openxmlformats.org/drawingml/2006/main">
            <a:pPr>
              <a:defRPr sz="1050" b="0">
                <a:solidFill>
                  <a:srgbClr val="566E82"/>
                </a:solidFill>
                <a:latin typeface="Arial"/>
                <a:ea typeface="Arial"/>
                <a:cs typeface="Arial"/>
              </a:defRPr>
            </a:pPr>
            <a:r>
              <a:rPr sz="1050" b="0">
                <a:solidFill>
                  <a:srgbClr val="566E82"/>
                </a:solidFill>
                <a:latin typeface="Arial"/>
                <a:ea typeface="Arial"/>
                <a:cs typeface="Arial"/>
              </a:rPr>
              <a:t>Retail360  |  CS 5588 Challenge 3                                         9/10</a:t>
            </a:r>
          </a:p>
        </p:txBody>
      </p:sp>
      <p:sp>
        <p:nvSpPr>
          <p:cNvPr id="3" name="">
            <a:extLst xmlns:a="http://schemas.openxmlformats.org/drawingml/2006/main">
              <a:ext uri="{FF2B5EF4-FFF2-40B4-BE49-F238E27FC236}">
                <a16:creationId xmlns:a16="http://schemas.microsoft.com/office/drawing/2014/main" id="{E13B6A3F-123C-4667-97C0-B8F3101443D8}"/>
              </a:ext>
            </a:extLst>
          </p:cNvPr>
          <p:cNvSpPr>
            <a:spLocks xmlns:a="http://schemas.openxmlformats.org/drawingml/2006/main" noGrp="1"/>
          </p:cNvSpPr>
          <p:nvPr/>
        </p:nvSpPr>
        <p:spPr>
          <a:xfrm xmlns:a="http://schemas.openxmlformats.org/drawingml/2006/main">
            <a:off x="571500" y="142875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173B5E"/>
                </a:solidFill>
                <a:latin typeface="Arial"/>
                <a:ea typeface="Arial"/>
                <a:cs typeface="Arial"/>
              </a:defRPr>
            </a:defPPr>
            <a:lvl1pPr>
              <a:defRPr sz="1950" b="1">
                <a:solidFill>
                  <a:srgbClr val="173B5E"/>
                </a:solidFill>
                <a:latin typeface="Arial"/>
                <a:ea typeface="Arial"/>
                <a:cs typeface="Arial"/>
              </a:defRPr>
            </a:lvl1pPr>
            <a:lvl2pPr>
              <a:defRPr sz="1950" b="1">
                <a:solidFill>
                  <a:srgbClr val="173B5E"/>
                </a:solidFill>
                <a:latin typeface="Arial"/>
                <a:ea typeface="Arial"/>
                <a:cs typeface="Arial"/>
              </a:defRPr>
            </a:lvl2pPr>
            <a:lvl3pPr>
              <a:defRPr sz="1950" b="1">
                <a:solidFill>
                  <a:srgbClr val="173B5E"/>
                </a:solidFill>
                <a:latin typeface="Arial"/>
                <a:ea typeface="Arial"/>
                <a:cs typeface="Arial"/>
              </a:defRPr>
            </a:lvl3pPr>
            <a:lvl4pPr>
              <a:defRPr sz="1950" b="1">
                <a:solidFill>
                  <a:srgbClr val="173B5E"/>
                </a:solidFill>
                <a:latin typeface="Arial"/>
                <a:ea typeface="Arial"/>
                <a:cs typeface="Arial"/>
              </a:defRPr>
            </a:lvl4pPr>
            <a:lvl5pPr>
              <a:defRPr sz="1950" b="1">
                <a:solidFill>
                  <a:srgbClr val="173B5E"/>
                </a:solidFill>
                <a:latin typeface="Arial"/>
                <a:ea typeface="Arial"/>
                <a:cs typeface="Arial"/>
              </a:defRPr>
            </a:lvl5pPr>
            <a:lvl6pPr>
              <a:defRPr sz="1950" b="1">
                <a:solidFill>
                  <a:srgbClr val="173B5E"/>
                </a:solidFill>
                <a:latin typeface="Arial"/>
                <a:ea typeface="Arial"/>
                <a:cs typeface="Arial"/>
              </a:defRPr>
            </a:lvl6pPr>
            <a:lvl7pPr>
              <a:defRPr sz="1950" b="1">
                <a:solidFill>
                  <a:srgbClr val="173B5E"/>
                </a:solidFill>
                <a:latin typeface="Arial"/>
                <a:ea typeface="Arial"/>
                <a:cs typeface="Arial"/>
              </a:defRPr>
            </a:lvl7pPr>
            <a:lvl8pPr>
              <a:defRPr sz="1950" b="1">
                <a:solidFill>
                  <a:srgbClr val="173B5E"/>
                </a:solidFill>
                <a:latin typeface="Arial"/>
                <a:ea typeface="Arial"/>
                <a:cs typeface="Arial"/>
              </a:defRPr>
            </a:lvl8pPr>
            <a:lvl9pPr>
              <a:defRPr sz="1950" b="1">
                <a:solidFill>
                  <a:srgbClr val="173B5E"/>
                </a:solidFill>
                <a:latin typeface="Arial"/>
                <a:ea typeface="Arial"/>
                <a:cs typeface="Arial"/>
              </a:defRPr>
            </a:lvl9pPr>
          </a:lstStyle>
          <a:p xmlns:a="http://schemas.openxmlformats.org/drawingml/2006/main">
            <a:pPr>
              <a:defRPr sz="1950" b="1">
                <a:solidFill>
                  <a:srgbClr val="173B5E"/>
                </a:solidFill>
                <a:latin typeface="Arial"/>
                <a:ea typeface="Arial"/>
                <a:cs typeface="Arial"/>
              </a:defRPr>
            </a:pPr>
            <a:r>
              <a:rPr sz="1950" b="1">
                <a:solidFill>
                  <a:srgbClr val="173B5E"/>
                </a:solidFill>
                <a:latin typeface="Arial"/>
                <a:ea typeface="Arial"/>
                <a:cs typeface="Arial"/>
              </a:rPr>
              <a:t>Human goal</a:t>
            </a:r>
          </a:p>
        </p:txBody>
      </p:sp>
      <p:sp>
        <p:nvSpPr>
          <p:cNvPr id="4" name="">
            <a:extLst xmlns:a="http://schemas.openxmlformats.org/drawingml/2006/main">
              <a:ext uri="{FF2B5EF4-FFF2-40B4-BE49-F238E27FC236}">
                <a16:creationId xmlns:a16="http://schemas.microsoft.com/office/drawing/2014/main" id="{53B9FF21-0628-4AE1-9536-8CE969AFF499}"/>
              </a:ext>
            </a:extLst>
          </p:cNvPr>
          <p:cNvSpPr>
            <a:spLocks xmlns:a="http://schemas.openxmlformats.org/drawingml/2006/main" noGrp="1"/>
          </p:cNvSpPr>
          <p:nvPr/>
        </p:nvSpPr>
        <p:spPr>
          <a:xfrm xmlns:a="http://schemas.openxmlformats.org/drawingml/2006/main">
            <a:off x="571500" y="1952625"/>
            <a:ext cx="300037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23374D"/>
                </a:solidFill>
                <a:latin typeface="Arial"/>
                <a:ea typeface="Arial"/>
                <a:cs typeface="Arial"/>
              </a:defRPr>
            </a:defPPr>
            <a:lvl1pPr>
              <a:defRPr sz="1725" b="0">
                <a:solidFill>
                  <a:srgbClr val="23374D"/>
                </a:solidFill>
                <a:latin typeface="Arial"/>
                <a:ea typeface="Arial"/>
                <a:cs typeface="Arial"/>
              </a:defRPr>
            </a:lvl1pPr>
            <a:lvl2pPr>
              <a:defRPr sz="1725" b="0">
                <a:solidFill>
                  <a:srgbClr val="23374D"/>
                </a:solidFill>
                <a:latin typeface="Arial"/>
                <a:ea typeface="Arial"/>
                <a:cs typeface="Arial"/>
              </a:defRPr>
            </a:lvl2pPr>
            <a:lvl3pPr>
              <a:defRPr sz="1725" b="0">
                <a:solidFill>
                  <a:srgbClr val="23374D"/>
                </a:solidFill>
                <a:latin typeface="Arial"/>
                <a:ea typeface="Arial"/>
                <a:cs typeface="Arial"/>
              </a:defRPr>
            </a:lvl3pPr>
            <a:lvl4pPr>
              <a:defRPr sz="1725" b="0">
                <a:solidFill>
                  <a:srgbClr val="23374D"/>
                </a:solidFill>
                <a:latin typeface="Arial"/>
                <a:ea typeface="Arial"/>
                <a:cs typeface="Arial"/>
              </a:defRPr>
            </a:lvl4pPr>
            <a:lvl5pPr>
              <a:defRPr sz="1725" b="0">
                <a:solidFill>
                  <a:srgbClr val="23374D"/>
                </a:solidFill>
                <a:latin typeface="Arial"/>
                <a:ea typeface="Arial"/>
                <a:cs typeface="Arial"/>
              </a:defRPr>
            </a:lvl5pPr>
            <a:lvl6pPr>
              <a:defRPr sz="1725" b="0">
                <a:solidFill>
                  <a:srgbClr val="23374D"/>
                </a:solidFill>
                <a:latin typeface="Arial"/>
                <a:ea typeface="Arial"/>
                <a:cs typeface="Arial"/>
              </a:defRPr>
            </a:lvl6pPr>
            <a:lvl7pPr>
              <a:defRPr sz="1725" b="0">
                <a:solidFill>
                  <a:srgbClr val="23374D"/>
                </a:solidFill>
                <a:latin typeface="Arial"/>
                <a:ea typeface="Arial"/>
                <a:cs typeface="Arial"/>
              </a:defRPr>
            </a:lvl7pPr>
            <a:lvl8pPr>
              <a:defRPr sz="1725" b="0">
                <a:solidFill>
                  <a:srgbClr val="23374D"/>
                </a:solidFill>
                <a:latin typeface="Arial"/>
                <a:ea typeface="Arial"/>
                <a:cs typeface="Arial"/>
              </a:defRPr>
            </a:lvl8pPr>
            <a:lvl9pPr>
              <a:defRPr sz="1725" b="0">
                <a:solidFill>
                  <a:srgbClr val="23374D"/>
                </a:solidFill>
                <a:latin typeface="Arial"/>
                <a:ea typeface="Arial"/>
                <a:cs typeface="Arial"/>
              </a:defRPr>
            </a:lvl9pPr>
          </a:lstStyle>
          <a:p xmlns:a="http://schemas.openxmlformats.org/drawingml/2006/main">
            <a:pPr>
              <a:defRPr sz="1725" b="0">
                <a:solidFill>
                  <a:srgbClr val="23374D"/>
                </a:solidFill>
                <a:latin typeface="Arial"/>
                <a:ea typeface="Arial"/>
                <a:cs typeface="Arial"/>
              </a:defRPr>
            </a:pPr>
            <a:r>
              <a:rPr sz="1725" b="0">
                <a:solidFill>
                  <a:srgbClr val="23374D"/>
                </a:solidFill>
                <a:latin typeface="Arial"/>
                <a:ea typeface="Arial"/>
                <a:cs typeface="Arial"/>
              </a:rPr>
              <a:t>Explain which customers share purchases and show the source records.</a:t>
            </a:r>
          </a:p>
        </p:txBody>
      </p:sp>
      <p:sp>
        <p:nvSpPr>
          <p:cNvPr id="5" name="">
            <a:extLst xmlns:a="http://schemas.openxmlformats.org/drawingml/2006/main">
              <a:ext uri="{FF2B5EF4-FFF2-40B4-BE49-F238E27FC236}">
                <a16:creationId xmlns:a16="http://schemas.microsoft.com/office/drawing/2014/main" id="{9142122A-7CD8-495F-995A-B2DD15D7ED99}"/>
              </a:ext>
            </a:extLst>
          </p:cNvPr>
          <p:cNvSpPr>
            <a:spLocks xmlns:a="http://schemas.openxmlformats.org/drawingml/2006/main" noGrp="1"/>
          </p:cNvSpPr>
          <p:nvPr/>
        </p:nvSpPr>
        <p:spPr>
          <a:xfrm xmlns:a="http://schemas.openxmlformats.org/drawingml/2006/main">
            <a:off x="4095750" y="142875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173B5E"/>
                </a:solidFill>
                <a:latin typeface="Arial"/>
                <a:ea typeface="Arial"/>
                <a:cs typeface="Arial"/>
              </a:defRPr>
            </a:defPPr>
            <a:lvl1pPr>
              <a:defRPr sz="1950" b="1">
                <a:solidFill>
                  <a:srgbClr val="173B5E"/>
                </a:solidFill>
                <a:latin typeface="Arial"/>
                <a:ea typeface="Arial"/>
                <a:cs typeface="Arial"/>
              </a:defRPr>
            </a:lvl1pPr>
            <a:lvl2pPr>
              <a:defRPr sz="1950" b="1">
                <a:solidFill>
                  <a:srgbClr val="173B5E"/>
                </a:solidFill>
                <a:latin typeface="Arial"/>
                <a:ea typeface="Arial"/>
                <a:cs typeface="Arial"/>
              </a:defRPr>
            </a:lvl2pPr>
            <a:lvl3pPr>
              <a:defRPr sz="1950" b="1">
                <a:solidFill>
                  <a:srgbClr val="173B5E"/>
                </a:solidFill>
                <a:latin typeface="Arial"/>
                <a:ea typeface="Arial"/>
                <a:cs typeface="Arial"/>
              </a:defRPr>
            </a:lvl3pPr>
            <a:lvl4pPr>
              <a:defRPr sz="1950" b="1">
                <a:solidFill>
                  <a:srgbClr val="173B5E"/>
                </a:solidFill>
                <a:latin typeface="Arial"/>
                <a:ea typeface="Arial"/>
                <a:cs typeface="Arial"/>
              </a:defRPr>
            </a:lvl4pPr>
            <a:lvl5pPr>
              <a:defRPr sz="1950" b="1">
                <a:solidFill>
                  <a:srgbClr val="173B5E"/>
                </a:solidFill>
                <a:latin typeface="Arial"/>
                <a:ea typeface="Arial"/>
                <a:cs typeface="Arial"/>
              </a:defRPr>
            </a:lvl5pPr>
            <a:lvl6pPr>
              <a:defRPr sz="1950" b="1">
                <a:solidFill>
                  <a:srgbClr val="173B5E"/>
                </a:solidFill>
                <a:latin typeface="Arial"/>
                <a:ea typeface="Arial"/>
                <a:cs typeface="Arial"/>
              </a:defRPr>
            </a:lvl6pPr>
            <a:lvl7pPr>
              <a:defRPr sz="1950" b="1">
                <a:solidFill>
                  <a:srgbClr val="173B5E"/>
                </a:solidFill>
                <a:latin typeface="Arial"/>
                <a:ea typeface="Arial"/>
                <a:cs typeface="Arial"/>
              </a:defRPr>
            </a:lvl7pPr>
            <a:lvl8pPr>
              <a:defRPr sz="1950" b="1">
                <a:solidFill>
                  <a:srgbClr val="173B5E"/>
                </a:solidFill>
                <a:latin typeface="Arial"/>
                <a:ea typeface="Arial"/>
                <a:cs typeface="Arial"/>
              </a:defRPr>
            </a:lvl8pPr>
            <a:lvl9pPr>
              <a:defRPr sz="1950" b="1">
                <a:solidFill>
                  <a:srgbClr val="173B5E"/>
                </a:solidFill>
                <a:latin typeface="Arial"/>
                <a:ea typeface="Arial"/>
                <a:cs typeface="Arial"/>
              </a:defRPr>
            </a:lvl9pPr>
          </a:lstStyle>
          <a:p xmlns:a="http://schemas.openxmlformats.org/drawingml/2006/main">
            <a:pPr>
              <a:defRPr sz="1950" b="1">
                <a:solidFill>
                  <a:srgbClr val="173B5E"/>
                </a:solidFill>
                <a:latin typeface="Arial"/>
                <a:ea typeface="Arial"/>
                <a:cs typeface="Arial"/>
              </a:defRPr>
            </a:pPr>
            <a:r>
              <a:rPr sz="1950" b="1">
                <a:solidFill>
                  <a:srgbClr val="173B5E"/>
                </a:solidFill>
                <a:latin typeface="Arial"/>
                <a:ea typeface="Arial"/>
                <a:cs typeface="Arial"/>
              </a:rPr>
              <a:t>Codex suggestion</a:t>
            </a:r>
          </a:p>
        </p:txBody>
      </p:sp>
      <p:sp>
        <p:nvSpPr>
          <p:cNvPr id="6" name="">
            <a:extLst xmlns:a="http://schemas.openxmlformats.org/drawingml/2006/main">
              <a:ext uri="{FF2B5EF4-FFF2-40B4-BE49-F238E27FC236}">
                <a16:creationId xmlns:a16="http://schemas.microsoft.com/office/drawing/2014/main" id="{E4B90790-3B62-4D9A-9353-D4F73F5F29BF}"/>
              </a:ext>
            </a:extLst>
          </p:cNvPr>
          <p:cNvSpPr>
            <a:spLocks xmlns:a="http://schemas.openxmlformats.org/drawingml/2006/main" noGrp="1"/>
          </p:cNvSpPr>
          <p:nvPr/>
        </p:nvSpPr>
        <p:spPr>
          <a:xfrm xmlns:a="http://schemas.openxmlformats.org/drawingml/2006/main">
            <a:off x="4095750" y="1952625"/>
            <a:ext cx="300037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23374D"/>
                </a:solidFill>
                <a:latin typeface="Arial"/>
                <a:ea typeface="Arial"/>
                <a:cs typeface="Arial"/>
              </a:defRPr>
            </a:defPPr>
            <a:lvl1pPr>
              <a:defRPr sz="1725" b="0">
                <a:solidFill>
                  <a:srgbClr val="23374D"/>
                </a:solidFill>
                <a:latin typeface="Arial"/>
                <a:ea typeface="Arial"/>
                <a:cs typeface="Arial"/>
              </a:defRPr>
            </a:lvl1pPr>
            <a:lvl2pPr>
              <a:defRPr sz="1725" b="0">
                <a:solidFill>
                  <a:srgbClr val="23374D"/>
                </a:solidFill>
                <a:latin typeface="Arial"/>
                <a:ea typeface="Arial"/>
                <a:cs typeface="Arial"/>
              </a:defRPr>
            </a:lvl2pPr>
            <a:lvl3pPr>
              <a:defRPr sz="1725" b="0">
                <a:solidFill>
                  <a:srgbClr val="23374D"/>
                </a:solidFill>
                <a:latin typeface="Arial"/>
                <a:ea typeface="Arial"/>
                <a:cs typeface="Arial"/>
              </a:defRPr>
            </a:lvl3pPr>
            <a:lvl4pPr>
              <a:defRPr sz="1725" b="0">
                <a:solidFill>
                  <a:srgbClr val="23374D"/>
                </a:solidFill>
                <a:latin typeface="Arial"/>
                <a:ea typeface="Arial"/>
                <a:cs typeface="Arial"/>
              </a:defRPr>
            </a:lvl4pPr>
            <a:lvl5pPr>
              <a:defRPr sz="1725" b="0">
                <a:solidFill>
                  <a:srgbClr val="23374D"/>
                </a:solidFill>
                <a:latin typeface="Arial"/>
                <a:ea typeface="Arial"/>
                <a:cs typeface="Arial"/>
              </a:defRPr>
            </a:lvl5pPr>
            <a:lvl6pPr>
              <a:defRPr sz="1725" b="0">
                <a:solidFill>
                  <a:srgbClr val="23374D"/>
                </a:solidFill>
                <a:latin typeface="Arial"/>
                <a:ea typeface="Arial"/>
                <a:cs typeface="Arial"/>
              </a:defRPr>
            </a:lvl6pPr>
            <a:lvl7pPr>
              <a:defRPr sz="1725" b="0">
                <a:solidFill>
                  <a:srgbClr val="23374D"/>
                </a:solidFill>
                <a:latin typeface="Arial"/>
                <a:ea typeface="Arial"/>
                <a:cs typeface="Arial"/>
              </a:defRPr>
            </a:lvl7pPr>
            <a:lvl8pPr>
              <a:defRPr sz="1725" b="0">
                <a:solidFill>
                  <a:srgbClr val="23374D"/>
                </a:solidFill>
                <a:latin typeface="Arial"/>
                <a:ea typeface="Arial"/>
                <a:cs typeface="Arial"/>
              </a:defRPr>
            </a:lvl8pPr>
            <a:lvl9pPr>
              <a:defRPr sz="1725" b="0">
                <a:solidFill>
                  <a:srgbClr val="23374D"/>
                </a:solidFill>
                <a:latin typeface="Arial"/>
                <a:ea typeface="Arial"/>
                <a:cs typeface="Arial"/>
              </a:defRPr>
            </a:lvl9pPr>
          </a:lstStyle>
          <a:p xmlns:a="http://schemas.openxmlformats.org/drawingml/2006/main">
            <a:pPr>
              <a:defRPr sz="1725" b="0">
                <a:solidFill>
                  <a:srgbClr val="23374D"/>
                </a:solidFill>
                <a:latin typeface="Arial"/>
                <a:ea typeface="Arial"/>
                <a:cs typeface="Arial"/>
              </a:defRPr>
            </a:pPr>
            <a:r>
              <a:rPr sz="1725" b="0">
                <a:solidFill>
                  <a:srgbClr val="23374D"/>
                </a:solidFill>
                <a:latin typeface="Arial"/>
                <a:ea typeface="Arial"/>
                <a:cs typeface="Arial"/>
              </a:rPr>
              <a:t>Try neighborhood aggregation and use embeddings to rank candidate customers.</a:t>
            </a:r>
          </a:p>
        </p:txBody>
      </p:sp>
      <p:sp>
        <p:nvSpPr>
          <p:cNvPr id="7" name="">
            <a:extLst xmlns:a="http://schemas.openxmlformats.org/drawingml/2006/main">
              <a:ext uri="{FF2B5EF4-FFF2-40B4-BE49-F238E27FC236}">
                <a16:creationId xmlns:a16="http://schemas.microsoft.com/office/drawing/2014/main" id="{BFADC867-79DE-42F2-85CD-22749D9471AE}"/>
              </a:ext>
            </a:extLst>
          </p:cNvPr>
          <p:cNvSpPr>
            <a:spLocks xmlns:a="http://schemas.openxmlformats.org/drawingml/2006/main" noGrp="1"/>
          </p:cNvSpPr>
          <p:nvPr/>
        </p:nvSpPr>
        <p:spPr>
          <a:xfrm xmlns:a="http://schemas.openxmlformats.org/drawingml/2006/main">
            <a:off x="7620000" y="1428750"/>
            <a:ext cx="3905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173B5E"/>
                </a:solidFill>
                <a:latin typeface="Arial"/>
                <a:ea typeface="Arial"/>
                <a:cs typeface="Arial"/>
              </a:defRPr>
            </a:defPPr>
            <a:lvl1pPr>
              <a:defRPr sz="1950" b="1">
                <a:solidFill>
                  <a:srgbClr val="173B5E"/>
                </a:solidFill>
                <a:latin typeface="Arial"/>
                <a:ea typeface="Arial"/>
                <a:cs typeface="Arial"/>
              </a:defRPr>
            </a:lvl1pPr>
            <a:lvl2pPr>
              <a:defRPr sz="1950" b="1">
                <a:solidFill>
                  <a:srgbClr val="173B5E"/>
                </a:solidFill>
                <a:latin typeface="Arial"/>
                <a:ea typeface="Arial"/>
                <a:cs typeface="Arial"/>
              </a:defRPr>
            </a:lvl2pPr>
            <a:lvl3pPr>
              <a:defRPr sz="1950" b="1">
                <a:solidFill>
                  <a:srgbClr val="173B5E"/>
                </a:solidFill>
                <a:latin typeface="Arial"/>
                <a:ea typeface="Arial"/>
                <a:cs typeface="Arial"/>
              </a:defRPr>
            </a:lvl3pPr>
            <a:lvl4pPr>
              <a:defRPr sz="1950" b="1">
                <a:solidFill>
                  <a:srgbClr val="173B5E"/>
                </a:solidFill>
                <a:latin typeface="Arial"/>
                <a:ea typeface="Arial"/>
                <a:cs typeface="Arial"/>
              </a:defRPr>
            </a:lvl4pPr>
            <a:lvl5pPr>
              <a:defRPr sz="1950" b="1">
                <a:solidFill>
                  <a:srgbClr val="173B5E"/>
                </a:solidFill>
                <a:latin typeface="Arial"/>
                <a:ea typeface="Arial"/>
                <a:cs typeface="Arial"/>
              </a:defRPr>
            </a:lvl5pPr>
            <a:lvl6pPr>
              <a:defRPr sz="1950" b="1">
                <a:solidFill>
                  <a:srgbClr val="173B5E"/>
                </a:solidFill>
                <a:latin typeface="Arial"/>
                <a:ea typeface="Arial"/>
                <a:cs typeface="Arial"/>
              </a:defRPr>
            </a:lvl6pPr>
            <a:lvl7pPr>
              <a:defRPr sz="1950" b="1">
                <a:solidFill>
                  <a:srgbClr val="173B5E"/>
                </a:solidFill>
                <a:latin typeface="Arial"/>
                <a:ea typeface="Arial"/>
                <a:cs typeface="Arial"/>
              </a:defRPr>
            </a:lvl7pPr>
            <a:lvl8pPr>
              <a:defRPr sz="1950" b="1">
                <a:solidFill>
                  <a:srgbClr val="173B5E"/>
                </a:solidFill>
                <a:latin typeface="Arial"/>
                <a:ea typeface="Arial"/>
                <a:cs typeface="Arial"/>
              </a:defRPr>
            </a:lvl8pPr>
            <a:lvl9pPr>
              <a:defRPr sz="1950" b="1">
                <a:solidFill>
                  <a:srgbClr val="173B5E"/>
                </a:solidFill>
                <a:latin typeface="Arial"/>
                <a:ea typeface="Arial"/>
                <a:cs typeface="Arial"/>
              </a:defRPr>
            </a:lvl9pPr>
          </a:lstStyle>
          <a:p xmlns:a="http://schemas.openxmlformats.org/drawingml/2006/main">
            <a:pPr>
              <a:defRPr sz="1950" b="1">
                <a:solidFill>
                  <a:srgbClr val="173B5E"/>
                </a:solidFill>
                <a:latin typeface="Arial"/>
                <a:ea typeface="Arial"/>
                <a:cs typeface="Arial"/>
              </a:defRPr>
            </a:pPr>
            <a:r>
              <a:rPr sz="1950" b="1">
                <a:solidFill>
                  <a:srgbClr val="173B5E"/>
                </a:solidFill>
                <a:latin typeface="Arial"/>
                <a:ea typeface="Arial"/>
                <a:cs typeface="Arial"/>
              </a:rPr>
              <a:t>Review and change</a:t>
            </a:r>
          </a:p>
        </p:txBody>
      </p:sp>
      <p:sp>
        <p:nvSpPr>
          <p:cNvPr id="8" name="">
            <a:extLst xmlns:a="http://schemas.openxmlformats.org/drawingml/2006/main">
              <a:ext uri="{FF2B5EF4-FFF2-40B4-BE49-F238E27FC236}">
                <a16:creationId xmlns:a16="http://schemas.microsoft.com/office/drawing/2014/main" id="{028267FB-81B1-444D-B112-2892BAC02BF6}"/>
              </a:ext>
            </a:extLst>
          </p:cNvPr>
          <p:cNvSpPr>
            <a:spLocks xmlns:a="http://schemas.openxmlformats.org/drawingml/2006/main" noGrp="1"/>
          </p:cNvSpPr>
          <p:nvPr/>
        </p:nvSpPr>
        <p:spPr>
          <a:xfrm xmlns:a="http://schemas.openxmlformats.org/drawingml/2006/main">
            <a:off x="7620000" y="1952625"/>
            <a:ext cx="3810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23374D"/>
                </a:solidFill>
                <a:latin typeface="Arial"/>
                <a:ea typeface="Arial"/>
                <a:cs typeface="Arial"/>
              </a:defRPr>
            </a:defPPr>
            <a:lvl1pPr>
              <a:defRPr sz="1725" b="0">
                <a:solidFill>
                  <a:srgbClr val="23374D"/>
                </a:solidFill>
                <a:latin typeface="Arial"/>
                <a:ea typeface="Arial"/>
                <a:cs typeface="Arial"/>
              </a:defRPr>
            </a:lvl1pPr>
            <a:lvl2pPr>
              <a:defRPr sz="1725" b="0">
                <a:solidFill>
                  <a:srgbClr val="23374D"/>
                </a:solidFill>
                <a:latin typeface="Arial"/>
                <a:ea typeface="Arial"/>
                <a:cs typeface="Arial"/>
              </a:defRPr>
            </a:lvl2pPr>
            <a:lvl3pPr>
              <a:defRPr sz="1725" b="0">
                <a:solidFill>
                  <a:srgbClr val="23374D"/>
                </a:solidFill>
                <a:latin typeface="Arial"/>
                <a:ea typeface="Arial"/>
                <a:cs typeface="Arial"/>
              </a:defRPr>
            </a:lvl3pPr>
            <a:lvl4pPr>
              <a:defRPr sz="1725" b="0">
                <a:solidFill>
                  <a:srgbClr val="23374D"/>
                </a:solidFill>
                <a:latin typeface="Arial"/>
                <a:ea typeface="Arial"/>
                <a:cs typeface="Arial"/>
              </a:defRPr>
            </a:lvl4pPr>
            <a:lvl5pPr>
              <a:defRPr sz="1725" b="0">
                <a:solidFill>
                  <a:srgbClr val="23374D"/>
                </a:solidFill>
                <a:latin typeface="Arial"/>
                <a:ea typeface="Arial"/>
                <a:cs typeface="Arial"/>
              </a:defRPr>
            </a:lvl5pPr>
            <a:lvl6pPr>
              <a:defRPr sz="1725" b="0">
                <a:solidFill>
                  <a:srgbClr val="23374D"/>
                </a:solidFill>
                <a:latin typeface="Arial"/>
                <a:ea typeface="Arial"/>
                <a:cs typeface="Arial"/>
              </a:defRPr>
            </a:lvl6pPr>
            <a:lvl7pPr>
              <a:defRPr sz="1725" b="0">
                <a:solidFill>
                  <a:srgbClr val="23374D"/>
                </a:solidFill>
                <a:latin typeface="Arial"/>
                <a:ea typeface="Arial"/>
                <a:cs typeface="Arial"/>
              </a:defRPr>
            </a:lvl7pPr>
            <a:lvl8pPr>
              <a:defRPr sz="1725" b="0">
                <a:solidFill>
                  <a:srgbClr val="23374D"/>
                </a:solidFill>
                <a:latin typeface="Arial"/>
                <a:ea typeface="Arial"/>
                <a:cs typeface="Arial"/>
              </a:defRPr>
            </a:lvl8pPr>
            <a:lvl9pPr>
              <a:defRPr sz="1725" b="0">
                <a:solidFill>
                  <a:srgbClr val="23374D"/>
                </a:solidFill>
                <a:latin typeface="Arial"/>
                <a:ea typeface="Arial"/>
                <a:cs typeface="Arial"/>
              </a:defRPr>
            </a:lvl9pPr>
          </a:lstStyle>
          <a:p xmlns:a="http://schemas.openxmlformats.org/drawingml/2006/main">
            <a:pPr>
              <a:defRPr sz="1725" b="0">
                <a:solidFill>
                  <a:srgbClr val="23374D"/>
                </a:solidFill>
                <a:latin typeface="Arial"/>
                <a:ea typeface="Arial"/>
                <a:cs typeface="Arial"/>
              </a:defRPr>
            </a:pPr>
            <a:r>
              <a:rPr sz="1725" b="0">
                <a:solidFill>
                  <a:srgbClr val="23374D"/>
                </a:solidFill>
                <a:latin typeface="Arial"/>
                <a:ea typeface="Arial"/>
                <a:cs typeface="Arial"/>
              </a:rPr>
              <a:t>The graph has only two customers. We used fixed weights, checked the shared edge, preserved provenance, and avoided a claim of better retrieval.</a:t>
            </a:r>
          </a:p>
        </p:txBody>
      </p:sp>
      <p:sp>
        <p:nvSpPr>
          <p:cNvPr id="9" name="">
            <a:extLst xmlns:a="http://schemas.openxmlformats.org/drawingml/2006/main">
              <a:ext uri="{FF2B5EF4-FFF2-40B4-BE49-F238E27FC236}">
                <a16:creationId xmlns:a16="http://schemas.microsoft.com/office/drawing/2014/main" id="{3B6C8DF1-9D07-4263-92A7-72DF533F1495}"/>
              </a:ext>
            </a:extLst>
          </p:cNvPr>
          <p:cNvSpPr>
            <a:spLocks xmlns:a="http://schemas.openxmlformats.org/drawingml/2006/main" noGrp="1"/>
          </p:cNvSpPr>
          <p:nvPr/>
        </p:nvSpPr>
        <p:spPr>
          <a:xfrm xmlns:a="http://schemas.openxmlformats.org/drawingml/2006/main">
            <a:off x="571500" y="5238750"/>
            <a:ext cx="10763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3374D"/>
                </a:solidFill>
                <a:latin typeface="Arial"/>
                <a:ea typeface="Arial"/>
                <a:cs typeface="Arial"/>
              </a:defRPr>
            </a:defPPr>
            <a:lvl1pPr>
              <a:defRPr sz="1800" b="1">
                <a:solidFill>
                  <a:srgbClr val="23374D"/>
                </a:solidFill>
                <a:latin typeface="Arial"/>
                <a:ea typeface="Arial"/>
                <a:cs typeface="Arial"/>
              </a:defRPr>
            </a:lvl1pPr>
            <a:lvl2pPr>
              <a:defRPr sz="1800" b="1">
                <a:solidFill>
                  <a:srgbClr val="23374D"/>
                </a:solidFill>
                <a:latin typeface="Arial"/>
                <a:ea typeface="Arial"/>
                <a:cs typeface="Arial"/>
              </a:defRPr>
            </a:lvl2pPr>
            <a:lvl3pPr>
              <a:defRPr sz="1800" b="1">
                <a:solidFill>
                  <a:srgbClr val="23374D"/>
                </a:solidFill>
                <a:latin typeface="Arial"/>
                <a:ea typeface="Arial"/>
                <a:cs typeface="Arial"/>
              </a:defRPr>
            </a:lvl3pPr>
            <a:lvl4pPr>
              <a:defRPr sz="1800" b="1">
                <a:solidFill>
                  <a:srgbClr val="23374D"/>
                </a:solidFill>
                <a:latin typeface="Arial"/>
                <a:ea typeface="Arial"/>
                <a:cs typeface="Arial"/>
              </a:defRPr>
            </a:lvl4pPr>
            <a:lvl5pPr>
              <a:defRPr sz="1800" b="1">
                <a:solidFill>
                  <a:srgbClr val="23374D"/>
                </a:solidFill>
                <a:latin typeface="Arial"/>
                <a:ea typeface="Arial"/>
                <a:cs typeface="Arial"/>
              </a:defRPr>
            </a:lvl5pPr>
            <a:lvl6pPr>
              <a:defRPr sz="1800" b="1">
                <a:solidFill>
                  <a:srgbClr val="23374D"/>
                </a:solidFill>
                <a:latin typeface="Arial"/>
                <a:ea typeface="Arial"/>
                <a:cs typeface="Arial"/>
              </a:defRPr>
            </a:lvl6pPr>
            <a:lvl7pPr>
              <a:defRPr sz="1800" b="1">
                <a:solidFill>
                  <a:srgbClr val="23374D"/>
                </a:solidFill>
                <a:latin typeface="Arial"/>
                <a:ea typeface="Arial"/>
                <a:cs typeface="Arial"/>
              </a:defRPr>
            </a:lvl7pPr>
            <a:lvl8pPr>
              <a:defRPr sz="1800" b="1">
                <a:solidFill>
                  <a:srgbClr val="23374D"/>
                </a:solidFill>
                <a:latin typeface="Arial"/>
                <a:ea typeface="Arial"/>
                <a:cs typeface="Arial"/>
              </a:defRPr>
            </a:lvl8pPr>
            <a:lvl9pPr>
              <a:defRPr sz="1800" b="1">
                <a:solidFill>
                  <a:srgbClr val="23374D"/>
                </a:solidFill>
                <a:latin typeface="Arial"/>
                <a:ea typeface="Arial"/>
                <a:cs typeface="Arial"/>
              </a:defRPr>
            </a:lvl9pPr>
          </a:lstStyle>
          <a:p xmlns:a="http://schemas.openxmlformats.org/drawingml/2006/main">
            <a:pPr>
              <a:defRPr sz="1800" b="1">
                <a:solidFill>
                  <a:srgbClr val="23374D"/>
                </a:solidFill>
                <a:latin typeface="Arial"/>
                <a:ea typeface="Arial"/>
                <a:cs typeface="Arial"/>
              </a:defRPr>
            </a:pPr>
            <a:r>
              <a:rPr sz="1800" b="1">
                <a:solidFill>
                  <a:srgbClr val="23374D"/>
                </a:solidFill>
                <a:latin typeface="Arial"/>
                <a:ea typeface="Arial"/>
                <a:cs typeface="Arial"/>
              </a:rPr>
              <a:t>Result: a reproducible learning experiment with stated limits, rather than an unsupported performance claim.</a:t>
            </a:r>
          </a:p>
        </p:txBody>
      </p:sp>
    </p:spTree>
    <p:extLst>
      <p:ext uri="{BB962C8B-B14F-4D97-AF65-F5344CB8AC3E}">
        <p14:creationId xmlns:p14="http://schemas.microsoft.com/office/powerpoint/2010/main" val="35512316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5714A7F-F7E0-47A7-8B41-D9AF6991DED9}"/>
              </a:ext>
            </a:extLst>
          </p:cNvPr>
          <p:cNvSpPr>
            <a:spLocks xmlns:a="http://schemas.openxmlformats.org/drawingml/2006/main" noGrp="1"/>
          </p:cNvSpPr>
          <p:nvPr/>
        </p:nvSpPr>
        <p:spPr>
          <a:xfrm xmlns:a="http://schemas.openxmlformats.org/drawingml/2006/main">
            <a:off x="523875" y="32385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173B5E"/>
                </a:solidFill>
                <a:latin typeface="Arial"/>
                <a:ea typeface="Arial"/>
                <a:cs typeface="Arial"/>
              </a:defRPr>
            </a:defPPr>
            <a:lvl1pPr>
              <a:defRPr sz="2700" b="1">
                <a:solidFill>
                  <a:srgbClr val="173B5E"/>
                </a:solidFill>
                <a:latin typeface="Arial"/>
                <a:ea typeface="Arial"/>
                <a:cs typeface="Arial"/>
              </a:defRPr>
            </a:lvl1pPr>
            <a:lvl2pPr>
              <a:defRPr sz="2700" b="1">
                <a:solidFill>
                  <a:srgbClr val="173B5E"/>
                </a:solidFill>
                <a:latin typeface="Arial"/>
                <a:ea typeface="Arial"/>
                <a:cs typeface="Arial"/>
              </a:defRPr>
            </a:lvl2pPr>
            <a:lvl3pPr>
              <a:defRPr sz="2700" b="1">
                <a:solidFill>
                  <a:srgbClr val="173B5E"/>
                </a:solidFill>
                <a:latin typeface="Arial"/>
                <a:ea typeface="Arial"/>
                <a:cs typeface="Arial"/>
              </a:defRPr>
            </a:lvl3pPr>
            <a:lvl4pPr>
              <a:defRPr sz="2700" b="1">
                <a:solidFill>
                  <a:srgbClr val="173B5E"/>
                </a:solidFill>
                <a:latin typeface="Arial"/>
                <a:ea typeface="Arial"/>
                <a:cs typeface="Arial"/>
              </a:defRPr>
            </a:lvl4pPr>
            <a:lvl5pPr>
              <a:defRPr sz="2700" b="1">
                <a:solidFill>
                  <a:srgbClr val="173B5E"/>
                </a:solidFill>
                <a:latin typeface="Arial"/>
                <a:ea typeface="Arial"/>
                <a:cs typeface="Arial"/>
              </a:defRPr>
            </a:lvl5pPr>
            <a:lvl6pPr>
              <a:defRPr sz="2700" b="1">
                <a:solidFill>
                  <a:srgbClr val="173B5E"/>
                </a:solidFill>
                <a:latin typeface="Arial"/>
                <a:ea typeface="Arial"/>
                <a:cs typeface="Arial"/>
              </a:defRPr>
            </a:lvl6pPr>
            <a:lvl7pPr>
              <a:defRPr sz="2700" b="1">
                <a:solidFill>
                  <a:srgbClr val="173B5E"/>
                </a:solidFill>
                <a:latin typeface="Arial"/>
                <a:ea typeface="Arial"/>
                <a:cs typeface="Arial"/>
              </a:defRPr>
            </a:lvl7pPr>
            <a:lvl8pPr>
              <a:defRPr sz="2700" b="1">
                <a:solidFill>
                  <a:srgbClr val="173B5E"/>
                </a:solidFill>
                <a:latin typeface="Arial"/>
                <a:ea typeface="Arial"/>
                <a:cs typeface="Arial"/>
              </a:defRPr>
            </a:lvl8pPr>
            <a:lvl9pPr>
              <a:defRPr sz="2700" b="1">
                <a:solidFill>
                  <a:srgbClr val="173B5E"/>
                </a:solidFill>
                <a:latin typeface="Arial"/>
                <a:ea typeface="Arial"/>
                <a:cs typeface="Arial"/>
              </a:defRPr>
            </a:lvl9pPr>
          </a:lstStyle>
          <a:p xmlns:a="http://schemas.openxmlformats.org/drawingml/2006/main">
            <a:pPr>
              <a:defRPr sz="2700" b="1">
                <a:solidFill>
                  <a:srgbClr val="173B5E"/>
                </a:solidFill>
                <a:latin typeface="Arial"/>
                <a:ea typeface="Arial"/>
                <a:cs typeface="Arial"/>
              </a:defRPr>
            </a:pPr>
            <a:r>
              <a:rPr sz="2700" b="1">
                <a:solidFill>
                  <a:srgbClr val="173B5E"/>
                </a:solidFill>
                <a:latin typeface="Arial"/>
                <a:ea typeface="Arial"/>
                <a:cs typeface="Arial"/>
              </a:rPr>
              <a:t>Lessons and next steps</a:t>
            </a:r>
          </a:p>
        </p:txBody>
      </p:sp>
      <p:sp>
        <p:nvSpPr>
          <p:cNvPr id="2" name="">
            <a:extLst xmlns:a="http://schemas.openxmlformats.org/drawingml/2006/main">
              <a:ext uri="{FF2B5EF4-FFF2-40B4-BE49-F238E27FC236}">
                <a16:creationId xmlns:a16="http://schemas.microsoft.com/office/drawing/2014/main" id="{70611DC8-0214-466E-BC73-F5E74496C0D9}"/>
              </a:ext>
            </a:extLst>
          </p:cNvPr>
          <p:cNvSpPr>
            <a:spLocks xmlns:a="http://schemas.openxmlformats.org/drawingml/2006/main" noGrp="1"/>
          </p:cNvSpPr>
          <p:nvPr/>
        </p:nvSpPr>
        <p:spPr>
          <a:xfrm xmlns:a="http://schemas.openxmlformats.org/drawingml/2006/main">
            <a:off x="523875" y="6505575"/>
            <a:ext cx="11144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566E82"/>
                </a:solidFill>
                <a:latin typeface="Arial"/>
                <a:ea typeface="Arial"/>
                <a:cs typeface="Arial"/>
              </a:defRPr>
            </a:defPPr>
            <a:lvl1pPr>
              <a:defRPr sz="1050" b="0">
                <a:solidFill>
                  <a:srgbClr val="566E82"/>
                </a:solidFill>
                <a:latin typeface="Arial"/>
                <a:ea typeface="Arial"/>
                <a:cs typeface="Arial"/>
              </a:defRPr>
            </a:lvl1pPr>
            <a:lvl2pPr>
              <a:defRPr sz="1050" b="0">
                <a:solidFill>
                  <a:srgbClr val="566E82"/>
                </a:solidFill>
                <a:latin typeface="Arial"/>
                <a:ea typeface="Arial"/>
                <a:cs typeface="Arial"/>
              </a:defRPr>
            </a:lvl2pPr>
            <a:lvl3pPr>
              <a:defRPr sz="1050" b="0">
                <a:solidFill>
                  <a:srgbClr val="566E82"/>
                </a:solidFill>
                <a:latin typeface="Arial"/>
                <a:ea typeface="Arial"/>
                <a:cs typeface="Arial"/>
              </a:defRPr>
            </a:lvl3pPr>
            <a:lvl4pPr>
              <a:defRPr sz="1050" b="0">
                <a:solidFill>
                  <a:srgbClr val="566E82"/>
                </a:solidFill>
                <a:latin typeface="Arial"/>
                <a:ea typeface="Arial"/>
                <a:cs typeface="Arial"/>
              </a:defRPr>
            </a:lvl4pPr>
            <a:lvl5pPr>
              <a:defRPr sz="1050" b="0">
                <a:solidFill>
                  <a:srgbClr val="566E82"/>
                </a:solidFill>
                <a:latin typeface="Arial"/>
                <a:ea typeface="Arial"/>
                <a:cs typeface="Arial"/>
              </a:defRPr>
            </a:lvl5pPr>
            <a:lvl6pPr>
              <a:defRPr sz="1050" b="0">
                <a:solidFill>
                  <a:srgbClr val="566E82"/>
                </a:solidFill>
                <a:latin typeface="Arial"/>
                <a:ea typeface="Arial"/>
                <a:cs typeface="Arial"/>
              </a:defRPr>
            </a:lvl6pPr>
            <a:lvl7pPr>
              <a:defRPr sz="1050" b="0">
                <a:solidFill>
                  <a:srgbClr val="566E82"/>
                </a:solidFill>
                <a:latin typeface="Arial"/>
                <a:ea typeface="Arial"/>
                <a:cs typeface="Arial"/>
              </a:defRPr>
            </a:lvl7pPr>
            <a:lvl8pPr>
              <a:defRPr sz="1050" b="0">
                <a:solidFill>
                  <a:srgbClr val="566E82"/>
                </a:solidFill>
                <a:latin typeface="Arial"/>
                <a:ea typeface="Arial"/>
                <a:cs typeface="Arial"/>
              </a:defRPr>
            </a:lvl8pPr>
            <a:lvl9pPr>
              <a:defRPr sz="1050" b="0">
                <a:solidFill>
                  <a:srgbClr val="566E82"/>
                </a:solidFill>
                <a:latin typeface="Arial"/>
                <a:ea typeface="Arial"/>
                <a:cs typeface="Arial"/>
              </a:defRPr>
            </a:lvl9pPr>
          </a:lstStyle>
          <a:p xmlns:a="http://schemas.openxmlformats.org/drawingml/2006/main">
            <a:pPr>
              <a:defRPr sz="1050" b="0">
                <a:solidFill>
                  <a:srgbClr val="566E82"/>
                </a:solidFill>
                <a:latin typeface="Arial"/>
                <a:ea typeface="Arial"/>
                <a:cs typeface="Arial"/>
              </a:defRPr>
            </a:pPr>
            <a:r>
              <a:rPr sz="1050" b="0">
                <a:solidFill>
                  <a:srgbClr val="566E82"/>
                </a:solidFill>
                <a:latin typeface="Arial"/>
                <a:ea typeface="Arial"/>
                <a:cs typeface="Arial"/>
              </a:rPr>
              <a:t>Retail360  |  CS 5588 Challenge 3                                         10/10</a:t>
            </a:r>
          </a:p>
        </p:txBody>
      </p:sp>
      <p:sp>
        <p:nvSpPr>
          <p:cNvPr id="3" name="">
            <a:extLst xmlns:a="http://schemas.openxmlformats.org/drawingml/2006/main">
              <a:ext uri="{FF2B5EF4-FFF2-40B4-BE49-F238E27FC236}">
                <a16:creationId xmlns:a16="http://schemas.microsoft.com/office/drawing/2014/main" id="{D0EA0BAB-8206-458F-B16C-6C7DCFDEEFB4}"/>
              </a:ext>
            </a:extLst>
          </p:cNvPr>
          <p:cNvSpPr>
            <a:spLocks xmlns:a="http://schemas.openxmlformats.org/drawingml/2006/main" noGrp="1"/>
          </p:cNvSpPr>
          <p:nvPr/>
        </p:nvSpPr>
        <p:spPr>
          <a:xfrm xmlns:a="http://schemas.openxmlformats.org/drawingml/2006/main">
            <a:off x="666750" y="1381125"/>
            <a:ext cx="5000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173B5E"/>
                </a:solidFill>
                <a:latin typeface="Arial"/>
                <a:ea typeface="Arial"/>
                <a:cs typeface="Arial"/>
              </a:defRPr>
            </a:defPPr>
            <a:lvl1pPr>
              <a:defRPr sz="2025" b="1">
                <a:solidFill>
                  <a:srgbClr val="173B5E"/>
                </a:solidFill>
                <a:latin typeface="Arial"/>
                <a:ea typeface="Arial"/>
                <a:cs typeface="Arial"/>
              </a:defRPr>
            </a:lvl1pPr>
            <a:lvl2pPr>
              <a:defRPr sz="2025" b="1">
                <a:solidFill>
                  <a:srgbClr val="173B5E"/>
                </a:solidFill>
                <a:latin typeface="Arial"/>
                <a:ea typeface="Arial"/>
                <a:cs typeface="Arial"/>
              </a:defRPr>
            </a:lvl2pPr>
            <a:lvl3pPr>
              <a:defRPr sz="2025" b="1">
                <a:solidFill>
                  <a:srgbClr val="173B5E"/>
                </a:solidFill>
                <a:latin typeface="Arial"/>
                <a:ea typeface="Arial"/>
                <a:cs typeface="Arial"/>
              </a:defRPr>
            </a:lvl3pPr>
            <a:lvl4pPr>
              <a:defRPr sz="2025" b="1">
                <a:solidFill>
                  <a:srgbClr val="173B5E"/>
                </a:solidFill>
                <a:latin typeface="Arial"/>
                <a:ea typeface="Arial"/>
                <a:cs typeface="Arial"/>
              </a:defRPr>
            </a:lvl4pPr>
            <a:lvl5pPr>
              <a:defRPr sz="2025" b="1">
                <a:solidFill>
                  <a:srgbClr val="173B5E"/>
                </a:solidFill>
                <a:latin typeface="Arial"/>
                <a:ea typeface="Arial"/>
                <a:cs typeface="Arial"/>
              </a:defRPr>
            </a:lvl5pPr>
            <a:lvl6pPr>
              <a:defRPr sz="2025" b="1">
                <a:solidFill>
                  <a:srgbClr val="173B5E"/>
                </a:solidFill>
                <a:latin typeface="Arial"/>
                <a:ea typeface="Arial"/>
                <a:cs typeface="Arial"/>
              </a:defRPr>
            </a:lvl6pPr>
            <a:lvl7pPr>
              <a:defRPr sz="2025" b="1">
                <a:solidFill>
                  <a:srgbClr val="173B5E"/>
                </a:solidFill>
                <a:latin typeface="Arial"/>
                <a:ea typeface="Arial"/>
                <a:cs typeface="Arial"/>
              </a:defRPr>
            </a:lvl7pPr>
            <a:lvl8pPr>
              <a:defRPr sz="2025" b="1">
                <a:solidFill>
                  <a:srgbClr val="173B5E"/>
                </a:solidFill>
                <a:latin typeface="Arial"/>
                <a:ea typeface="Arial"/>
                <a:cs typeface="Arial"/>
              </a:defRPr>
            </a:lvl8pPr>
            <a:lvl9pPr>
              <a:defRPr sz="2025" b="1">
                <a:solidFill>
                  <a:srgbClr val="173B5E"/>
                </a:solidFill>
                <a:latin typeface="Arial"/>
                <a:ea typeface="Arial"/>
                <a:cs typeface="Arial"/>
              </a:defRPr>
            </a:lvl9pPr>
          </a:lstStyle>
          <a:p xmlns:a="http://schemas.openxmlformats.org/drawingml/2006/main">
            <a:pPr>
              <a:defRPr sz="2025" b="1">
                <a:solidFill>
                  <a:srgbClr val="173B5E"/>
                </a:solidFill>
                <a:latin typeface="Arial"/>
                <a:ea typeface="Arial"/>
                <a:cs typeface="Arial"/>
              </a:defRPr>
            </a:pPr>
            <a:r>
              <a:rPr sz="2025" b="1">
                <a:solidFill>
                  <a:srgbClr val="173B5E"/>
                </a:solidFill>
                <a:latin typeface="Arial"/>
                <a:ea typeface="Arial"/>
                <a:cs typeface="Arial"/>
              </a:rPr>
              <a:t>What we learned</a:t>
            </a:r>
          </a:p>
        </p:txBody>
      </p:sp>
      <p:sp>
        <p:nvSpPr>
          <p:cNvPr id="4" name="">
            <a:extLst xmlns:a="http://schemas.openxmlformats.org/drawingml/2006/main">
              <a:ext uri="{FF2B5EF4-FFF2-40B4-BE49-F238E27FC236}">
                <a16:creationId xmlns:a16="http://schemas.microsoft.com/office/drawing/2014/main" id="{39463987-0097-45CF-8259-5CA9F544CB93}"/>
              </a:ext>
            </a:extLst>
          </p:cNvPr>
          <p:cNvSpPr>
            <a:spLocks xmlns:a="http://schemas.openxmlformats.org/drawingml/2006/main" noGrp="1"/>
          </p:cNvSpPr>
          <p:nvPr/>
        </p:nvSpPr>
        <p:spPr>
          <a:xfrm xmlns:a="http://schemas.openxmlformats.org/drawingml/2006/main">
            <a:off x="666750" y="1905000"/>
            <a:ext cx="48577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3374D"/>
                </a:solidFill>
                <a:latin typeface="Arial"/>
                <a:ea typeface="Arial"/>
                <a:cs typeface="Arial"/>
              </a:defRPr>
            </a:defPPr>
            <a:lvl1pPr>
              <a:defRPr sz="1800" b="0">
                <a:solidFill>
                  <a:srgbClr val="23374D"/>
                </a:solidFill>
                <a:latin typeface="Arial"/>
                <a:ea typeface="Arial"/>
                <a:cs typeface="Arial"/>
              </a:defRPr>
            </a:lvl1pPr>
            <a:lvl2pPr>
              <a:defRPr sz="1800" b="0">
                <a:solidFill>
                  <a:srgbClr val="23374D"/>
                </a:solidFill>
                <a:latin typeface="Arial"/>
                <a:ea typeface="Arial"/>
                <a:cs typeface="Arial"/>
              </a:defRPr>
            </a:lvl2pPr>
            <a:lvl3pPr>
              <a:defRPr sz="1800" b="0">
                <a:solidFill>
                  <a:srgbClr val="23374D"/>
                </a:solidFill>
                <a:latin typeface="Arial"/>
                <a:ea typeface="Arial"/>
                <a:cs typeface="Arial"/>
              </a:defRPr>
            </a:lvl3pPr>
            <a:lvl4pPr>
              <a:defRPr sz="1800" b="0">
                <a:solidFill>
                  <a:srgbClr val="23374D"/>
                </a:solidFill>
                <a:latin typeface="Arial"/>
                <a:ea typeface="Arial"/>
                <a:cs typeface="Arial"/>
              </a:defRPr>
            </a:lvl4pPr>
            <a:lvl5pPr>
              <a:defRPr sz="1800" b="0">
                <a:solidFill>
                  <a:srgbClr val="23374D"/>
                </a:solidFill>
                <a:latin typeface="Arial"/>
                <a:ea typeface="Arial"/>
                <a:cs typeface="Arial"/>
              </a:defRPr>
            </a:lvl5pPr>
            <a:lvl6pPr>
              <a:defRPr sz="1800" b="0">
                <a:solidFill>
                  <a:srgbClr val="23374D"/>
                </a:solidFill>
                <a:latin typeface="Arial"/>
                <a:ea typeface="Arial"/>
                <a:cs typeface="Arial"/>
              </a:defRPr>
            </a:lvl6pPr>
            <a:lvl7pPr>
              <a:defRPr sz="1800" b="0">
                <a:solidFill>
                  <a:srgbClr val="23374D"/>
                </a:solidFill>
                <a:latin typeface="Arial"/>
                <a:ea typeface="Arial"/>
                <a:cs typeface="Arial"/>
              </a:defRPr>
            </a:lvl7pPr>
            <a:lvl8pPr>
              <a:defRPr sz="1800" b="0">
                <a:solidFill>
                  <a:srgbClr val="23374D"/>
                </a:solidFill>
                <a:latin typeface="Arial"/>
                <a:ea typeface="Arial"/>
                <a:cs typeface="Arial"/>
              </a:defRPr>
            </a:lvl8pPr>
            <a:lvl9pPr>
              <a:defRPr sz="1800" b="0">
                <a:solidFill>
                  <a:srgbClr val="23374D"/>
                </a:solidFill>
                <a:latin typeface="Arial"/>
                <a:ea typeface="Arial"/>
                <a:cs typeface="Arial"/>
              </a:defRPr>
            </a:lvl9pPr>
          </a:lstStyle>
          <a:p xmlns:a="http://schemas.openxmlformats.org/drawingml/2006/main">
            <a:pPr>
              <a:defRPr sz="1800" b="0">
                <a:solidFill>
                  <a:srgbClr val="23374D"/>
                </a:solidFill>
                <a:latin typeface="Arial"/>
                <a:ea typeface="Arial"/>
                <a:cs typeface="Arial"/>
              </a:defRPr>
            </a:pPr>
            <a:r>
              <a:rPr sz="1800" b="0">
                <a:solidFill>
                  <a:srgbClr val="23374D"/>
                </a:solidFill>
                <a:latin typeface="Arial"/>
                <a:ea typeface="Arial"/>
                <a:cs typeface="Arial"/>
              </a:rPr>
              <a:t>A shared product sends a measurable message to both customer vectors. Removing that edge removes their overlap. Every shared item remains connected to source invoices.</a:t>
            </a:r>
          </a:p>
        </p:txBody>
      </p:sp>
      <p:sp>
        <p:nvSpPr>
          <p:cNvPr id="5" name="">
            <a:extLst xmlns:a="http://schemas.openxmlformats.org/drawingml/2006/main">
              <a:ext uri="{FF2B5EF4-FFF2-40B4-BE49-F238E27FC236}">
                <a16:creationId xmlns:a16="http://schemas.microsoft.com/office/drawing/2014/main" id="{B9827E1A-C70E-4F6E-A452-AAB4A24C978C}"/>
              </a:ext>
            </a:extLst>
          </p:cNvPr>
          <p:cNvSpPr>
            <a:spLocks xmlns:a="http://schemas.openxmlformats.org/drawingml/2006/main" noGrp="1"/>
          </p:cNvSpPr>
          <p:nvPr/>
        </p:nvSpPr>
        <p:spPr>
          <a:xfrm xmlns:a="http://schemas.openxmlformats.org/drawingml/2006/main">
            <a:off x="6286500" y="1381125"/>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173B5E"/>
                </a:solidFill>
                <a:latin typeface="Arial"/>
                <a:ea typeface="Arial"/>
                <a:cs typeface="Arial"/>
              </a:defRPr>
            </a:defPPr>
            <a:lvl1pPr>
              <a:defRPr sz="2025" b="1">
                <a:solidFill>
                  <a:srgbClr val="173B5E"/>
                </a:solidFill>
                <a:latin typeface="Arial"/>
                <a:ea typeface="Arial"/>
                <a:cs typeface="Arial"/>
              </a:defRPr>
            </a:lvl1pPr>
            <a:lvl2pPr>
              <a:defRPr sz="2025" b="1">
                <a:solidFill>
                  <a:srgbClr val="173B5E"/>
                </a:solidFill>
                <a:latin typeface="Arial"/>
                <a:ea typeface="Arial"/>
                <a:cs typeface="Arial"/>
              </a:defRPr>
            </a:lvl2pPr>
            <a:lvl3pPr>
              <a:defRPr sz="2025" b="1">
                <a:solidFill>
                  <a:srgbClr val="173B5E"/>
                </a:solidFill>
                <a:latin typeface="Arial"/>
                <a:ea typeface="Arial"/>
                <a:cs typeface="Arial"/>
              </a:defRPr>
            </a:lvl3pPr>
            <a:lvl4pPr>
              <a:defRPr sz="2025" b="1">
                <a:solidFill>
                  <a:srgbClr val="173B5E"/>
                </a:solidFill>
                <a:latin typeface="Arial"/>
                <a:ea typeface="Arial"/>
                <a:cs typeface="Arial"/>
              </a:defRPr>
            </a:lvl4pPr>
            <a:lvl5pPr>
              <a:defRPr sz="2025" b="1">
                <a:solidFill>
                  <a:srgbClr val="173B5E"/>
                </a:solidFill>
                <a:latin typeface="Arial"/>
                <a:ea typeface="Arial"/>
                <a:cs typeface="Arial"/>
              </a:defRPr>
            </a:lvl5pPr>
            <a:lvl6pPr>
              <a:defRPr sz="2025" b="1">
                <a:solidFill>
                  <a:srgbClr val="173B5E"/>
                </a:solidFill>
                <a:latin typeface="Arial"/>
                <a:ea typeface="Arial"/>
                <a:cs typeface="Arial"/>
              </a:defRPr>
            </a:lvl6pPr>
            <a:lvl7pPr>
              <a:defRPr sz="2025" b="1">
                <a:solidFill>
                  <a:srgbClr val="173B5E"/>
                </a:solidFill>
                <a:latin typeface="Arial"/>
                <a:ea typeface="Arial"/>
                <a:cs typeface="Arial"/>
              </a:defRPr>
            </a:lvl7pPr>
            <a:lvl8pPr>
              <a:defRPr sz="2025" b="1">
                <a:solidFill>
                  <a:srgbClr val="173B5E"/>
                </a:solidFill>
                <a:latin typeface="Arial"/>
                <a:ea typeface="Arial"/>
                <a:cs typeface="Arial"/>
              </a:defRPr>
            </a:lvl8pPr>
            <a:lvl9pPr>
              <a:defRPr sz="2025" b="1">
                <a:solidFill>
                  <a:srgbClr val="173B5E"/>
                </a:solidFill>
                <a:latin typeface="Arial"/>
                <a:ea typeface="Arial"/>
                <a:cs typeface="Arial"/>
              </a:defRPr>
            </a:lvl9pPr>
          </a:lstStyle>
          <a:p xmlns:a="http://schemas.openxmlformats.org/drawingml/2006/main">
            <a:pPr>
              <a:defRPr sz="2025" b="1">
                <a:solidFill>
                  <a:srgbClr val="173B5E"/>
                </a:solidFill>
                <a:latin typeface="Arial"/>
                <a:ea typeface="Arial"/>
                <a:cs typeface="Arial"/>
              </a:defRPr>
            </a:pPr>
            <a:r>
              <a:rPr sz="2025" b="1">
                <a:solidFill>
                  <a:srgbClr val="173B5E"/>
                </a:solidFill>
                <a:latin typeface="Arial"/>
                <a:ea typeface="Arial"/>
                <a:cs typeface="Arial"/>
              </a:rPr>
              <a:t>For the October 26 report</a:t>
            </a:r>
          </a:p>
        </p:txBody>
      </p:sp>
      <p:sp>
        <p:nvSpPr>
          <p:cNvPr id="6" name="">
            <a:extLst xmlns:a="http://schemas.openxmlformats.org/drawingml/2006/main">
              <a:ext uri="{FF2B5EF4-FFF2-40B4-BE49-F238E27FC236}">
                <a16:creationId xmlns:a16="http://schemas.microsoft.com/office/drawing/2014/main" id="{9AA7EBA7-93D8-440C-A324-0E682075F00B}"/>
              </a:ext>
            </a:extLst>
          </p:cNvPr>
          <p:cNvSpPr>
            <a:spLocks xmlns:a="http://schemas.openxmlformats.org/drawingml/2006/main" noGrp="1"/>
          </p:cNvSpPr>
          <p:nvPr/>
        </p:nvSpPr>
        <p:spPr>
          <a:xfrm xmlns:a="http://schemas.openxmlformats.org/drawingml/2006/main">
            <a:off x="6286500" y="1905000"/>
            <a:ext cx="5143500" cy="2905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3374D"/>
                </a:solidFill>
                <a:latin typeface="Arial"/>
                <a:ea typeface="Arial"/>
                <a:cs typeface="Arial"/>
              </a:defRPr>
            </a:defPPr>
            <a:lvl1pPr>
              <a:defRPr sz="1800" b="0">
                <a:solidFill>
                  <a:srgbClr val="23374D"/>
                </a:solidFill>
                <a:latin typeface="Arial"/>
                <a:ea typeface="Arial"/>
                <a:cs typeface="Arial"/>
              </a:defRPr>
            </a:lvl1pPr>
            <a:lvl2pPr>
              <a:defRPr sz="1800" b="0">
                <a:solidFill>
                  <a:srgbClr val="23374D"/>
                </a:solidFill>
                <a:latin typeface="Arial"/>
                <a:ea typeface="Arial"/>
                <a:cs typeface="Arial"/>
              </a:defRPr>
            </a:lvl2pPr>
            <a:lvl3pPr>
              <a:defRPr sz="1800" b="0">
                <a:solidFill>
                  <a:srgbClr val="23374D"/>
                </a:solidFill>
                <a:latin typeface="Arial"/>
                <a:ea typeface="Arial"/>
                <a:cs typeface="Arial"/>
              </a:defRPr>
            </a:lvl3pPr>
            <a:lvl4pPr>
              <a:defRPr sz="1800" b="0">
                <a:solidFill>
                  <a:srgbClr val="23374D"/>
                </a:solidFill>
                <a:latin typeface="Arial"/>
                <a:ea typeface="Arial"/>
                <a:cs typeface="Arial"/>
              </a:defRPr>
            </a:lvl4pPr>
            <a:lvl5pPr>
              <a:defRPr sz="1800" b="0">
                <a:solidFill>
                  <a:srgbClr val="23374D"/>
                </a:solidFill>
                <a:latin typeface="Arial"/>
                <a:ea typeface="Arial"/>
                <a:cs typeface="Arial"/>
              </a:defRPr>
            </a:lvl5pPr>
            <a:lvl6pPr>
              <a:defRPr sz="1800" b="0">
                <a:solidFill>
                  <a:srgbClr val="23374D"/>
                </a:solidFill>
                <a:latin typeface="Arial"/>
                <a:ea typeface="Arial"/>
                <a:cs typeface="Arial"/>
              </a:defRPr>
            </a:lvl6pPr>
            <a:lvl7pPr>
              <a:defRPr sz="1800" b="0">
                <a:solidFill>
                  <a:srgbClr val="23374D"/>
                </a:solidFill>
                <a:latin typeface="Arial"/>
                <a:ea typeface="Arial"/>
                <a:cs typeface="Arial"/>
              </a:defRPr>
            </a:lvl7pPr>
            <a:lvl8pPr>
              <a:defRPr sz="1800" b="0">
                <a:solidFill>
                  <a:srgbClr val="23374D"/>
                </a:solidFill>
                <a:latin typeface="Arial"/>
                <a:ea typeface="Arial"/>
                <a:cs typeface="Arial"/>
              </a:defRPr>
            </a:lvl8pPr>
            <a:lvl9pPr>
              <a:defRPr sz="1800" b="0">
                <a:solidFill>
                  <a:srgbClr val="23374D"/>
                </a:solidFill>
                <a:latin typeface="Arial"/>
                <a:ea typeface="Arial"/>
                <a:cs typeface="Arial"/>
              </a:defRPr>
            </a:lvl9pPr>
          </a:lstStyle>
          <a:p xmlns:a="http://schemas.openxmlformats.org/drawingml/2006/main">
            <a:pPr>
              <a:defRPr sz="1800" b="0">
                <a:solidFill>
                  <a:srgbClr val="23374D"/>
                </a:solidFill>
                <a:latin typeface="Arial"/>
                <a:ea typeface="Arial"/>
                <a:cs typeface="Arial"/>
              </a:defRPr>
            </a:pPr>
            <a:r>
              <a:rPr sz="1800" b="0">
                <a:solidFill>
                  <a:srgbClr val="23374D"/>
                </a:solidFill>
                <a:latin typeface="Arial"/>
                <a:ea typeface="Arial"/>
                <a:cs typeface="Arial"/>
              </a:rPr>
              <a:t>Expand to more customers, train GraphSAGE with a temporal holdout, compare candidate retrieval against Jaccard, and then pass ranked candidates to the existing GraphRAG evidence pipeline.</a:t>
            </a:r>
          </a:p>
        </p:txBody>
      </p:sp>
      <p:sp>
        <p:nvSpPr>
          <p:cNvPr id="7" name="">
            <a:extLst xmlns:a="http://schemas.openxmlformats.org/drawingml/2006/main">
              <a:ext uri="{FF2B5EF4-FFF2-40B4-BE49-F238E27FC236}">
                <a16:creationId xmlns:a16="http://schemas.microsoft.com/office/drawing/2014/main" id="{1FD51D01-DCE4-4FB6-B4FC-A423E396B89D}"/>
              </a:ext>
            </a:extLst>
          </p:cNvPr>
          <p:cNvSpPr>
            <a:spLocks xmlns:a="http://schemas.openxmlformats.org/drawingml/2006/main" noGrp="1"/>
          </p:cNvSpPr>
          <p:nvPr/>
        </p:nvSpPr>
        <p:spPr>
          <a:xfrm xmlns:a="http://schemas.openxmlformats.org/drawingml/2006/main">
            <a:off x="666750" y="54292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23374D"/>
                </a:solidFill>
                <a:latin typeface="Arial"/>
                <a:ea typeface="Arial"/>
                <a:cs typeface="Arial"/>
              </a:defRPr>
            </a:defPPr>
            <a:lvl1pPr>
              <a:defRPr sz="1575" b="0">
                <a:solidFill>
                  <a:srgbClr val="23374D"/>
                </a:solidFill>
                <a:latin typeface="Arial"/>
                <a:ea typeface="Arial"/>
                <a:cs typeface="Arial"/>
              </a:defRPr>
            </a:lvl1pPr>
            <a:lvl2pPr>
              <a:defRPr sz="1575" b="0">
                <a:solidFill>
                  <a:srgbClr val="23374D"/>
                </a:solidFill>
                <a:latin typeface="Arial"/>
                <a:ea typeface="Arial"/>
                <a:cs typeface="Arial"/>
              </a:defRPr>
            </a:lvl2pPr>
            <a:lvl3pPr>
              <a:defRPr sz="1575" b="0">
                <a:solidFill>
                  <a:srgbClr val="23374D"/>
                </a:solidFill>
                <a:latin typeface="Arial"/>
                <a:ea typeface="Arial"/>
                <a:cs typeface="Arial"/>
              </a:defRPr>
            </a:lvl3pPr>
            <a:lvl4pPr>
              <a:defRPr sz="1575" b="0">
                <a:solidFill>
                  <a:srgbClr val="23374D"/>
                </a:solidFill>
                <a:latin typeface="Arial"/>
                <a:ea typeface="Arial"/>
                <a:cs typeface="Arial"/>
              </a:defRPr>
            </a:lvl4pPr>
            <a:lvl5pPr>
              <a:defRPr sz="1575" b="0">
                <a:solidFill>
                  <a:srgbClr val="23374D"/>
                </a:solidFill>
                <a:latin typeface="Arial"/>
                <a:ea typeface="Arial"/>
                <a:cs typeface="Arial"/>
              </a:defRPr>
            </a:lvl5pPr>
            <a:lvl6pPr>
              <a:defRPr sz="1575" b="0">
                <a:solidFill>
                  <a:srgbClr val="23374D"/>
                </a:solidFill>
                <a:latin typeface="Arial"/>
                <a:ea typeface="Arial"/>
                <a:cs typeface="Arial"/>
              </a:defRPr>
            </a:lvl6pPr>
            <a:lvl7pPr>
              <a:defRPr sz="1575" b="0">
                <a:solidFill>
                  <a:srgbClr val="23374D"/>
                </a:solidFill>
                <a:latin typeface="Arial"/>
                <a:ea typeface="Arial"/>
                <a:cs typeface="Arial"/>
              </a:defRPr>
            </a:lvl7pPr>
            <a:lvl8pPr>
              <a:defRPr sz="1575" b="0">
                <a:solidFill>
                  <a:srgbClr val="23374D"/>
                </a:solidFill>
                <a:latin typeface="Arial"/>
                <a:ea typeface="Arial"/>
                <a:cs typeface="Arial"/>
              </a:defRPr>
            </a:lvl8pPr>
            <a:lvl9pPr>
              <a:defRPr sz="1575" b="0">
                <a:solidFill>
                  <a:srgbClr val="23374D"/>
                </a:solidFill>
                <a:latin typeface="Arial"/>
                <a:ea typeface="Arial"/>
                <a:cs typeface="Arial"/>
              </a:defRPr>
            </a:lvl9pPr>
          </a:lstStyle>
          <a:p xmlns:a="http://schemas.openxmlformats.org/drawingml/2006/main">
            <a:pPr>
              <a:defRPr sz="1575" b="0">
                <a:solidFill>
                  <a:srgbClr val="23374D"/>
                </a:solidFill>
                <a:latin typeface="Arial"/>
                <a:ea typeface="Arial"/>
                <a:cs typeface="Arial"/>
              </a:defRPr>
            </a:pPr>
            <a:r>
              <a:rPr sz="1575" b="0">
                <a:solidFill>
                  <a:srgbClr val="23374D"/>
                </a:solidFill>
                <a:latin typeface="Arial"/>
                <a:ea typeface="Arial"/>
                <a:cs typeface="Arial"/>
              </a:rPr>
              <a:t>Code and result: github.com/happylinfafa/retail360-challenge2/tree/main/challenge3</a:t>
            </a:r>
          </a:p>
        </p:txBody>
      </p:sp>
    </p:spTree>
    <p:extLst>
      <p:ext uri="{BB962C8B-B14F-4D97-AF65-F5344CB8AC3E}">
        <p14:creationId xmlns:p14="http://schemas.microsoft.com/office/powerpoint/2010/main" val="7112542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2026-10-21T18:12:15.3580000Z</dcterms:created>
  <dcterms:modified xsi:type="dcterms:W3CDTF">2026-10-21T18:12:15.3580000Z</dcterms:modified>
</coreProperties>
</file>