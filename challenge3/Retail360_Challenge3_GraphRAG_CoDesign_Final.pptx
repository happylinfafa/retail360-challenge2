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3ed5ff6f7844de" /><Relationship Type="http://schemas.openxmlformats.org/officeDocument/2006/relationships/extended-properties" Target="/docProps/app.xml" Id="R54408172ef7248c0" /><Relationship Type="http://schemas.openxmlformats.org/officeDocument/2006/relationships/officeDocument" Target="/ppt/presentation.xml" Id="Rd6e72c3f1e1040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cafabd15ac4ffa"/>
  </p:sldMasterIdLst>
  <p:notesMasterIdLst>
    <p:notesMasterId xmlns:r="http://schemas.openxmlformats.org/officeDocument/2006/relationships" r:id="R0e6b7d4eaa19498f"/>
  </p:notesMasterIdLst>
  <p:sldIdLst>
    <p:sldId xmlns:r="http://schemas.openxmlformats.org/officeDocument/2006/relationships" id="256" r:id="R167d80d04b4d4707"/>
    <p:sldId xmlns:r="http://schemas.openxmlformats.org/officeDocument/2006/relationships" id="257" r:id="R8f9b9d018c3245ff"/>
    <p:sldId xmlns:r="http://schemas.openxmlformats.org/officeDocument/2006/relationships" id="258" r:id="Rda80bd6c5ee14e3a"/>
    <p:sldId xmlns:r="http://schemas.openxmlformats.org/officeDocument/2006/relationships" id="259" r:id="R3e90a1fcdebc469d"/>
    <p:sldId xmlns:r="http://schemas.openxmlformats.org/officeDocument/2006/relationships" id="260" r:id="R591ae8300e5b41f8"/>
    <p:sldId xmlns:r="http://schemas.openxmlformats.org/officeDocument/2006/relationships" id="261" r:id="R9596751f0be54c06"/>
    <p:sldId xmlns:r="http://schemas.openxmlformats.org/officeDocument/2006/relationships" id="262" r:id="R432e8ffa20534d2a"/>
    <p:sldId xmlns:r="http://schemas.openxmlformats.org/officeDocument/2006/relationships" id="263" r:id="R032d5011043347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0e039819af412e" /><Relationship Type="http://schemas.openxmlformats.org/officeDocument/2006/relationships/slideMaster" Target="/ppt/slideMasters/slideMaster1.xml" Id="Rdfcafabd15ac4ffa" /><Relationship Type="http://schemas.openxmlformats.org/officeDocument/2006/relationships/notesMaster" Target="/ppt/notesMasters/notesMaster1.xml" Id="R0e6b7d4eaa19498f" /><Relationship Type="http://schemas.openxmlformats.org/officeDocument/2006/relationships/presProps" Target="/ppt/presProps.xml" Id="R5cb29050f57b4dc6" /><Relationship Type="http://schemas.openxmlformats.org/officeDocument/2006/relationships/tableStyles" Target="/ppt/tableStyles.xml" Id="R989bef1a89ce4cd5" /><Relationship Type="http://schemas.openxmlformats.org/officeDocument/2006/relationships/slide" Target="/ppt/slides/slide1.xml" Id="R167d80d04b4d4707" /><Relationship Type="http://schemas.openxmlformats.org/officeDocument/2006/relationships/slide" Target="/ppt/slides/slide2.xml" Id="R8f9b9d018c3245ff" /><Relationship Type="http://schemas.openxmlformats.org/officeDocument/2006/relationships/slide" Target="/ppt/slides/slide3.xml" Id="Rda80bd6c5ee14e3a" /><Relationship Type="http://schemas.openxmlformats.org/officeDocument/2006/relationships/slide" Target="/ppt/slides/slide4.xml" Id="R3e90a1fcdebc469d" /><Relationship Type="http://schemas.openxmlformats.org/officeDocument/2006/relationships/slide" Target="/ppt/slides/slide5.xml" Id="R591ae8300e5b41f8" /><Relationship Type="http://schemas.openxmlformats.org/officeDocument/2006/relationships/slide" Target="/ppt/slides/slide6.xml" Id="R9596751f0be54c06" /><Relationship Type="http://schemas.openxmlformats.org/officeDocument/2006/relationships/slide" Target="/ppt/slides/slide7.xml" Id="R432e8ffa20534d2a" /><Relationship Type="http://schemas.openxmlformats.org/officeDocument/2006/relationships/slide" Target="/ppt/slides/slide8.xml" Id="R032d5011043347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fb1d7a28574b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9f06e0f47e46bd" /><Relationship Type="http://schemas.openxmlformats.org/officeDocument/2006/relationships/notesMaster" Target="/ppt/notesMasters/notesMaster1.xml" Id="R4520e03a4d3946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a56c49a3e4f22" /><Relationship Type="http://schemas.openxmlformats.org/officeDocument/2006/relationships/notesMaster" Target="/ppt/notesMasters/notesMaster1.xml" Id="Ra0285e5dc16e49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21ad2bf55d41d8" /><Relationship Type="http://schemas.openxmlformats.org/officeDocument/2006/relationships/notesMaster" Target="/ppt/notesMasters/notesMaster1.xml" Id="R08f392c5ed4445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a596133b0847b7" /><Relationship Type="http://schemas.openxmlformats.org/officeDocument/2006/relationships/notesMaster" Target="/ppt/notesMasters/notesMaster1.xml" Id="R186116ec920643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175fb0901e4486" /><Relationship Type="http://schemas.openxmlformats.org/officeDocument/2006/relationships/notesMaster" Target="/ppt/notesMasters/notesMaster1.xml" Id="R486a80bae0454c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fb03cd0f0740f6" /><Relationship Type="http://schemas.openxmlformats.org/officeDocument/2006/relationships/notesMaster" Target="/ppt/notesMasters/notesMaster1.xml" Id="Rc7b768a8f6444e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2262ef81534e94" /><Relationship Type="http://schemas.openxmlformats.org/officeDocument/2006/relationships/notesMaster" Target="/ppt/notesMasters/notesMaster1.xml" Id="Rb0d9bf6a39784b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396b07fa264b49" /><Relationship Type="http://schemas.openxmlformats.org/officeDocument/2006/relationships/notesMaster" Target="/ppt/notesMasters/notesMaster1.xml" Id="Racfdaacd5a4348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Neo4j graph screenshot. Dataset: https://archive.ics.uci.edu/dataset/502/online+retail+ii. Existing KG covers an illustrative selected UCI sample, not the entire dataset. Customer-product similarity is observed product overlap, not psychological preferences or predictive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Implements the Neo4j retrieval-to-LLM pattern using the official Neo4j Python driver and local Ollama. Reference: https://neo4j.com/docs/neo4j-graphrag-python/current/ . Fixed parameterized Cypher is easier to inspect on this small graph than a vector index or generated Cypher. The LLM selects evidence descriptions by index. Python verifies the index and assembles the grounded response. The LLM never calculates Jaccard or writes queries.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iteration in live local testing: initial shared-purchase LLM text named 549222 and 558996, omitting 562032. Human review found the omission in Neo4j evidence. A later model draft inferred interests from a shared purchase. Revision: exact_answer compiles all invoices; the local model selects product evidence indices; Python verifies indices and renders a fixed grounded sentence. The user previously chose five node types and free local Neo4j.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Streamlit screenshot from local app. Not the prior Challenge 2 cloud app. No paid model API. The user asks a question, reviews exact facts, a model-selected example, source rows, and can revise the question. Code: challenge3/graphrag.py and challenge3/graphrag_app.py.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Neo4j evidence screenshot from the previous KG stage. New GraphRAG SHARED query is in challenge3/graphrag.py and retrieves the complete multi-hop path, including source-line provenance. It uses parameterized customer IDs and date window. Exact row evidence for product 21791 includes Year 2010-2011:148293 and :286643 on customer 12347 and a third source row for customer 13085.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three were executed against the local Neo4j KG and local Qwen model, with rows in challenge3/results/graphrag_evaluation.json. Human evaluation checks exact facts and provenance separately from model-selected evidence. Any invalid selection is explicitly withheld; the exact factual answer remains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4/4 figure is for deterministic facts, provenance, and safe missing-evidence handling, not for all generated prose. Inspect llmVerified for each case in the saved JSON. The test uses the two-customer illustrative sample; this does not show population-level retrieval quality or improved marketing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existing Challenge 2 cloud app is separate from this local GraphRAG prototype. The GitHub repository contains the challenge3 code, requirements, import script, queries, README, evaluation, and screenshots after synchronization. Next class demonstration: open Neo4j graph, run three app questions, show evidence table and failure handling.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97c10c5ef49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60c0423eb43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868eaa91141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2fc1064a04d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76ad0c0d94b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382c8d7d448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90E90D-B004-4215-8954-E62F85F96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119AFB-8E72-4A70-82F8-9C1A07F9A3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3C2512-689A-495C-B433-97FD87B2D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2E5341-F3F9-4273-AEB7-0C98F08F1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B180E3-9125-463D-AD93-A7453A39C3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8EF5DE-68A1-4421-BB70-F0AE92093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1A4568-EA3E-407B-9278-04B3391123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7CD4A7-19B5-4552-9A4E-5C39CA2D65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B1F849-79F9-4127-871C-6D1BFB59F9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FB7689-997D-41C0-838C-445AD1627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998f04e85841b2" /><Relationship Type="http://schemas.openxmlformats.org/officeDocument/2006/relationships/slideLayout" Target="/ppt/slideLayouts/slideLayout1.xml" Id="Rd5b85a83f09146be" /><Relationship Type="http://schemas.openxmlformats.org/officeDocument/2006/relationships/slideLayout" Target="/ppt/slideLayouts/slideLayout2.xml" Id="Rf4b74951e1b64045" /><Relationship Type="http://schemas.openxmlformats.org/officeDocument/2006/relationships/slideLayout" Target="/ppt/slideLayouts/slideLayout3.xml" Id="R0cf7abe7b59f4091" /><Relationship Type="http://schemas.openxmlformats.org/officeDocument/2006/relationships/slideLayout" Target="/ppt/slideLayouts/slideLayout4.xml" Id="R4e37d7d4eb1844ca" /><Relationship Type="http://schemas.openxmlformats.org/officeDocument/2006/relationships/slideLayout" Target="/ppt/slideLayouts/slideLayout5.xml" Id="R5fce6eb04cb54114" /><Relationship Type="http://schemas.openxmlformats.org/officeDocument/2006/relationships/slideLayout" Target="/ppt/slideLayouts/slideLayout6.xml" Id="Ra9fb342953c649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b85a83f09146be"/>
    <p:sldLayoutId xmlns:r="http://schemas.openxmlformats.org/officeDocument/2006/relationships" id="2147483650" r:id="Rf4b74951e1b64045"/>
    <p:sldLayoutId xmlns:r="http://schemas.openxmlformats.org/officeDocument/2006/relationships" id="2147483651" r:id="R0cf7abe7b59f4091"/>
    <p:sldLayoutId xmlns:r="http://schemas.openxmlformats.org/officeDocument/2006/relationships" id="2147483652" r:id="R4e37d7d4eb1844ca"/>
    <p:sldLayoutId xmlns:r="http://schemas.openxmlformats.org/officeDocument/2006/relationships" id="2147483653" r:id="R5fce6eb04cb54114"/>
    <p:sldLayoutId xmlns:r="http://schemas.openxmlformats.org/officeDocument/2006/relationships" id="2147483654" r:id="Ra9fb342953c649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fa3e0cf88432c" /><Relationship Type="http://schemas.openxmlformats.org/officeDocument/2006/relationships/image" Target="/ppt/media/image.jpeg" Id="Rd5337aef111d43cc" /><Relationship Type="http://schemas.openxmlformats.org/officeDocument/2006/relationships/notesSlide" Target="/ppt/notesSlides/notesSlide1.xml" Id="Rc7aeceabd99444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6521843254f47" /><Relationship Type="http://schemas.openxmlformats.org/officeDocument/2006/relationships/notesSlide" Target="/ppt/notesSlides/notesSlide2.xml" Id="R1c3b5783ca884d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0645cebce419e" /><Relationship Type="http://schemas.openxmlformats.org/officeDocument/2006/relationships/notesSlide" Target="/ppt/notesSlides/notesSlide3.xml" Id="Rc4f45783e25442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80aae6eee40aa" /><Relationship Type="http://schemas.openxmlformats.org/officeDocument/2006/relationships/image" Target="/ppt/media/image2.jpeg" Id="R01172a63f7344174" /><Relationship Type="http://schemas.openxmlformats.org/officeDocument/2006/relationships/notesSlide" Target="/ppt/notesSlides/notesSlide4.xml" Id="R2f08811e8d9144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36d9790b541b2" /><Relationship Type="http://schemas.openxmlformats.org/officeDocument/2006/relationships/image" Target="/ppt/media/image3.jpeg" Id="R55df3beb0b5b4dcb" /><Relationship Type="http://schemas.openxmlformats.org/officeDocument/2006/relationships/notesSlide" Target="/ppt/notesSlides/notesSlide5.xml" Id="Rbb264f2b4e3142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ce99fec3e44d1" /><Relationship Type="http://schemas.openxmlformats.org/officeDocument/2006/relationships/notesSlide" Target="/ppt/notesSlides/notesSlide6.xml" Id="R7dbd4826953840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aaeb0b8cb4a8c" /><Relationship Type="http://schemas.openxmlformats.org/officeDocument/2006/relationships/notesSlide" Target="/ppt/notesSlides/notesSlide7.xml" Id="R257b27603f4246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771af736641a6" /><Relationship Type="http://schemas.openxmlformats.org/officeDocument/2006/relationships/notesSlide" Target="/ppt/notesSlides/notesSlide8.xml" Id="R12a3957fece14b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D594D-4F95-40CA-8AE4-A443CE46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Research problem and existing KG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2D3BD-9ED7-4604-ADE1-71063BA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Retail360 GraphRAG  |  CS 5588                                      1/8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2570E-B4F5-48B5-9A1A-339562185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37aef111d43cc"/>
          <a:stretch xmlns:a="http://schemas.openxmlformats.org/drawingml/2006/main"/>
        </p:blipFill>
        <p:spPr>
          <a:xfrm xmlns:a="http://schemas.openxmlformats.org/drawingml/2006/main">
            <a:off x="381000" y="1397496"/>
            <a:ext cx="7477125" cy="420588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39BB6-8E5F-46EC-81C7-EAC475DD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F9A16-90F4-4BBF-A68E-EB5716D9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476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Which customers bought the same products, and what original purchase records support that comparison?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AEA30-74CC-434F-8FCF-C4004AF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Existing Neo4j 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1D105-273D-45FE-B66A-7A323AB5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476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138 nodes, 227 relationships</a:t>
            </a:r>
          </a:p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5 node types; 5 relationship types</a:t>
            </a:r>
          </a:p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UCI Online Retail II sample</a:t>
            </a:r>
          </a:p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2 customers; 4 invoices</a:t>
            </a:r>
          </a:p>
        </p:txBody>
      </p:sp>
    </p:spTree>
    <p:extLst>
      <p:ext uri="{BB962C8B-B14F-4D97-AF65-F5344CB8AC3E}">
        <p14:creationId xmlns:p14="http://schemas.microsoft.com/office/powerpoint/2010/main" val="2010934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D239B-9803-4F17-A1B2-B1009E4AA82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62875" y="22955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82A0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7C8DF-5788-4FA4-B93F-37B9D1FD192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238750" y="22955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82A0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B66A1-B7CE-4010-BAB3-C1BFF34EA3B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14625" y="22955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82A0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65A8A-82FC-4A2B-8521-0C4FA17E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GraphRAG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C7203-797E-4692-AF30-8D8F93B3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Retail360 GraphRAG  |  CS 5588                                    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AB09C-C63E-4927-97A9-DE8EBC2A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5"/>
          </a:solidFill>
          <a:ln xmlns:a="http://schemas.openxmlformats.org/drawingml/2006/main" w="9525">
            <a:solidFill>
              <a:srgbClr val="B8CAD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3374D"/>
                </a:solidFill>
                <a:latin typeface="Arial"/>
                <a:ea typeface="Arial"/>
                <a:cs typeface="Arial"/>
              </a:rPr>
              <a:t>User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B673D-E313-45D7-B088-64A1CF5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5"/>
          </a:solidFill>
          <a:ln xmlns:a="http://schemas.openxmlformats.org/drawingml/2006/main" w="9525">
            <a:solidFill>
              <a:srgbClr val="B8CAD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3374D"/>
                </a:solidFill>
                <a:latin typeface="Arial"/>
                <a:ea typeface="Arial"/>
                <a:cs typeface="Arial"/>
              </a:rPr>
              <a:t>Fixed Cypher route</a:t>
            </a:r>
          </a:p>
          <a:p xmlns:a="http://schemas.openxmlformats.org/drawingml/2006/main">
            <a: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3374D"/>
                </a:solidFill>
                <a:latin typeface="Arial"/>
                <a:ea typeface="Arial"/>
                <a:cs typeface="Arial"/>
              </a:rPr>
              <a:t>Neo4j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A9DD3-B5E2-4AA0-A9F4-AA2895A0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57375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5"/>
          </a:solidFill>
          <a:ln xmlns:a="http://schemas.openxmlformats.org/drawingml/2006/main" w="9525">
            <a:solidFill>
              <a:srgbClr val="B8CAD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3374D"/>
                </a:solidFill>
                <a:latin typeface="Arial"/>
                <a:ea typeface="Arial"/>
                <a:cs typeface="Arial"/>
              </a:rPr>
              <a:t>Evidence + exact</a:t>
            </a:r>
          </a:p>
          <a:p xmlns:a="http://schemas.openxmlformats.org/drawingml/2006/main">
            <a: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3374D"/>
                </a:solidFill>
                <a:latin typeface="Arial"/>
                <a:ea typeface="Arial"/>
                <a:cs typeface="Arial"/>
              </a:rPr>
              <a:t>Python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0035A-2556-44A7-84F1-3061833C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57375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5"/>
          </a:solidFill>
          <a:ln xmlns:a="http://schemas.openxmlformats.org/drawingml/2006/main" w="9525">
            <a:solidFill>
              <a:srgbClr val="B8CAD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3374D"/>
                </a:solidFill>
                <a:latin typeface="Arial"/>
                <a:ea typeface="Arial"/>
                <a:cs typeface="Arial"/>
              </a:rPr>
              <a:t>Local Qwen</a:t>
            </a:r>
          </a:p>
          <a:p xmlns:a="http://schemas.openxmlformats.org/drawingml/2006/main">
            <a:pPr algn="ctr">
              <a:defRPr sz="1725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3374D"/>
                </a:solidFill>
                <a:latin typeface="Arial"/>
                <a:ea typeface="Arial"/>
                <a:cs typeface="Arial"/>
              </a:rPr>
              <a:t>evidence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66DE1-ED30-4331-B6E5-E7F43A9C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Neo4j graph traversal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49D86-5A18-42E2-891D-BE4B933A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Customer → Invoice → OrderLine → Product ← OrderLine ← Invoice ← Customer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17224-A80C-4A31-8A2E-7B7A0F05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Output: verified answer, model-selected evidence, source invoice/row IDs, and limitation.</a:t>
            </a:r>
          </a:p>
        </p:txBody>
      </p:sp>
    </p:spTree>
    <p:extLst>
      <p:ext uri="{BB962C8B-B14F-4D97-AF65-F5344CB8AC3E}">
        <p14:creationId xmlns:p14="http://schemas.microsoft.com/office/powerpoint/2010/main" val="2058028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78A46-4AFF-4D95-AB25-0F1394EA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Human–AI co-design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07DCF-AB4E-4EA2-A9E1-5C50A098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Retail360 GraphRAG  |  CS 5588                                    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CADBD-2A24-46E4-A8F8-45209B6C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Human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5B752-9A7A-414A-B147-D7464605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714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Free local Neo4j, public UCI data, source-row provenance, and a question about observed purchase similarity.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58C90-B559-41CA-9D95-D8929768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Agentic AI recommendation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F4154-60EF-4177-9729-97815CDB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Use reviewed Cypher templates and a local LLM. Add a compact graph context and evidence table in Streamlit.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07F42-CEA8-4D2B-9C00-896F085B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Human evaluation and revision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16667-9B61-481F-8CBF-250217FD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143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The first model answer listed only two supporting orders. The graph contained three. A later answer inferred customer interests. We limited the model to selecting evidence and verify each selection.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0865B-DEFA-40A4-A0BF-67BEC90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74D"/>
                </a:solidFill>
                <a:latin typeface="Arial"/>
                <a:ea typeface="Arial"/>
                <a:cs typeface="Arial"/>
              </a:rPr>
              <a:t>Decision: Python controls numbers, citations and wording; the LLM chooses relevant graph evidence.</a:t>
            </a:r>
          </a:p>
        </p:txBody>
      </p:sp>
    </p:spTree>
    <p:extLst>
      <p:ext uri="{BB962C8B-B14F-4D97-AF65-F5344CB8AC3E}">
        <p14:creationId xmlns:p14="http://schemas.microsoft.com/office/powerpoint/2010/main" val="1978746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6D2C4-F10E-4D60-A5AA-1AA805D4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Working local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B4E0D-2955-4249-8B6F-210BB2B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Retail360 GraphRAG  |  CS 5588                                      4/8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1513E-9245-44D5-8861-A9A6440ED5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72a63f7344174"/>
          <a:stretch xmlns:a="http://schemas.openxmlformats.org/drawingml/2006/main"/>
        </p:blipFill>
        <p:spPr>
          <a:xfrm xmlns:a="http://schemas.openxmlformats.org/drawingml/2006/main">
            <a:off x="1741022" y="1285875"/>
            <a:ext cx="5090457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6A13B-F7F9-45CE-A984-1F599EAB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D1814-2945-4181-953F-ACD777C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05000"/>
            <a:ext cx="3238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Python Neo4j driver</a:t>
            </a:r>
          </a:p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Fixed Cypher retrieval</a:t>
            </a:r>
          </a:p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Local Ollama Qwen2.5 1.5B</a:t>
            </a:r>
          </a:p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Validated evidence selection</a:t>
            </a:r>
          </a:p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Streamlit + source RowIDs</a:t>
            </a:r>
          </a:p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Human inspects the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C1E56-CDF2-4D78-A675-1B16F7F0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3875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Local demo: localhost:8503</a:t>
            </a:r>
          </a:p>
        </p:txBody>
      </p:sp>
    </p:spTree>
    <p:extLst>
      <p:ext uri="{BB962C8B-B14F-4D97-AF65-F5344CB8AC3E}">
        <p14:creationId xmlns:p14="http://schemas.microsoft.com/office/powerpoint/2010/main" val="703321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441CA-ACAA-489B-BCF6-1D242F22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Neo4j retrieval and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F8DDC-77A0-4C46-9438-126CEDD0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Retail360 GraphRAG  |  CS 5588                                      5/8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0E09A-D854-45EF-B7E2-9BA2B9AE8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f3beb0b5b4dcb"/>
          <a:stretch xmlns:a="http://schemas.openxmlformats.org/drawingml/2006/main"/>
        </p:blipFill>
        <p:spPr>
          <a:xfrm xmlns:a="http://schemas.openxmlformats.org/drawingml/2006/main">
            <a:off x="381000" y="1576090"/>
            <a:ext cx="7096125" cy="39915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1248D-56A8-4FA5-BC46-240D0C11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371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Multi-hop Cypher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E50E9-1184-44A8-BDDD-33306385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71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MATCH (a:Customer)</a:t>
            </a:r>
          </a:p>
          <a:p xmlns:a="http://schemas.openxmlformats.org/drawingml/2006/main">
            <a:pPr>
              <a:defRPr sz="13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  -[:PLACED]-&gt;(:Invoice)</a:t>
            </a:r>
          </a:p>
          <a:p xmlns:a="http://schemas.openxmlformats.org/drawingml/2006/main">
            <a:pPr>
              <a:defRPr sz="13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  -[:HAS_LINE]-&gt;(:OrderLine)</a:t>
            </a:r>
          </a:p>
          <a:p xmlns:a="http://schemas.openxmlformats.org/drawingml/2006/main">
            <a:pPr>
              <a:defRPr sz="13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  -[:OF_PRODUCT]-&gt;(p:Product)</a:t>
            </a:r>
          </a:p>
          <a:p xmlns:a="http://schemas.openxmlformats.org/drawingml/2006/main">
            <a:pPr>
              <a:defRPr sz="13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MATCH (p)&lt;-[:OF_PRODUCT]-(:OrderLine)</a:t>
            </a:r>
          </a:p>
          <a:p xmlns:a="http://schemas.openxmlformats.org/drawingml/2006/main">
            <a:pPr>
              <a:defRPr sz="13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  &lt;-[:HAS_LINE]-(:Invoice)</a:t>
            </a:r>
          </a:p>
          <a:p xmlns:a="http://schemas.openxmlformats.org/drawingml/2006/main">
            <a:pPr>
              <a:defRPr sz="13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  &lt;-[:PLACED]-(b:Customer)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31478-35D5-48F9-9D08-E3217DF7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2437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Rows retain product code, description, invoice IDs, dates, source file and RowID. The app shows these original references.</a:t>
            </a:r>
          </a:p>
        </p:txBody>
      </p:sp>
    </p:spTree>
    <p:extLst>
      <p:ext uri="{BB962C8B-B14F-4D97-AF65-F5344CB8AC3E}">
        <p14:creationId xmlns:p14="http://schemas.microsoft.com/office/powerpoint/2010/main" val="800937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4ACA3-98C8-44A7-B04D-E85A8BD5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Three live GraphRAG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7FACC-A322-4CBC-A896-6A795CF9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Retail360 GraphRAG  |  CS 5588                                    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F8A4C-0344-42D3-B2B9-92369DD8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Basic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CBBF6-C854-4B6C-94E6-EE609635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314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What did customer 12347 buy in invoice 549222?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D9DC5-CDDE-4C2E-B2C0-001EB9E1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049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Graph evidence: 24 order lines; invoice 549222.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D0114-E0C9-4515-903B-D4C523F6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304925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Model-selected evidence: The retrieved invoice includes SMALL FOLDING SCISSOR(POINTED EDGE), RED RETROSPOT PURSE, RED RETROSPOT OVEN GLOVE DOUBLE.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4E677-300E-402D-989D-AA2798F1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Multi-hop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223A0-B682-4177-9929-30506060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314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Which orders show both customers bought a shared product?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3E396-D53B-4C8A-9CF5-F0E96033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Graph evidence: Product 21791; invoices 549222, 562032, 558996.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99486-1E10-4126-B065-239BE82D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95600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Model-selected evidence: Both customers bought VINTAGE HEADS AND TAILS CARD GAME in the selected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78520-63B3-4727-8FAD-FCD6AF10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62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FD98B-A30B-4809-B071-7DC50CB6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314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How similar are 12347 and 13085?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95D10-227F-40D8-B9E1-17552F3A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862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Graph evidence: 1 shared of 58 union products; Jaccard 0.017241.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FEBCB-671B-4E87-B4E8-37C5D9B7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86275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Model-selected evidence: The observed product overlap is low; a shared item is VINTAGE HEADS AND TAILS CARD GAME.</a:t>
            </a:r>
          </a:p>
        </p:txBody>
      </p:sp>
    </p:spTree>
    <p:extLst>
      <p:ext uri="{BB962C8B-B14F-4D97-AF65-F5344CB8AC3E}">
        <p14:creationId xmlns:p14="http://schemas.microsoft.com/office/powerpoint/2010/main" val="739504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9BF27-A0C4-490F-8FB7-33E102A9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Evaluation and refinement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2580C-CCCA-4143-A25B-C74056C0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Retail360 GraphRAG  |  CS 5588                                    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EE1D8-BA74-495B-AD76-EFE573F2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4 / 4 factual test cases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275D8-A21F-4A03-98E5-92091A6E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0287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Basic order retrieval: 24 real source rows</a:t>
            </a:r>
          </a:p>
          <a:p xmlns:a="http://schemas.openxmlformats.org/drawingml/2006/main">
            <a:pPr>
              <a:defRPr sz="187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Multi-hop: 1 shared product and 3 supporting invoices</a:t>
            </a:r>
          </a:p>
          <a:p xmlns:a="http://schemas.openxmlformats.org/drawingml/2006/main">
            <a:pPr>
              <a:defRPr sz="187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Research: Jaccard 1 / 58 = 0.017241</a:t>
            </a:r>
          </a:p>
          <a:p xmlns:a="http://schemas.openxmlformats.org/drawingml/2006/main">
            <a:pPr>
              <a:defRPr sz="187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Failure: missing customer returns insufficient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928F0-488A-47DA-9DD3-A7B5A33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Observed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C5B18-82BC-4EFE-9707-8C322C29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71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A small LLM omitted an invoice and inferred customer interests. We moved invoice listing and response wording to Python. The model selects evidence; invalid selections are withheld.</a:t>
            </a:r>
          </a:p>
        </p:txBody>
      </p:sp>
    </p:spTree>
    <p:extLst>
      <p:ext uri="{BB962C8B-B14F-4D97-AF65-F5344CB8AC3E}">
        <p14:creationId xmlns:p14="http://schemas.microsoft.com/office/powerpoint/2010/main" val="3087055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23AA1-FFCA-44DD-A6F6-7642FB19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Reflection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FE471-867B-4B90-A3B9-C480ACC1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Retail360 GraphRAG  |  CS 5588                                    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67137-3FB0-45CA-BF43-C9047B0E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What this prototype shows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6DD3B-2955-43A9-9B86-827B424C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905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A natural-language question can retrieve a real customer–order–product path, calculate a defensible result, and expose source rows and model-selected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320C9-7E5F-4BF1-A07C-3BBBA4BA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B5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B5E"/>
                </a:solidFill>
                <a:latin typeface="Arial"/>
                <a:ea typeface="Arial"/>
                <a:cs typeface="Arial"/>
              </a:rPr>
              <a:t>What remains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AB461-EB94-4F3F-A279-3647389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85950"/>
            <a:ext cx="5286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Broaden the customer cohort. Test more question types and ambiguous IDs. Compare graph retrieval with a simpler baseline. Evaluate whether the evidence helps a human make a better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6AEE4-D56C-4448-BA85-8BFEDDD6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GitHub: github.com/happylinfafa/retail360-challenge2</a:t>
            </a:r>
          </a:p>
          <a:p xmlns:a="http://schemas.openxmlformats.org/drawingml/2006/main">
            <a:pPr>
              <a:defRPr sz="1650" b="0">
                <a:solidFill>
                  <a:srgbClr val="2337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74D"/>
                </a:solidFill>
                <a:latin typeface="Arial"/>
                <a:ea typeface="Arial"/>
                <a:cs typeface="Arial"/>
              </a:rPr>
              <a:t>Local demo: Streamlit at localhost:8503; Neo4j Browser at localhost:7474</a:t>
            </a:r>
          </a:p>
        </p:txBody>
      </p:sp>
    </p:spTree>
    <p:extLst>
      <p:ext uri="{BB962C8B-B14F-4D97-AF65-F5344CB8AC3E}">
        <p14:creationId xmlns:p14="http://schemas.microsoft.com/office/powerpoint/2010/main" val="1757538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2026-10-14T23:48:29.5540000Z</dcterms:created>
  <dcterms:modified xsi:type="dcterms:W3CDTF">2026-10-14T23:48:29.5540000Z</dcterms:modified>
</coreProperties>
</file>