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56e36c0ada45f3" /><Relationship Type="http://schemas.openxmlformats.org/officeDocument/2006/relationships/extended-properties" Target="/docProps/app.xml" Id="R9bfb61a568a549f2" /><Relationship Type="http://schemas.openxmlformats.org/officeDocument/2006/relationships/officeDocument" Target="/ppt/presentation.xml" Id="Rd1b90c0d05d543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734297ffc14058"/>
  </p:sldMasterIdLst>
  <p:notesMasterIdLst>
    <p:notesMasterId xmlns:r="http://schemas.openxmlformats.org/officeDocument/2006/relationships" r:id="Rd83ff524f315462b"/>
  </p:notesMasterIdLst>
  <p:sldIdLst>
    <p:sldId xmlns:r="http://schemas.openxmlformats.org/officeDocument/2006/relationships" id="256" r:id="Re3e4896bbbe5442c"/>
    <p:sldId xmlns:r="http://schemas.openxmlformats.org/officeDocument/2006/relationships" id="257" r:id="Ra5df1ba0a29e4e89"/>
    <p:sldId xmlns:r="http://schemas.openxmlformats.org/officeDocument/2006/relationships" id="258" r:id="R11052cecfa20475d"/>
    <p:sldId xmlns:r="http://schemas.openxmlformats.org/officeDocument/2006/relationships" id="259" r:id="Rd31b96fb9b2e4dff"/>
    <p:sldId xmlns:r="http://schemas.openxmlformats.org/officeDocument/2006/relationships" id="260" r:id="Rf6101097b08e4ec7"/>
    <p:sldId xmlns:r="http://schemas.openxmlformats.org/officeDocument/2006/relationships" id="261" r:id="R817027fef084436f"/>
    <p:sldId xmlns:r="http://schemas.openxmlformats.org/officeDocument/2006/relationships" id="262" r:id="R0e659ffbc4164b7d"/>
    <p:sldId xmlns:r="http://schemas.openxmlformats.org/officeDocument/2006/relationships" id="263" r:id="R459f9144880640d8"/>
    <p:sldId xmlns:r="http://schemas.openxmlformats.org/officeDocument/2006/relationships" id="264" r:id="Rae5c8c25d1204955"/>
    <p:sldId xmlns:r="http://schemas.openxmlformats.org/officeDocument/2006/relationships" id="265" r:id="Rb43f390a188247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3eef1069ef4968" /><Relationship Type="http://schemas.openxmlformats.org/officeDocument/2006/relationships/slideMaster" Target="/ppt/slideMasters/slideMaster1.xml" Id="R2a734297ffc14058" /><Relationship Type="http://schemas.openxmlformats.org/officeDocument/2006/relationships/notesMaster" Target="/ppt/notesMasters/notesMaster1.xml" Id="Rd83ff524f315462b" /><Relationship Type="http://schemas.openxmlformats.org/officeDocument/2006/relationships/presProps" Target="/ppt/presProps.xml" Id="Re32d6c154ee54dd4" /><Relationship Type="http://schemas.openxmlformats.org/officeDocument/2006/relationships/tableStyles" Target="/ppt/tableStyles.xml" Id="Rf876fa1bc08d4c92" /><Relationship Type="http://schemas.openxmlformats.org/officeDocument/2006/relationships/slide" Target="/ppt/slides/slide1.xml" Id="Re3e4896bbbe5442c" /><Relationship Type="http://schemas.openxmlformats.org/officeDocument/2006/relationships/slide" Target="/ppt/slides/slide2.xml" Id="Ra5df1ba0a29e4e89" /><Relationship Type="http://schemas.openxmlformats.org/officeDocument/2006/relationships/slide" Target="/ppt/slides/slide3.xml" Id="R11052cecfa20475d" /><Relationship Type="http://schemas.openxmlformats.org/officeDocument/2006/relationships/slide" Target="/ppt/slides/slide4.xml" Id="Rd31b96fb9b2e4dff" /><Relationship Type="http://schemas.openxmlformats.org/officeDocument/2006/relationships/slide" Target="/ppt/slides/slide5.xml" Id="Rf6101097b08e4ec7" /><Relationship Type="http://schemas.openxmlformats.org/officeDocument/2006/relationships/slide" Target="/ppt/slides/slide6.xml" Id="R817027fef084436f" /><Relationship Type="http://schemas.openxmlformats.org/officeDocument/2006/relationships/slide" Target="/ppt/slides/slide7.xml" Id="R0e659ffbc4164b7d" /><Relationship Type="http://schemas.openxmlformats.org/officeDocument/2006/relationships/slide" Target="/ppt/slides/slide8.xml" Id="R459f9144880640d8" /><Relationship Type="http://schemas.openxmlformats.org/officeDocument/2006/relationships/slide" Target="/ppt/slides/slide9.xml" Id="Rae5c8c25d1204955" /><Relationship Type="http://schemas.openxmlformats.org/officeDocument/2006/relationships/slide" Target="/ppt/slides/slide10.xml" Id="Rb43f390a188247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a580a821a243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16c27721374e63" /><Relationship Type="http://schemas.openxmlformats.org/officeDocument/2006/relationships/notesMaster" Target="/ppt/notesMasters/notesMaster1.xml" Id="R9515da7f9d9f47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13271b8e934fd6" /><Relationship Type="http://schemas.openxmlformats.org/officeDocument/2006/relationships/notesMaster" Target="/ppt/notesMasters/notesMaster1.xml" Id="Rce63b3b58e2d48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8230c4fe0240cf" /><Relationship Type="http://schemas.openxmlformats.org/officeDocument/2006/relationships/notesMaster" Target="/ppt/notesMasters/notesMaster1.xml" Id="R1576adfecfbf45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06a74e3f6448c5" /><Relationship Type="http://schemas.openxmlformats.org/officeDocument/2006/relationships/notesMaster" Target="/ppt/notesMasters/notesMaster1.xml" Id="R1ca3e342675a4d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710be0d14a4b9a" /><Relationship Type="http://schemas.openxmlformats.org/officeDocument/2006/relationships/notesMaster" Target="/ppt/notesMasters/notesMaster1.xml" Id="R330e98f107e144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39d66bf0fd437e" /><Relationship Type="http://schemas.openxmlformats.org/officeDocument/2006/relationships/notesMaster" Target="/ppt/notesMasters/notesMaster1.xml" Id="Rdd9b87d1c79f4e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d42abc6560428c" /><Relationship Type="http://schemas.openxmlformats.org/officeDocument/2006/relationships/notesMaster" Target="/ppt/notesMasters/notesMaster1.xml" Id="Rfe96c405032f46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211fce41354e69" /><Relationship Type="http://schemas.openxmlformats.org/officeDocument/2006/relationships/notesMaster" Target="/ppt/notesMasters/notesMaster1.xml" Id="R8bef1b221e1846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030a2c18164e13" /><Relationship Type="http://schemas.openxmlformats.org/officeDocument/2006/relationships/notesMaster" Target="/ppt/notesMasters/notesMaster1.xml" Id="R64100db31da946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45cadcbc0a4075" /><Relationship Type="http://schemas.openxmlformats.org/officeDocument/2006/relationships/notesMaster" Target="/ppt/notesMasters/notesMaster1.xml" Id="Re05ff40adcfe48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Human Design was created first: output/ppt/Retail360_Challenge4_Human_Design_Community_Final_v3.pptx. The user personally defined customer communities, relationship graph, and the buying-tendency goal. The Challenge 3 local GraphRAG originally used a two-customer Neo4j sample. The new community route extends that same local app with a 300-customer exploratory cohort.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preprocessing and projection are in challenge4/ai_design_demo.py. The public source is https://archive.ics.uci.edu/dataset/502/online+retail+ii . The AI proposal compares a normalized product-overlap projection with alternatives such as Leiden, Label Propagation, and GNN embeddings. Neo4j Leiden docs: https://neo4j.com/docs/graph-data-science/current/algorithms/leiden/ . The code implements only one local modularity phase without coarsening; it must not be described as full Louvain or Leiden.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numbers come from challenge4/results/ai_design_demo.json, produced from the public UCI workbook. The diagram displays two of 68 exploratory groups and four representative members per group, not the full 300-node projection. The largest groups contain 54 and 42 customers. Edges represent at least three shared distinct StockCodes and Jaccard &gt;= 0.10. The local modularity method is a first-phase prototype. No Neo4j community detection was run in this stage.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example was first computed offline from the UCI workbook, then reproduced by a live multi-hop Cypher query in the existing local Neo4j GraphRAG route. Source evidence is stored in challenge4/results/neo4j_community_evaluation.json. The local Qwen model selects evidence descriptions; Python assembles exact numbers. The same-community filter gives a graph-aware candidate set, but ranking quality and group stability are not yet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graphical output is an editable presentation mock-up using actual result JSON. It is not an application screenshot. It combines structured graph relations with textual transaction evidence. The project owner selected a customer relationship graph in Human Design; Codex developed this evidence panel as a practical multimodal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chart values and product counts are from challenge4/results/ai_design_demo.json. The chart is an editable PowerPoint chart. AI Design added it as a second visual output; Human Design prioritized the relationship graph. This is not generated speech or video. Product names come from the UCI description field, which is not a curated category taxonomy.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 Design already prioritized a community finder, relationship graph, evidence inspection, and observed buying patterns. AI Design proposed a chart and explicit uncertainty/stability controls. These are design ideas; there is no new deployed interface. The features are prioritized according to the stated analyst task and current dataset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interface is a native-slide wireframe, not a functional Streamlit screenshot. It uses real example IDs and numbers verified against the local Neo4j GraphRAG integration. The existing local Challenge 3 app now has a community question and a simple relationship preview, but does not exactly match this wireframe. The separate deployed Challenge 2 cloud app is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table distinguishes the project owner's Human Design decisions from Codex-generated AI Design exploration. The analyst must review whether the method, thresholds, chart, and interface actually help the original task. Results on a seeded 300-customer cohort are not population-wide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agentic interaction: the user asked Codex to complete Challenge 4 AI Design on top of the completed Human Design. Codex inspected the repository and local UCI workbook, proposed a deterministic cohort and visual outputs, implemented challenge4/ai_design_demo.py, then responded to human review by integrating the exploratory groups into the existing local Neo4j GraphRAG route. The instructor reference ZIP was mentioned but not attached; it was not used. Actual results: 300 customers, 1,684 similarity edges, 68 groups, 23,702 sourced customer-product links, and 8/8 live integration checks including LLM evidence selection. The local application changed; the separate deployed Challenge 2 cloud app did not. The PPT is due Thursday Oct 29, 2026 at 10 AM before class; sharing and hands-on work occur afterward. Sources: https://archive.ics.uci.edu/dataset/502/online+retail+ii ; https://neo4j.com/docs/graph-data-science/current/algorithms/leiden/ ; https://neo4j.com/docs/neo4j-graphrag-python/current/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0a9a53b9247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fd92eb0ad44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caf51c78c45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c6e1d3caf44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bc177e6e547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c7533075c43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7E2772-ED46-4096-A3A6-A9BF52F2A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232987-6A60-485C-BA4B-BB4DF77641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D256EF-1DDC-4A9C-BF8C-9454051088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E3AE73-FC64-440A-9358-AF383F60F3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646EF2-27C4-4617-94CE-B031994568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94331A-F016-40D1-BC32-D88E4175B0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EF3294-BC39-4555-ABCA-769D73F43C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387C9F-54B0-4666-8378-CA4AC502CC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D90195-DB13-485F-A76A-63B0C28E50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40E47C-7DD7-4FEC-A986-55543BE6B0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e2a1f32003479e" /><Relationship Type="http://schemas.openxmlformats.org/officeDocument/2006/relationships/slideLayout" Target="/ppt/slideLayouts/slideLayout1.xml" Id="Rbac5b33f8cc04a8a" /><Relationship Type="http://schemas.openxmlformats.org/officeDocument/2006/relationships/slideLayout" Target="/ppt/slideLayouts/slideLayout2.xml" Id="R2ada40dddd3443ac" /><Relationship Type="http://schemas.openxmlformats.org/officeDocument/2006/relationships/slideLayout" Target="/ppt/slideLayouts/slideLayout3.xml" Id="R647ba8844769419e" /><Relationship Type="http://schemas.openxmlformats.org/officeDocument/2006/relationships/slideLayout" Target="/ppt/slideLayouts/slideLayout4.xml" Id="Rffeac9933e534557" /><Relationship Type="http://schemas.openxmlformats.org/officeDocument/2006/relationships/slideLayout" Target="/ppt/slideLayouts/slideLayout5.xml" Id="R3e06f98734504e06" /><Relationship Type="http://schemas.openxmlformats.org/officeDocument/2006/relationships/slideLayout" Target="/ppt/slideLayouts/slideLayout6.xml" Id="Rc08e0478357347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c5b33f8cc04a8a"/>
    <p:sldLayoutId xmlns:r="http://schemas.openxmlformats.org/officeDocument/2006/relationships" id="2147483650" r:id="R2ada40dddd3443ac"/>
    <p:sldLayoutId xmlns:r="http://schemas.openxmlformats.org/officeDocument/2006/relationships" id="2147483651" r:id="R647ba8844769419e"/>
    <p:sldLayoutId xmlns:r="http://schemas.openxmlformats.org/officeDocument/2006/relationships" id="2147483652" r:id="Rffeac9933e534557"/>
    <p:sldLayoutId xmlns:r="http://schemas.openxmlformats.org/officeDocument/2006/relationships" id="2147483653" r:id="R3e06f98734504e06"/>
    <p:sldLayoutId xmlns:r="http://schemas.openxmlformats.org/officeDocument/2006/relationships" id="2147483654" r:id="Rc08e0478357347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3e9c56adfd4584" /><Relationship Type="http://schemas.openxmlformats.org/officeDocument/2006/relationships/notesSlide" Target="/ppt/notesSlides/notesSlide1.xml" Id="R657544fb7dcd4e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45d3ca6c2d4dcf" /><Relationship Type="http://schemas.openxmlformats.org/officeDocument/2006/relationships/notesSlide" Target="/ppt/notesSlides/notesSlide2.xml" Id="R5c81d5a484904d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134b9d82d432d" /><Relationship Type="http://schemas.openxmlformats.org/officeDocument/2006/relationships/notesSlide" Target="/ppt/notesSlides/notesSlide3.xml" Id="R36e5d263422b4c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e88076cf544db9" /><Relationship Type="http://schemas.openxmlformats.org/officeDocument/2006/relationships/notesSlide" Target="/ppt/notesSlides/notesSlide4.xml" Id="R48292e87f06846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60ae13ae21439a" /><Relationship Type="http://schemas.openxmlformats.org/officeDocument/2006/relationships/notesSlide" Target="/ppt/notesSlides/notesSlide5.xml" Id="R48a5af718ca348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8ec1fe5994b4f" /><Relationship Type="http://schemas.openxmlformats.org/officeDocument/2006/relationships/chart" Target="/ppt/slides/charts/chart1.xml" Id="Ra01b287a6d814a5c" /><Relationship Type="http://schemas.openxmlformats.org/officeDocument/2006/relationships/notesSlide" Target="/ppt/notesSlides/notesSlide6.xml" Id="R1d945393255947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e894bf73bc4943" /><Relationship Type="http://schemas.openxmlformats.org/officeDocument/2006/relationships/notesSlide" Target="/ppt/notesSlides/notesSlide7.xml" Id="R0b37c35d49da4a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84620582a34e18" /><Relationship Type="http://schemas.openxmlformats.org/officeDocument/2006/relationships/notesSlide" Target="/ppt/notesSlides/notesSlide8.xml" Id="Ra775e5be9e9b4c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d8448e7b194b19" /><Relationship Type="http://schemas.openxmlformats.org/officeDocument/2006/relationships/notesSlide" Target="/ppt/notesSlides/notesSlide9.xml" Id="R703271feca3f49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2f3d60fbf40a3" /><Relationship Type="http://schemas.openxmlformats.org/officeDocument/2006/relationships/notesSlide" Target="/ppt/notesSlides/notesSlide10.xml" Id="R777c2668ef3a4df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Customers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17841</c:v>
                </c:pt>
                <c:pt idx="1">
                  <c:v>16523</c:v>
                </c:pt>
                <c:pt idx="2">
                  <c:v>13209</c:v>
                </c:pt>
                <c:pt idx="3">
                  <c:v>17396</c:v>
                </c:pt>
                <c:pt idx="4">
                  <c:v>15738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54</c:v>
                </c:pt>
                <c:pt idx="1">
                  <c:v>42</c:v>
                </c:pt>
                <c:pt idx="2">
                  <c:v>34</c:v>
                </c:pt>
                <c:pt idx="3">
                  <c:v>29</c:v>
                </c:pt>
                <c:pt idx="4">
                  <c:v>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Exploratory group ID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6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Customers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41EA0-5C52-44A3-90D9-B2CC83B4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Project and Human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68AF0-00FB-47C4-A9D5-A9C5BAE0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9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Retail360  /  Challenge 4 AI Design                                        1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D5287-DD1E-45D9-B0A7-48AD44C4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Retail360 Customer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52E88-D84E-4AC3-9BF1-CA874972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Existing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60511-02DD-47A5-923E-7D1E344B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38350"/>
            <a:ext cx="8286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Neo4j knowledge graph plus local GraphRAG. The current graph explains shared products with invoices and source rows.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DE561-5D99-419B-9DEE-C97E79B1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Human Design choices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76BF0-4744-4723-ADF8-29ACD5B8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52800"/>
            <a:ext cx="8286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Community = customers who bought similar products.</a:t>
            </a:r>
          </a:p>
          <a:p xmlns:a="http://schemas.openxmlformats.org/drawingml/2006/main">
            <a:pPr algn="l">
              <a:defRPr sz="18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Main visual = customer relationship graph.</a:t>
            </a:r>
          </a:p>
          <a:p xmlns:a="http://schemas.openxmlformats.org/drawingml/2006/main">
            <a:pPr algn="l">
              <a:defRPr sz="18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Main user goal = discover observed buying tendencies.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998F0-41DE-4A38-BAB6-D32202F3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AI Design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BF8E0-566C-4FA5-89EE-3DF970FE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Can a larger real-data sample support useful groups and evidence-backed peer retrieval?</a:t>
            </a:r>
          </a:p>
        </p:txBody>
      </p:sp>
    </p:spTree>
    <p:extLst>
      <p:ext uri="{BB962C8B-B14F-4D97-AF65-F5344CB8AC3E}">
        <p14:creationId xmlns:p14="http://schemas.microsoft.com/office/powerpoint/2010/main" val="13506581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DC1075-0098-4CC1-90F3-187D0283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AI community design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F06ED-1403-432C-B6A3-98CECCD2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9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Retail360  /  Challenge 4 AI Design                                        2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3EBD4-EB27-4A3D-8142-C0FCFF7E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Codex suggested a larger customer projection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EE416-8F0B-400A-8C43-8FDDC36C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2619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 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DD0AD-B500-426F-BFF0-9A903EB5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809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UCI Online Retail II, 2011-03-05 to 2011-09-01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BD5FE-4499-4056-B222-704AE9BD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0F954-68AC-406E-A74A-A73EBE31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2619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2  Eligibility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F98A7-C0A3-4D61-8E5E-80189587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52700"/>
            <a:ext cx="809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At least 3 invoices and 8 distinct 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DCC40-A884-483A-86DD-38FC1B1A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84896-105C-43B2-B339-3D33926E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95650"/>
            <a:ext cx="2619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3  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87C44-98F3-49EC-A08E-9E4FB9AA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95650"/>
            <a:ext cx="809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300 customers selected with fixed seed 5588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19413-93EE-44E7-8579-C1E6F10E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385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70A79-0189-4DAB-A1FA-1EEC44E4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2619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4  Links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0ABF4-0D3B-4077-9DE3-A3779D0B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38600"/>
            <a:ext cx="809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At least 3 shared products and Jaccard &gt;= 0.10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E6266-01D9-4916-8E2F-0B009D80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FD038-6959-4425-A218-D1A68099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29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Method explored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8D1DE-4374-4F75-83DE-8173E7B6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800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A local modularity moving pass creates preliminary groups. Full Leiden is a later candidate; this experiment is not a Leiden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385785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8C4735-013C-4A87-89B6-7F69266B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Preliminary customer communities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45DB8-B3CC-40E8-A98F-FFBCC035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9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Retail360  /  Challenge 4 AI Design                                        3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9E039-01D8-46A9-882A-CFDCCBE1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888 eligible customers  /  300 sampled  /  1684 links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79F7D-5A31-4891-93DD-113D789F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953000" cy="309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4F7"/>
          </a:solidFill>
          <a:ln xmlns:a="http://schemas.openxmlformats.org/drawingml/2006/main" w="19050">
            <a:solidFill>
              <a:srgbClr val="B8D6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6AAF7-C655-4F24-80EC-48CE4B66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752600"/>
            <a:ext cx="4714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Group 17841: 54 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153F2-8C89-4A6B-8F24-C4984AE1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048000"/>
            <a:ext cx="1295400" cy="400050"/>
          </a:xfrm>
          <a:custGeom xmlns:a="http://schemas.openxmlformats.org/drawingml/2006/main">
            <a:pathLst>
              <a:path w="1295400" h="400050">
                <a:moveTo>
                  <a:pt x="1295400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9D077-1558-4FD1-88F3-C27E7844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48000"/>
            <a:ext cx="1524000" cy="400050"/>
          </a:xfrm>
          <a:custGeom xmlns:a="http://schemas.openxmlformats.org/drawingml/2006/main">
            <a:pathLst>
              <a:path w="1524000" h="400050">
                <a:moveTo>
                  <a:pt x="0" y="400050"/>
                </a:moveTo>
                <a:lnTo>
                  <a:pt x="152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87F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386A3-3973-4552-AEB1-6801A5F8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48050"/>
            <a:ext cx="133350" cy="1219200"/>
          </a:xfrm>
          <a:custGeom xmlns:a="http://schemas.openxmlformats.org/drawingml/2006/main">
            <a:pathLst>
              <a:path w="133350" h="1219200">
                <a:moveTo>
                  <a:pt x="0" y="0"/>
                </a:moveTo>
                <a:lnTo>
                  <a:pt x="133350" y="12192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87F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E45A1-E3D7-4C42-91A5-85E9F0CD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95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AF1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669D7-BD7E-4CDA-9934-952EDF03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76600"/>
            <a:ext cx="933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15719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160F1-3008-4265-A690-10470269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14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8058E-6528-4C70-95D4-B66AFA45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76550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15356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A015D-EF4C-48D9-A840-4790233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14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60DD4-4178-4BA7-9A8A-952813EE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76550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15615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9401F-B1E9-4A8E-9832-A26C5439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33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DAC2E-6B86-4256-B8A8-C3BDD690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95800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16745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168ED-0F8F-40E8-A032-757D0F5A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530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Top shown link: 64 shared items, Jaccard 0.218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B63A6-16AB-42A8-8866-86A93EA6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43125"/>
            <a:ext cx="4953000" cy="309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E6"/>
          </a:solidFill>
          <a:ln xmlns:a="http://schemas.openxmlformats.org/drawingml/2006/main" w="19050">
            <a:solidFill>
              <a:srgbClr val="E8C8A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2B74BC-DA77-4081-95D5-D48D6B21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752600"/>
            <a:ext cx="4714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66D3A"/>
                </a:solidFill>
                <a:latin typeface="Arial"/>
                <a:ea typeface="Arial"/>
                <a:cs typeface="Arial"/>
              </a:rPr>
              <a:t>Group 16523: 42 customers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C1ABB-A5FE-4B88-8870-80CAB356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48000"/>
            <a:ext cx="1295400" cy="400050"/>
          </a:xfrm>
          <a:custGeom xmlns:a="http://schemas.openxmlformats.org/drawingml/2006/main">
            <a:pathLst>
              <a:path w="1295400" h="400050">
                <a:moveTo>
                  <a:pt x="1295400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66D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D8714-EA45-4C26-8856-EC377809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48000"/>
            <a:ext cx="1524000" cy="400050"/>
          </a:xfrm>
          <a:custGeom xmlns:a="http://schemas.openxmlformats.org/drawingml/2006/main">
            <a:pathLst>
              <a:path w="1524000" h="400050">
                <a:moveTo>
                  <a:pt x="0" y="400050"/>
                </a:moveTo>
                <a:lnTo>
                  <a:pt x="152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66D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FD3B2-D454-4B1E-9F16-2B48BD73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48050"/>
            <a:ext cx="133350" cy="1219200"/>
          </a:xfrm>
          <a:custGeom xmlns:a="http://schemas.openxmlformats.org/drawingml/2006/main">
            <a:pathLst>
              <a:path w="133350" h="1219200">
                <a:moveTo>
                  <a:pt x="0" y="0"/>
                </a:moveTo>
                <a:lnTo>
                  <a:pt x="133350" y="12192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66D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6D601-A60A-4EB3-A3F6-4AF7430D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6D1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CB309-F847-4123-9697-5579E34B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76600"/>
            <a:ext cx="933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17091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3FB4A-0272-422D-852C-FEA6BDAF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14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B3CE1-2343-48F1-B4E4-A9623F62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76550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17068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ECFC27-8800-4604-9291-5E22988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14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5F0A0-9266-45A9-B992-93E66B88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14709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AD0E2A-74E6-4233-92FB-AA629BCE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33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62801D-5DA8-49A7-9756-829666CF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95800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16477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E85529-AA21-4D7D-8912-33D03CEA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3530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Top shown link: 28 shared items, Jaccard 0.341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DCC8DB-B815-4DC5-AF55-B620964B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Real UCI purchases, selected nodes only. Group labels are exploratory and may change with thresholds or sampling.</a:t>
            </a:r>
          </a:p>
        </p:txBody>
      </p:sp>
    </p:spTree>
    <p:extLst>
      <p:ext uri="{BB962C8B-B14F-4D97-AF65-F5344CB8AC3E}">
        <p14:creationId xmlns:p14="http://schemas.microsoft.com/office/powerpoint/2010/main" val="1535385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9E53F-0AE8-4356-B87D-AE5FA740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Community-aware retrieval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88D44-F00F-472F-88C3-EAB2E768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9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Retail360  /  Challenge 4 AI Design                                        4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D697A-D115-4EFA-AC5D-744A1B81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Which customers in 15719's community bought similar products, and why?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0C5C3-E596-4F8D-953B-99DE9971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Target 15719  /  group 17841  /  54 members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CBFB0-D25E-4294-9455-CD30BD9C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428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Same-group peer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2F07B-D768-4019-8DAE-267AC4CE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Shared products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B614A-C5CE-48E4-86F8-410A22E3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Jaccard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85064-0501-444E-AF29-1264B43D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AC268-D145-47A2-B90D-1B951B81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394D"/>
                </a:solidFill>
                <a:latin typeface="Arial"/>
                <a:ea typeface="Arial"/>
                <a:cs typeface="Arial"/>
              </a:rPr>
              <a:t>15356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D93FD-1969-4570-B449-302584DD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DBD38-BBDB-47B4-B413-EF083C4D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0.218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F3BA3-ECE0-453F-8CCF-7F8B03DC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268F9-2990-4759-AC39-8594A79C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394D"/>
                </a:solidFill>
                <a:latin typeface="Arial"/>
                <a:ea typeface="Arial"/>
                <a:cs typeface="Arial"/>
              </a:rPr>
              <a:t>15615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F3E6D-E7AB-4A0D-9B6F-D549BAFF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481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0D3BA-17F4-40D5-AA9F-46F9EFD6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0.207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7CF89-25CA-41CB-8759-BE283A68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573B7-4BCC-4EE1-83FD-569D98E3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394D"/>
                </a:solidFill>
                <a:latin typeface="Arial"/>
                <a:ea typeface="Arial"/>
                <a:cs typeface="Arial"/>
              </a:rPr>
              <a:t>16745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C749D-8DF3-45B6-9393-4070D55F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196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93233-CE2D-4A94-9477-2C24AD05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196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0.198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FC2AB-7AC6-4B1E-93A4-6DE0F1D6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32D29-7B14-41A7-8CD2-F802619D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33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Evidence for StockCode 20713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6C430B-1180-4815-922F-FDCA5DB5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620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15719: invoice 547359, row Year 2010-2011:128739</a:t>
            </a:r>
          </a:p>
          <a:p xmlns:a="http://schemas.openxmlformats.org/drawingml/2006/main">
            <a: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15356: invoice 557233, row Year 2010-2011:231094</a:t>
            </a:r>
          </a:p>
        </p:txBody>
      </p:sp>
    </p:spTree>
    <p:extLst>
      <p:ext uri="{BB962C8B-B14F-4D97-AF65-F5344CB8AC3E}">
        <p14:creationId xmlns:p14="http://schemas.microsoft.com/office/powerpoint/2010/main" val="1406462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D5F2FE-568E-438D-8EEB-70D04433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Multimodal output 1: relationship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BB4B8-165D-463A-B2A8-C422AAB0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9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Retail360  /  Challenge 4 AI Design                                        5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09ADC-2D69-4558-8C5B-48D12019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visual graph helps users see peers; a text panel shows the underlying transactions.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40967-5A0B-4DF8-9ECE-49DE820C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65532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19050">
            <a:solidFill>
              <a:srgbClr val="B8D0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31CC0-0164-46E4-ADD6-CAF93B96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14550"/>
            <a:ext cx="40290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9"/>
          </a:solidFill>
          <a:ln xmlns:a="http://schemas.openxmlformats.org/drawingml/2006/main" w="19050">
            <a:solidFill>
              <a:srgbClr val="B8D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ADC07-D982-428D-8D7A-B7B094C3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95600"/>
            <a:ext cx="2819400" cy="990600"/>
          </a:xfrm>
          <a:custGeom xmlns:a="http://schemas.openxmlformats.org/drawingml/2006/main">
            <a:pathLst>
              <a:path w="2819400" h="990600">
                <a:moveTo>
                  <a:pt x="0" y="990600"/>
                </a:moveTo>
                <a:lnTo>
                  <a:pt x="2819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F0A13-A61C-4444-BC17-8B920647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86200"/>
            <a:ext cx="3200400" cy="200025"/>
          </a:xfrm>
          <a:custGeom xmlns:a="http://schemas.openxmlformats.org/drawingml/2006/main">
            <a:pathLst>
              <a:path w="3200400" h="200025">
                <a:moveTo>
                  <a:pt x="0" y="0"/>
                </a:moveTo>
                <a:lnTo>
                  <a:pt x="320040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7AD82-1566-47C0-B78A-A43FB906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86200"/>
            <a:ext cx="2171700" cy="1295400"/>
          </a:xfrm>
          <a:custGeom xmlns:a="http://schemas.openxmlformats.org/drawingml/2006/main">
            <a:pathLst>
              <a:path w="2171700" h="1295400">
                <a:moveTo>
                  <a:pt x="0" y="0"/>
                </a:moveTo>
                <a:lnTo>
                  <a:pt x="2171700" y="1295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087C2-0EC1-4C2B-BBB0-4DC24F99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385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AF1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0E3D4-D519-4082-A523-D323E59A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71475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15719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288B8-D155-4B46-A4AE-9DD6C65D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B23E7-1B3C-4442-8BC3-4E61568E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241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15356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C18FA-C8BD-42E4-A4EE-160CFCCC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052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F5CE6-1FDE-43C8-9C6C-7D3CF648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1477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15615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FDDED-B778-47B4-A4DC-6FBDEB40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33CC3-9FE3-4C25-B715-DE35CB7E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101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16745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A0B4B-B791-441A-B858-1CE18503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5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Inspect a peer to see the 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0AF72-7325-45FD-B5F9-B0CD3F1E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241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Selected peer: 15356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1474D-BC95-43C6-8B10-25840BBF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905125"/>
            <a:ext cx="3476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64 shared products</a:t>
            </a:r>
          </a:p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Jaccard 0.218</a:t>
            </a:r>
          </a:p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Example item 20713</a:t>
            </a:r>
          </a:p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Invoices 547359 and 557233</a:t>
            </a:r>
          </a:p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Original row IDs available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E3D39-B3B2-4CBD-9F1D-4BB70815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Slide illustration based on real records. The local Streamlit app now shows a relationship preview.</a:t>
            </a:r>
          </a:p>
        </p:txBody>
      </p:sp>
    </p:spTree>
    <p:extLst>
      <p:ext uri="{BB962C8B-B14F-4D97-AF65-F5344CB8AC3E}">
        <p14:creationId xmlns:p14="http://schemas.microsoft.com/office/powerpoint/2010/main" val="1807203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BB26F-F25D-4C23-84B0-F6663B28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Multimodal output 2: community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56B11-6354-4F2B-98AC-0C1136B7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9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Retail360  /  Challenge 4 AI Design                                        6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40ACC-3D00-4242-BF63-FB42EFEA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chart gives quick context for group size; it complements the relationship graph.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4C3DC3C-39F3-4DAB-96D0-B420DC97F8D8}"/>
              </a:ext>
            </a:extLst>
          </p:cNvPr>
          <p:cNvGraphicFramePr/>
          <p:nvPr/>
        </p:nvGraphicFramePr>
        <p:xfrm>
          <a:off xmlns:a="http://schemas.openxmlformats.org/drawingml/2006/main" x="666750" y="2019300"/>
          <a:ext xmlns:a="http://schemas.openxmlformats.org/drawingml/2006/main" cx="692467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1b287a6d814a5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FED10-D855-498B-AC80-DF30D5C2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2407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Largest group: 54 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C2C72-BC05-4C85-BC3C-7BBB2B3D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3845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Frequent observed products in that group: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4A146-0EBD-4A6F-ADE5-0311A3B9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29000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47566: PARTY BUNTING</a:t>
            </a:r>
          </a:p>
          <a:p xmlns:a="http://schemas.openxmlformats.org/drawingml/2006/main">
            <a: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34 of 54 customers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4E617-797C-42CD-82FC-5DF54E5F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14800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23298: SPOTTY BUNTING</a:t>
            </a:r>
          </a:p>
          <a:p xmlns:a="http://schemas.openxmlformats.org/drawingml/2006/main">
            <a: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31 of 54 customers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152CD-9931-4AA6-AC62-1C649A19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00600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22720: SET OF 3 CAKE TINS PANTRY DESIGN</a:t>
            </a:r>
          </a:p>
          <a:p xmlns:a="http://schemas.openxmlformats.org/drawingml/2006/main">
            <a:pPr algn="l">
              <a:defRPr sz="135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29 of 54 customers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78883-428E-4B18-B920-1CC72509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Counts describe this sampled period. They do not prove an individual customer’s private preference.</a:t>
            </a:r>
          </a:p>
        </p:txBody>
      </p:sp>
    </p:spTree>
    <p:extLst>
      <p:ext uri="{BB962C8B-B14F-4D97-AF65-F5344CB8AC3E}">
        <p14:creationId xmlns:p14="http://schemas.microsoft.com/office/powerpoint/2010/main" val="18093915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122490-D68A-4021-A25C-A19A721F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AI-enhanced application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5768F-36EF-4FDB-BFBD-DFE25548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9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Retail360  /  Challenge 4 AI Design                                        7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EE546-A91A-45E9-9E50-EC0C2B51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Priority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1E34C-6996-425D-97B3-2360247D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190625"/>
            <a:ext cx="323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95660-B005-4467-99FA-5649BEB6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190625"/>
            <a:ext cx="590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User benefit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3193B-B8C7-495B-BCB2-9780515A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EC864-3A8B-43F0-8142-7CFC6E13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428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21EC8-2E3F-4173-8179-EDAC7386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14500"/>
            <a:ext cx="3286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Community explorer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DA364-A770-49D4-8151-E0D08C51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145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Find peers in the same observed purchase group.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39BF8-FB16-4448-9677-70A6A91E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145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59903-66D6-41A4-B91F-156C3939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428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CCD52-EDB2-47E3-8DF2-57186624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3286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Evidence-backed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39291-A316-48DB-BCE9-BFD21C43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765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Inspect shared items, invoices, dates, and source rows.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FB0A4-5765-4A5E-BFD5-F579101D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71648-3EC7-49A0-ADB4-DACC8B7E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428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45A11-95C3-405C-A394-F94B248D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3286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Observed buying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2BAC9-182E-4891-A7C3-2A3FE5AC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385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Show common products without claiming intent.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7242B-8A26-4337-98A8-CC2C34BE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385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744C1E-7001-4962-B79B-AC9A061D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428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66D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66D3A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698C64-3338-49D9-849C-0EB52F30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3286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Community chart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EA6C7-8DC9-4DCB-B997-B07D4824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005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Compare group sizes and frequent products.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69757-89C8-4788-A488-F5405405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0CCB0D-B42C-40D0-9E79-389BABF8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428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36C80"/>
                </a:solidFill>
                <a:latin typeface="Arial"/>
                <a:ea typeface="Arial"/>
                <a:cs typeface="Arial"/>
              </a:rPr>
              <a:t>FUTURE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83CCB-7D23-48AA-8250-A1083A28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3286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Stability and uncertainty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65A64-0075-4AD9-AEC9-91FCF21E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625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Test other periods and flag weak or sparse groups.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229F5-3174-4B39-B765-90811CEF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7859BD-D646-45BF-BF8A-3D68B842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Codex added the chart and explicit uncertainty controls to the user’s original graph-focused plan.</a:t>
            </a:r>
          </a:p>
        </p:txBody>
      </p:sp>
    </p:spTree>
    <p:extLst>
      <p:ext uri="{BB962C8B-B14F-4D97-AF65-F5344CB8AC3E}">
        <p14:creationId xmlns:p14="http://schemas.microsoft.com/office/powerpoint/2010/main" val="2122961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0C272-0FAA-4DCB-98D1-097BE4C5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AI interface wireframe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99637-0A87-4A82-BB03-58B83EAD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9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Retail360  /  Challenge 4 AI Design                                        8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AD665-E164-4BCB-B156-9E068AB5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Concept prototype based on the preliminary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EF93E-3BBE-437E-88E4-23DFE02E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19050">
            <a:solidFill>
              <a:srgbClr val="B8D0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ED7C6-4CF3-4484-8A6B-D1E9186F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10477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6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7B656-5349-42BB-B693-1CC6D481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1004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Customer [ 15719 ]          Window [ Mar–Aug 2011 ]          Group [ 17841 ]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53102-157D-4FEE-AAEA-BABCCDA1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67000"/>
            <a:ext cx="55245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3ABA6-B230-424B-8A1D-1BA8EE95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90825"/>
            <a:ext cx="512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Relationship 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517B9-8F85-4B67-8C3C-8A3DF087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0"/>
            <a:ext cx="2095500" cy="619125"/>
          </a:xfrm>
          <a:custGeom xmlns:a="http://schemas.openxmlformats.org/drawingml/2006/main">
            <a:pathLst>
              <a:path w="2095500" h="619125">
                <a:moveTo>
                  <a:pt x="0" y="619125"/>
                </a:moveTo>
                <a:lnTo>
                  <a:pt x="209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F5928-7FCF-498C-9F3F-F04A0EA5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38625"/>
            <a:ext cx="2686050" cy="533400"/>
          </a:xfrm>
          <a:custGeom xmlns:a="http://schemas.openxmlformats.org/drawingml/2006/main">
            <a:pathLst>
              <a:path w="2686050" h="533400">
                <a:moveTo>
                  <a:pt x="0" y="0"/>
                </a:moveTo>
                <a:lnTo>
                  <a:pt x="268605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6F4E2-FFBC-423F-8BA2-75552574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766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AF1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7CCDD-6C98-49C2-A030-53ECB728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07670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15719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1AA27-FDFB-4388-BF28-231BC318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62325"/>
            <a:ext cx="676275" cy="676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85CC2-C9CB-4928-8622-61A6F3C9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9013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15356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C05DB-FB8B-470C-8EFC-5995FD11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24375"/>
            <a:ext cx="676275" cy="676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202D6-9077-4F21-956C-AD66B3F0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691063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15615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F8E1A1-7633-474F-A8DB-5DDFF78E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46958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723A4-951D-427C-B7F8-4C473BC3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908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Evidence and caveat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6FEC9-85DD-4B53-8946-61DB0A7D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42291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Peer 15356: 64 shared products</a:t>
            </a:r>
          </a:p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Jaccard 0.218</a:t>
            </a:r>
          </a:p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Invoice 547359 / 557233</a:t>
            </a:r>
          </a:p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Source rows available</a:t>
            </a:r>
          </a:p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Observed purchases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AB4A4-A4EF-44D6-B87B-6013916D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Future control: compare communities across dates before using the result for a decision.</a:t>
            </a:r>
          </a:p>
        </p:txBody>
      </p:sp>
    </p:spTree>
    <p:extLst>
      <p:ext uri="{BB962C8B-B14F-4D97-AF65-F5344CB8AC3E}">
        <p14:creationId xmlns:p14="http://schemas.microsoft.com/office/powerpoint/2010/main" val="1142014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CAC55A-E19E-49F6-B270-F7F4EF6B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Human Design compared with AI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C490A-6BAB-4D8D-9435-8F7D5785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9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Retail360  /  Challenge 4 AI Design                                        9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97979-D6B6-4A5C-B7D2-B1E05DD5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8725"/>
            <a:ext cx="219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5066E-6F24-4B50-AF20-AB11C92B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228725"/>
            <a:ext cx="3600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Human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F4B0A-5276-4E8D-AAD1-824BA0A9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28725"/>
            <a:ext cx="428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AI Design exploration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913CF-E784-4F10-98DA-B238DD27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71EA8-A41E-4AF3-B68D-C4F54D0A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14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Community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B8966-B91E-4118-83F4-7296BC01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52600"/>
            <a:ext cx="342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Customers buying similar 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B5E29-5260-4460-9F70-724F8790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52600"/>
            <a:ext cx="4572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300-customer projection; exploratory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21D6B-45A0-4ECB-8A1A-0CF3DDFC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FBF22-F0D4-4EDF-B0CD-393353C9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214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93867-0F47-4027-8B33-49D5D8B7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43175"/>
            <a:ext cx="342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Consider Leiden after more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C7CFE-290F-40F3-B8FB-8315AD88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43175"/>
            <a:ext cx="4572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Test local modularity pass; keep full Leiden for later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8AA0D-3B06-403D-831A-DB4565E1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6A9AF-5EAC-4626-B3EE-6A981679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14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5A404-96DF-4B38-92DE-0471542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33750"/>
            <a:ext cx="342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Customer relationship 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0C509-9FFE-4222-A4D6-7114B707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4572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Add evidence panel and community-size chart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DDC6E-DA91-4157-B704-64FC4819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32AEA-5FF1-4CDC-B9D1-6A5E8F3B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14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User goal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4F89C-A630-4B47-9F27-7031E32D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24325"/>
            <a:ext cx="342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Discover customer likes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135C6-35F1-4263-8A79-3557D912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24325"/>
            <a:ext cx="4572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Report observed purchases; avoid claims about intent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710EA-F206-4BB7-B36C-B27DA97A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52781D-6E10-433B-BCA9-A710EAD1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14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73581-833E-4E9E-B9D1-ECD8C80D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14900"/>
            <a:ext cx="342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Inspect source transactions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F6E4A3-DA49-41A1-A5F3-C2025D37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14900"/>
            <a:ext cx="4572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Record cohort rules, row IDs, and four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59AB75-FA47-466D-B4B9-864C4AE2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02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4"/>
          </a:solidFill>
          <a:ln xmlns:a="http://schemas.openxmlformats.org/drawingml/2006/main" w="0">
            <a:solidFill>
              <a:srgbClr val="C9DBE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298C20-FC18-4A11-9E7D-4B340FD6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Human review: decide whether these groups are useful and stable before making marketing decisions.</a:t>
            </a:r>
          </a:p>
        </p:txBody>
      </p:sp>
    </p:spTree>
    <p:extLst>
      <p:ext uri="{BB962C8B-B14F-4D97-AF65-F5344CB8AC3E}">
        <p14:creationId xmlns:p14="http://schemas.microsoft.com/office/powerpoint/2010/main" val="1322126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D8E16-D212-4C32-9AF8-2A37377A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Agentic AI process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19C3A-C34C-4F02-B9BE-9BB60C8E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9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Retail360  /  Challenge 4 AI Design                                        10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B93C0-15B5-4635-BE88-B0894859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Tool used: Codex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970EC-7FCF-455A-B202-84481B3D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Input to the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0723A-B58E-4937-8299-1D2F0F3F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Human Design choices, Challenge 3 KG/GraphRAG code, and the UCI transaction workbook.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DA0DA-ADDE-49E4-982E-0FB9933C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14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What it produced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92305-2AA9-4103-AA84-5EBD96CA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52675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A customer projection, local Neo4j community route, source-backed answer, and visual interface proposal.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64FD8-5DE0-4517-8C8E-7C44FD50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145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Human review needed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DF8D9-F5D8-4226-9206-6C0BB7C2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52675"/>
            <a:ext cx="323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Check group stability, cohort bias, threshold sensitivity, and whether observed products really help analysts.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88B8F-C524-4524-B3CE-8671F398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0839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6"/>
          </a:solidFill>
          <a:ln xmlns:a="http://schemas.openxmlformats.org/drawingml/2006/main" w="9525">
            <a:solidFill>
              <a:srgbClr val="A7C3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EA6E1-F77C-479C-B461-C802EF91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Next stage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AFADA-CB50-4632-BFA3-D95CDE8D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53000"/>
            <a:ext cx="8334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39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394D"/>
                </a:solidFill>
                <a:latin typeface="Arial"/>
                <a:ea typeface="Arial"/>
                <a:cs typeface="Arial"/>
              </a:rPr>
              <a:t>Compare with full Leiden and test community stability. Current local Neo4j GraphRAG integration passed 8/8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CB527-92A2-44D1-A328-AC5C4FCF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C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C80"/>
                </a:solidFill>
                <a:latin typeface="Arial"/>
                <a:ea typeface="Arial"/>
                <a:cs typeface="Arial"/>
              </a:rPr>
              <a:t>Submit PPT to Canvas by Oct. 29, 10:00 AM before class. Classroom sharing and hands-on work follow.</a:t>
            </a:r>
          </a:p>
        </p:txBody>
      </p:sp>
    </p:spTree>
    <p:extLst>
      <p:ext uri="{BB962C8B-B14F-4D97-AF65-F5344CB8AC3E}">
        <p14:creationId xmlns:p14="http://schemas.microsoft.com/office/powerpoint/2010/main" val="107646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2026-10-27T21:24:29.5340000Z</dcterms:created>
  <dcterms:modified xsi:type="dcterms:W3CDTF">2026-10-27T21:24:29.5340000Z</dcterms:modified>
</coreProperties>
</file>