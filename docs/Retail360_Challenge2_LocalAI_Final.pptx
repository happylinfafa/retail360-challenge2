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26818b2424840" /><Relationship Type="http://schemas.openxmlformats.org/officeDocument/2006/relationships/extended-properties" Target="/docProps/app.xml" Id="R7a7d7e76b8bf4f21" /><Relationship Type="http://schemas.openxmlformats.org/officeDocument/2006/relationships/officeDocument" Target="/ppt/presentation.xml" Id="R76e8f3773bb6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29a7a1ab14c0d"/>
  </p:sldMasterIdLst>
  <p:notesMasterIdLst>
    <p:notesMasterId xmlns:r="http://schemas.openxmlformats.org/officeDocument/2006/relationships" r:id="R4b069dca7ef747ad"/>
  </p:notesMasterIdLst>
  <p:sldIdLst>
    <p:sldId xmlns:r="http://schemas.openxmlformats.org/officeDocument/2006/relationships" id="256" r:id="R65ecff3aea6e44df"/>
    <p:sldId xmlns:r="http://schemas.openxmlformats.org/officeDocument/2006/relationships" id="257" r:id="Rb659f315f2fd40f2"/>
    <p:sldId xmlns:r="http://schemas.openxmlformats.org/officeDocument/2006/relationships" id="258" r:id="R90fac11d8bf14bea"/>
    <p:sldId xmlns:r="http://schemas.openxmlformats.org/officeDocument/2006/relationships" id="259" r:id="R77ee91af6a3b4813"/>
    <p:sldId xmlns:r="http://schemas.openxmlformats.org/officeDocument/2006/relationships" id="260" r:id="R3b681e5ebbf84bcd"/>
    <p:sldId xmlns:r="http://schemas.openxmlformats.org/officeDocument/2006/relationships" id="261" r:id="R5a4e1af90a9d4042"/>
    <p:sldId xmlns:r="http://schemas.openxmlformats.org/officeDocument/2006/relationships" id="262" r:id="R8502ede882ae468b"/>
    <p:sldId xmlns:r="http://schemas.openxmlformats.org/officeDocument/2006/relationships" id="263" r:id="R54ef47903e74440f"/>
    <p:sldId xmlns:r="http://schemas.openxmlformats.org/officeDocument/2006/relationships" id="264" r:id="R823e7a23d6524a5e"/>
    <p:sldId xmlns:r="http://schemas.openxmlformats.org/officeDocument/2006/relationships" id="265" r:id="R9603631eea3844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0272f05444e2f" /><Relationship Type="http://schemas.openxmlformats.org/officeDocument/2006/relationships/slideMaster" Target="/ppt/slideMasters/slideMaster1.xml" Id="R40429a7a1ab14c0d" /><Relationship Type="http://schemas.openxmlformats.org/officeDocument/2006/relationships/notesMaster" Target="/ppt/notesMasters/notesMaster1.xml" Id="R4b069dca7ef747ad" /><Relationship Type="http://schemas.openxmlformats.org/officeDocument/2006/relationships/presProps" Target="/ppt/presProps.xml" Id="Rccb6aff33ed04f93" /><Relationship Type="http://schemas.openxmlformats.org/officeDocument/2006/relationships/tableStyles" Target="/ppt/tableStyles.xml" Id="R1eca85ee0d104f28" /><Relationship Type="http://schemas.openxmlformats.org/officeDocument/2006/relationships/slide" Target="/ppt/slides/slide1.xml" Id="R65ecff3aea6e44df" /><Relationship Type="http://schemas.openxmlformats.org/officeDocument/2006/relationships/slide" Target="/ppt/slides/slide2.xml" Id="Rb659f315f2fd40f2" /><Relationship Type="http://schemas.openxmlformats.org/officeDocument/2006/relationships/slide" Target="/ppt/slides/slide3.xml" Id="R90fac11d8bf14bea" /><Relationship Type="http://schemas.openxmlformats.org/officeDocument/2006/relationships/slide" Target="/ppt/slides/slide4.xml" Id="R77ee91af6a3b4813" /><Relationship Type="http://schemas.openxmlformats.org/officeDocument/2006/relationships/slide" Target="/ppt/slides/slide5.xml" Id="R3b681e5ebbf84bcd" /><Relationship Type="http://schemas.openxmlformats.org/officeDocument/2006/relationships/slide" Target="/ppt/slides/slide6.xml" Id="R5a4e1af90a9d4042" /><Relationship Type="http://schemas.openxmlformats.org/officeDocument/2006/relationships/slide" Target="/ppt/slides/slide7.xml" Id="R8502ede882ae468b" /><Relationship Type="http://schemas.openxmlformats.org/officeDocument/2006/relationships/slide" Target="/ppt/slides/slide8.xml" Id="R54ef47903e74440f" /><Relationship Type="http://schemas.openxmlformats.org/officeDocument/2006/relationships/slide" Target="/ppt/slides/slide9.xml" Id="R823e7a23d6524a5e" /><Relationship Type="http://schemas.openxmlformats.org/officeDocument/2006/relationships/slide" Target="/ppt/slides/slide10.xml" Id="R9603631eea38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0e92b574946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3aea4e35fb42aa" /><Relationship Type="http://schemas.openxmlformats.org/officeDocument/2006/relationships/notesMaster" Target="/ppt/notesMasters/notesMaster1.xml" Id="R93a3d749aaa2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74b366a5e4c8e" /><Relationship Type="http://schemas.openxmlformats.org/officeDocument/2006/relationships/notesMaster" Target="/ppt/notesMasters/notesMaster1.xml" Id="R51aa3a466ee345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5afeba1914f73" /><Relationship Type="http://schemas.openxmlformats.org/officeDocument/2006/relationships/notesMaster" Target="/ppt/notesMasters/notesMaster1.xml" Id="R18f6e1eb52a8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bd220b4f44a6a" /><Relationship Type="http://schemas.openxmlformats.org/officeDocument/2006/relationships/notesMaster" Target="/ppt/notesMasters/notesMaster1.xml" Id="Rab81b57ed8a4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bfff2bc8c4c89" /><Relationship Type="http://schemas.openxmlformats.org/officeDocument/2006/relationships/notesMaster" Target="/ppt/notesMasters/notesMaster1.xml" Id="R48b9cf5cf8b6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32dd30b82473b" /><Relationship Type="http://schemas.openxmlformats.org/officeDocument/2006/relationships/notesMaster" Target="/ppt/notesMasters/notesMaster1.xml" Id="R8a51f66328354a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fb614d5274a26" /><Relationship Type="http://schemas.openxmlformats.org/officeDocument/2006/relationships/notesMaster" Target="/ppt/notesMasters/notesMaster1.xml" Id="R630d94eb5bcd49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1fc485eed4364" /><Relationship Type="http://schemas.openxmlformats.org/officeDocument/2006/relationships/notesMaster" Target="/ppt/notesMasters/notesMaster1.xml" Id="Rbed21a92b96144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351c7d8e224f01" /><Relationship Type="http://schemas.openxmlformats.org/officeDocument/2006/relationships/notesMaster" Target="/ppt/notesMasters/notesMaster1.xml" Id="R0d10f9ecdc2140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c90a1b4f6b4423" /><Relationship Type="http://schemas.openxmlformats.org/officeDocument/2006/relationships/notesMaster" Target="/ppt/notesMasters/notesMaster1.xml" Id="R5c89a3690e02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workflow is operational: real Qwen2.5 responses, source evidence and human review. Eight regression tests and five real model cases are documented in the repository. Final Challenge 2 report is due September 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 builds on the previously accepted Human Design and AI Design. This focused capability supports later segmentation and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Without a local model response, reviews are labeled computed_evidence_only. They are never presented as approval of an AI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files: app.py, analytics.py, ai.py. The adapter uses Qwen2.5 1.5B through Ollama on loopback, with a JSON schema and explicit error handling. No cloud service or API key is used. Sources: https://docs.ollama.com/capabilities/structured-outputs and https://ollama.com/library/qwen2.5:1.5b.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attribution: Chen, D. (2012). Online Retail II. https://doi.org/10.24432/C5CG6D. Source sample manifest and extraction script are in the repository. Product text is supplementary, not an instruction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browser screenshot captured from the running Streamlit application at http://127.0.0.1:8501. This address is local to the presenter’s computer. Repository run instructions enable review on another machine.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screenshot of local Qwen2.5 1.5B output. Customer 13085 totals: 2433.28 GBP across eight invoices; AOV 304.16; 50 distinct StockCodes. Source date July 5, 2011; analysis date December 10, 2011. ALL_INVOICES links to the full table in the app; original rows remain inspectable. This descriptive output is not a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demonstration review entered during implementation. The actual local model response is associated with a response ID and evidence hash. The requested correction replaces days ago with days before the selected analysis date; it is not a claim of personal student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https://github.com/happylinfafa/retail360-challenge2. Secrets are excluded from source, saved evidence, and reviews. No complete dashboard or multiple-agent framework was introduced.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Executed command: python -m pytest -q --junitxml=docs/test_results.xml. Eight passed. UI also verified in the browser, including a nonexistent customer and recording an evidence review. Mocked provider tests do not measure actual LLM behavior. Five real local scenarios: default customer, shortened window, another customer, unsupported age/future request, and long history. All passed final mechanical checks; timings ranged from 19.73 to 27.22 seconds. Initial long-history invented totals were blocked. Initial recency wording failed manual review and prompted a revision. Remaining ambiguity is shown in the human review demonstration. Model behavior is not guaranteed by this small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b6f2db645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d853e48f0455a" /><Relationship Type="http://schemas.openxmlformats.org/officeDocument/2006/relationships/slideLayout" Target="/ppt/slideLayouts/slideLayout1.xml" Id="Rd4872898285e49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72898285e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87f9557ae499e" /><Relationship Type="http://schemas.openxmlformats.org/officeDocument/2006/relationships/notesSlide" Target="/ppt/notesSlides/notesSlide1.xml" Id="R9b102e54d690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5718b66e14f2e" /><Relationship Type="http://schemas.openxmlformats.org/officeDocument/2006/relationships/notesSlide" Target="/ppt/notesSlides/notesSlide2.xml" Id="Rc4ca4da1dc0141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71ebaeff04a3c" /><Relationship Type="http://schemas.openxmlformats.org/officeDocument/2006/relationships/notesSlide" Target="/ppt/notesSlides/notesSlide3.xml" Id="Read77e4c8c4948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b9bf7a90d4307" /><Relationship Type="http://schemas.openxmlformats.org/officeDocument/2006/relationships/notesSlide" Target="/ppt/notesSlides/notesSlide4.xml" Id="R7d2489feb490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d35894ce4e06" /><Relationship Type="http://schemas.openxmlformats.org/officeDocument/2006/relationships/notesSlide" Target="/ppt/notesSlides/notesSlide5.xml" Id="Rda82deb2b87e47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e0ca3c684472" /><Relationship Type="http://schemas.openxmlformats.org/officeDocument/2006/relationships/image" Target="/ppt/media/image.jpeg" Id="Rccf8b897f80840a9" /><Relationship Type="http://schemas.openxmlformats.org/officeDocument/2006/relationships/notesSlide" Target="/ppt/notesSlides/notesSlide6.xml" Id="R54cf20d1e2e2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b056c36364481" /><Relationship Type="http://schemas.openxmlformats.org/officeDocument/2006/relationships/image" Target="/ppt/media/image2.jpeg" Id="R677043510a044744" /><Relationship Type="http://schemas.openxmlformats.org/officeDocument/2006/relationships/notesSlide" Target="/ppt/notesSlides/notesSlide7.xml" Id="Re06d8c9bad8844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1184c32164153" /><Relationship Type="http://schemas.openxmlformats.org/officeDocument/2006/relationships/image" Target="/ppt/media/image3.jpeg" Id="R07d97804fe174479" /><Relationship Type="http://schemas.openxmlformats.org/officeDocument/2006/relationships/notesSlide" Target="/ppt/notesSlides/notesSlide8.xml" Id="Rf7db18fa6097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4e0f441840fc" /><Relationship Type="http://schemas.openxmlformats.org/officeDocument/2006/relationships/notesSlide" Target="/ppt/notesSlides/notesSlide9.xml" Id="Rd99164a2c8f540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bb4c762ce4d05" /><Relationship Type="http://schemas.openxmlformats.org/officeDocument/2006/relationships/notesSlide" Target="/ppt/notesSlides/notesSlide10.xml" Id="R59bb2e1039fe4f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BA9A7-509E-4D26-A7EF-173DE983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E0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E05F"/>
                </a:solidFill>
                <a:latin typeface="Arial"/>
                <a:ea typeface="Arial"/>
                <a:cs typeface="Arial"/>
              </a:rPr>
              <a:t>RETAIL360 / CHALLENGE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227F4-E8A2-4CCD-817C-9DE30713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evidence explorer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D25E4-F7A8-4FE4-9414-D83F730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Human–AI Co-Design and Working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ED597-8CE1-4281-9A23-020886D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8E2"/>
                </a:solidFill>
                <a:latin typeface="Arial"/>
                <a:ea typeface="Arial"/>
                <a:cs typeface="Arial"/>
              </a:rPr>
              <a:t>For retail analysts: calculate customer features, inspect transactions, and review AI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BE98C-4471-462B-92F8-119DA964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E0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E05F"/>
                </a:solidFill>
                <a:latin typeface="Arial"/>
                <a:ea typeface="Arial"/>
                <a:cs typeface="Arial"/>
              </a:rPr>
              <a:t>Free local AI version / no paid API or key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6F660-2A64-4330-8A92-DC3E324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Xin and Harris   /   September 21, 2026</a:t>
            </a:r>
          </a:p>
        </p:txBody>
      </p:sp>
    </p:spTree>
    <p:extLst>
      <p:ext uri="{BB962C8B-B14F-4D97-AF65-F5344CB8AC3E}">
        <p14:creationId xmlns:p14="http://schemas.microsoft.com/office/powerpoint/2010/main" val="1178987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EFB38-7CCD-4FE4-8580-B3E5EBD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CHALLENGE 2 / HUMAN–AI CO-DESIGN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F0494-8F90-485B-91DD-4D8BD81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 Design, AI Design,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D4A66-7364-4264-83AC-171F405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C395F-3E85-46E9-97AB-B32584C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C960-4CB9-42AA-9AAF-562B339B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1CBDD-023C-4F00-88E1-C978789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D2B28-9A01-48D6-984C-B1969CAC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Retail analysts need usable customer information. First P1 task: turn invoice rows into accurate customer-level behavioral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51D77-7062-467A-8A64-18498F96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AI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E0877-0734-44F2-A774-691CA02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2D10C-3820-49C6-BFF3-9C19308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Python calculates. Structured retrieval finds exact evidence. An LLM explains the computed values and their limitations.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47F1A-D55B-4334-97AE-CACC549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HUMAN–AI CO-DESIGN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A032A-478E-4807-90F4-8D9D9F93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21E90-ADA0-499B-88B5-FA465C0F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The user selects a customer and dates, requests clarification, inspects invoices, and accepts, rejects, or corrects the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34699-554B-4922-A71F-CCBF5BD1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WHAT THE USER ACCOMPLISHES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C8648-488B-4DED-9DF6-E1E160F4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14BF9-513F-4243-9DE0-07AA6C5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Understand one customer profile and leave an auditable review, with source transactions available for checking.</a:t>
            </a:r>
          </a:p>
        </p:txBody>
      </p:sp>
    </p:spTree>
    <p:extLst>
      <p:ext uri="{BB962C8B-B14F-4D97-AF65-F5344CB8AC3E}">
        <p14:creationId xmlns:p14="http://schemas.microsoft.com/office/powerpoint/2010/main" val="1682069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A910D-EEE4-4BC4-B2C0-E8AB326B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CHALLENGE 2 / HUMAN–AI CO-DESIGN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774A3-72E1-413E-BE68-08AFCBA9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The human–AI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4538E-40A6-4363-A35C-C84C0D8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A1A13-A46A-4E6E-85B8-F15981A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986D4-9DAD-4BE1-8849-FDB225B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ASK AND REFINE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80A57-9100-426D-8014-3DC1E37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78BE3-EF73-4FF4-8DC5-B7065501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Enter Customer ID, select observation dates, and choose an explanation focus. Dates immediately update the computed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E644C-97DB-4F5B-BC04-0B8D386E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CALCULATE AND RETRIEVE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F2BAD-F4E8-4365-A61C-B21B9A1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37117-E49E-49CF-B224-F4354689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Select the customer’s records, apply purchase rules, calculate features, and retrieve all-history facts and source rows. The model sees up to ten labeled invoice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551F2-2D68-4044-B6C8-C87BBF66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EXPLAIN AND INSPECT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AE7C4-FE95-4A7A-9218-CA5E315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D61CD-8101-4323-9F7F-EBD1268A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Use a local Qwen2.5 model to generate an explanation after setup. Check values, invoice references, and limitations beside the source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43F01-45A2-4BFE-9F39-C5E5623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REVIEW AND KEEP A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6436B-5210-4007-982D-95379DB7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69FD0-B11B-455E-AB29-F102A591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Accept, reject, or request correction. Download the review and evidence as JSON. Changing the analysis clears the previous result.</a:t>
            </a:r>
          </a:p>
        </p:txBody>
      </p:sp>
    </p:spTree>
    <p:extLst>
      <p:ext uri="{BB962C8B-B14F-4D97-AF65-F5344CB8AC3E}">
        <p14:creationId xmlns:p14="http://schemas.microsoft.com/office/powerpoint/2010/main" val="162440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71C83-45FC-4582-9B6D-733C533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ONE FOCUSED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4023-45E9-4EA5-98B1-F466FAF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0FD7-4F18-4A83-9F93-E45EC6E6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994D-CA42-4FF5-9DF2-C4D9A4B4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930A3-0604-4E35-ACFE-D4A1B19E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981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CDD9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21890-B52A-43BA-9D1F-E86FB78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38375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029A5-2AF6-4C9B-A934-00C9172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Customer + 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99E81-D900-4CA4-A0CE-DD68B00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90825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3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2EA3E-F4D9-44AA-80EF-2ED3E56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19300"/>
            <a:ext cx="1981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CDD9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F86F4-4E7B-4300-A124-77C618D4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38375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C0FDE-C567-4A48-AFDE-51ABACAF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956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Clean + calculate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1CAE4-8B25-4A9A-8172-EAFAF0A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90825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3B3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C3E4E-A834-480C-9131-09DA28A1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1981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CDD9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37CF8-059B-4629-ADAE-9B4815B3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38375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AFB4D-4A0F-4EF9-9427-349C4128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956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Evidence 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FAFE1-444E-41F6-9FDC-D9642B6C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90825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3B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CEE93-EF32-458F-BBE3-75BF42A5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1981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CDD9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5111B-53C3-4C1E-8E77-7CE80EB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Local Qwen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F9B61-C2C8-4A6D-8FCC-EC01887A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956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Explain facts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98612-6707-4368-83E2-8C27A9D4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3B3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4E0E8-546A-4509-BF70-F0C70093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981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CDD9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40D8F-2052-42A3-9778-4109BAA8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38375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16E21-3B0C-4BD5-B677-4C1E56C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956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Inspect +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59167-422A-482C-BB0E-9F34B8F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Local CSV sample + original worksheet and Excel row 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22B42-3F21-40AD-9461-7133BAC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No vector database is needed for exact Customer ID and Invoice lookups.</a:t>
            </a:r>
          </a:p>
        </p:txBody>
      </p:sp>
    </p:spTree>
    <p:extLst>
      <p:ext uri="{BB962C8B-B14F-4D97-AF65-F5344CB8AC3E}">
        <p14:creationId xmlns:p14="http://schemas.microsoft.com/office/powerpoint/2010/main" val="397956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CC0AF-D612-48F1-AA01-95CE5A24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CHALLENGE 2 / HUMAN–AI CO-DESIGN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7D871-8C7A-463D-87BF-6D73811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Real data and the AI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B85C-A9D6-4D42-B08B-57CDE11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BBEB1-E9FC-4775-8CFE-69755C9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A9BD2-C2BA-41FF-AFDC-2488BEE2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REPRESENTATIVE TASK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A1B76-EC5B-47FE-BB2C-A2AAD796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B332-4B3E-44FC-9F71-0B06539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3,178 source rows: full histories for customers 13085, 12347, and 17850, plus six missing-ID audit rows. This is not a population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78BFD-A5CD-4E6B-848B-347CCDB4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TOOLS AND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29C1B-16E6-4DB3-A9C8-BFB16B8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443C-8A1D-44C8-BB44-893C0F3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Decimal calculations produce RFM, average invoice value, and product-code diversity. Exact customer/date filtering supplies the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4FF25-9509-49C7-9177-3C10AB82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AI CONTRIBUTION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09654-A265-426C-AC9A-73BC481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D8610-527B-438E-86A7-4A4413B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Turn fixed facts into a readable explanation and address clarification requests. Automated checks compare numeric values and reference keys.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86BCD-F7AB-4437-9489-EFDD5BF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DATA SOURCE AND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D04C-8511-4BEF-9FCF-241318D9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0139B-41C1-4489-B922-228090B4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UCI Online Retail II, CC BY 4.0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archive.ics.uci.edu/dataset/502/online+retail+ii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Positive purchases only; no churn prediction.</a:t>
            </a:r>
          </a:p>
        </p:txBody>
      </p:sp>
    </p:spTree>
    <p:extLst>
      <p:ext uri="{BB962C8B-B14F-4D97-AF65-F5344CB8AC3E}">
        <p14:creationId xmlns:p14="http://schemas.microsoft.com/office/powerpoint/2010/main" val="1749503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0BF21-B0F8-42B3-AF95-59A8A0F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ACTUAL LOCAL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0C059-0D04-44F4-9672-7D8F9F0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Streamlit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A79C5-AE5C-47DB-A4CB-3494F0CB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2ED58-E9FE-4023-AEE0-C707B890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8b897f80840a9"/>
          <a:stretch xmlns:a="http://schemas.openxmlformats.org/drawingml/2006/main"/>
        </p:blipFill>
        <p:spPr>
          <a:xfrm xmlns:a="http://schemas.openxmlformats.org/drawingml/2006/main">
            <a:off x="609600" y="1450777"/>
            <a:ext cx="8286750" cy="46612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74379-C8AB-45DB-97E0-3A57259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668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WORKING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2A0C8-E8DC-41DA-9C14-2D95E514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95475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54C35-9E8B-44CE-927D-34FCB8D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90725"/>
            <a:ext cx="22669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Customer lookup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Date filters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Five computed metrics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Invoice evidence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Purchase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FE744-E9B3-4DD8-9D3D-60C524C0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19625"/>
            <a:ext cx="21812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Local Qwen is running. No paid API, key, or account is needed.</a:t>
            </a:r>
          </a:p>
        </p:txBody>
      </p:sp>
    </p:spTree>
    <p:extLst>
      <p:ext uri="{BB962C8B-B14F-4D97-AF65-F5344CB8AC3E}">
        <p14:creationId xmlns:p14="http://schemas.microsoft.com/office/powerpoint/2010/main" val="23265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9E90-EC52-4906-A17A-E54C3B98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ACTUAL LOCAL MODEL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4193-8B43-47F2-B600-95F9BB8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One grounded example: Customer 13085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AB80F-8136-4FAC-8AEC-53796669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4CF3C-4B1B-40FC-AD76-C3C6DAA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043510a044744"/>
          <a:stretch xmlns:a="http://schemas.openxmlformats.org/drawingml/2006/main"/>
        </p:blipFill>
        <p:spPr>
          <a:xfrm xmlns:a="http://schemas.openxmlformats.org/drawingml/2006/main">
            <a:off x="609600" y="1450777"/>
            <a:ext cx="8286750" cy="46612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0552-F562-4468-92A7-54C8C0A8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287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SOURCE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C8098-5B79-4C45-81FE-8779B45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E3DE2-84D0-4E34-B4DE-4337AB8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28600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8 invoices / 84 rows</a:t>
            </a:r>
          </a:p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Recency: 158 days</a:t>
            </a:r>
          </a:p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Reference: Dec. 10, 2011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Invoice 489434: £505.30</a:t>
            </a:r>
          </a:p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Invoice 558996: £137.98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ABD7D-9856-47E9-8FFD-6D42BE0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67250"/>
            <a:ext cx="22669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Python supplies figures and references. The model explains. Amounts exclude refunds.</a:t>
            </a:r>
          </a:p>
        </p:txBody>
      </p:sp>
    </p:spTree>
    <p:extLst>
      <p:ext uri="{BB962C8B-B14F-4D97-AF65-F5344CB8AC3E}">
        <p14:creationId xmlns:p14="http://schemas.microsoft.com/office/powerpoint/2010/main" val="126015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5E965-136D-4819-99DD-88488513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EVIDENCE INSPECTION AND EXPLICIT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D143F-38F4-423F-8C53-4C2EC877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 review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0D922-3959-4AC0-8498-D5D1B88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FE2A6-9B85-4498-8C2B-8AE21389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7804fe174479"/>
          <a:stretch xmlns:a="http://schemas.openxmlformats.org/drawingml/2006/main"/>
        </p:blipFill>
        <p:spPr>
          <a:xfrm xmlns:a="http://schemas.openxmlformats.org/drawingml/2006/main">
            <a:off x="609600" y="1441252"/>
            <a:ext cx="8286750" cy="46612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04C93-BF7F-47E6-92A2-4ACA6C7F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38300"/>
            <a:ext cx="2257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USER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9BF6B-A0AD-4345-812B-EA51F55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25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28C5-BE61-4998-B516-12917FB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22574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Accept or reject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Write a correction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Refine dates or focus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Download evidence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Download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A9207-8FCA-465D-BF92-AB17426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57725"/>
            <a:ext cx="2181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Demo review: correct ambiguous wording in a real local AI answer.</a:t>
            </a:r>
          </a:p>
        </p:txBody>
      </p:sp>
    </p:spTree>
    <p:extLst>
      <p:ext uri="{BB962C8B-B14F-4D97-AF65-F5344CB8AC3E}">
        <p14:creationId xmlns:p14="http://schemas.microsoft.com/office/powerpoint/2010/main" val="635891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E70E7-0F07-4C1A-BEFC-383A86E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CHALLENGE 2 / HUMAN–AI CO-DESIGN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8EE79-1963-461B-AFFB-6556C95B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Codex implementation and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7510-5BAC-43F5-8989-C72ED0B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07509-9B5B-4FAD-BF1A-F0C08C1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0EEB7-DBA6-4F7C-8E45-FB04081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IMPLEMENTATION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271E-FDC3-4025-A2A0-858A85A3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7F40E-700A-446A-BD76-057525E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Codex inspected the workbook, wrote the focused app, added source-row provenance, tested the workflow, and checked browser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60481-DC7E-4E41-A6B3-926E61B7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HUMAN REVIEW IMPROVEMENTS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80C25-272D-4145-B2D4-EB1B1821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0EEF0-A66E-4836-8918-E6EDE22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Use free local Qwen. Python attaches values and references. Cap invoice examples at ten, keep all-history facts, and clarify the recency definition.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4B2A0-E17B-4217-A880-422351F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59281-9E7E-4A57-ABAB-5AC11CBC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BCFD8-F5CF-4441-BBD2-BA058AB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github.com/happylinfafa/retail360-challenge2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Source code, dependencies, README, public sample, extraction script, and tests are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A428-19CE-4411-84C1-E25F6C5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81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REPRODUCE THE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5CBCF-D0B8-48C9-B519-487B4BA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0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E277E-C14A-40C3-BF31-82B21C44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5048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Install requirements.txt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Run: streamlit run app.py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Run: ollama pull qwen2.5:1.5b</a:t>
            </a:r>
          </a:p>
          <a:p xmlns:a="http://schemas.openxmlformats.org/drawingml/2006/main">
            <a:pPr algn="l">
              <a:defRPr sz="1575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Run: python -m pytest -q</a:t>
            </a:r>
          </a:p>
        </p:txBody>
      </p:sp>
    </p:spTree>
    <p:extLst>
      <p:ext uri="{BB962C8B-B14F-4D97-AF65-F5344CB8AC3E}">
        <p14:creationId xmlns:p14="http://schemas.microsoft.com/office/powerpoint/2010/main" val="1313278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518AD-4FB0-455B-A6EC-31F9478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8 REGRESSION TESTS + 5 ACTUAL LOCAL MODEL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C7030-C0FA-4A5D-9439-FD04E64D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Testing and the next development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B29A-1820-42D4-853F-6D4833C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7DEF4-B993-4F44-9DD8-13A4600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3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3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144BB-BB85-49D4-AC41-B1191CC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1–2  Data correctness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1DC51-0BE2-4192-A373-6E88501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Real values, invoice ownership, and original row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3DB69-9577-42BA-B759-932590E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3–4  User refinement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FB072-DDF6-43CA-B663-59497E4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6217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Recalculation, unknown customer, empty period, reversed 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D62BC-16C1-4FFA-9BCA-2EEE734C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5–6  Evidence safeguards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224FE-8222-47DF-A927-4CAF347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Cancellations, missing IDs, invalid values and citations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D516C-EF04-418F-830B-B6F03BAF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7–8  Local service +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E7770-C683-4912-9F4C-9065287B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0042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Mocked transport failures; review recording and invalidation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65A3F-1079-4881-AF40-555C685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Live  Local model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F35E2-3C2C-4C11-B572-12B403DC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195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Five passed numeric checks; observed latency: 20–27 seconds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82E77-FCB2-4717-833E-249B05FA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D420A-3282-420C-AC73-0FD0CB2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B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B32"/>
                </a:solidFill>
                <a:latin typeface="Arial"/>
                <a:ea typeface="Arial"/>
                <a:cs typeface="Arial"/>
              </a:rPr>
              <a:t>Lesson: correct numbers do not guarantee a correct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95F55-D76C-48EA-A40A-9AED22C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27"/>
                </a:solidFill>
                <a:latin typeface="Arial"/>
                <a:ea typeface="Arial"/>
                <a:cs typeface="Arial"/>
              </a:rPr>
              <a:t>Next: expand semantic review and document corrections for the September 30 final report.</a:t>
            </a:r>
          </a:p>
        </p:txBody>
      </p:sp>
    </p:spTree>
    <p:extLst>
      <p:ext uri="{BB962C8B-B14F-4D97-AF65-F5344CB8AC3E}">
        <p14:creationId xmlns:p14="http://schemas.microsoft.com/office/powerpoint/2010/main" val="203070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2026-09-21T21:44:13.1650000Z</dcterms:created>
  <dcterms:modified xsi:type="dcterms:W3CDTF">2026-09-21T21:44:13.1650000Z</dcterms:modified>
</coreProperties>
</file>